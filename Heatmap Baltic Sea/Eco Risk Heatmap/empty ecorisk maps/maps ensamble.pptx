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58" r:id="rId4"/>
    <p:sldId id="261" r:id="rId5"/>
    <p:sldId id="259" r:id="rId6"/>
    <p:sldId id="262" r:id="rId7"/>
    <p:sldId id="263" r:id="rId8"/>
    <p:sldId id="264" r:id="rId9"/>
    <p:sldId id="265" r:id="rId10"/>
    <p:sldId id="266" r:id="rId11"/>
    <p:sldId id="267" r:id="rId12"/>
    <p:sldId id="268" r:id="rId13"/>
    <p:sldId id="269" r:id="rId14"/>
    <p:sldId id="275" r:id="rId15"/>
    <p:sldId id="270" r:id="rId16"/>
    <p:sldId id="276" r:id="rId17"/>
    <p:sldId id="271" r:id="rId18"/>
    <p:sldId id="277" r:id="rId19"/>
    <p:sldId id="272" r:id="rId20"/>
    <p:sldId id="278" r:id="rId21"/>
    <p:sldId id="273" r:id="rId22"/>
    <p:sldId id="280" r:id="rId23"/>
    <p:sldId id="281" r:id="rId24"/>
    <p:sldId id="282" r:id="rId25"/>
    <p:sldId id="283" r:id="rId26"/>
  </p:sldIdLst>
  <p:sldSz cx="12192000" cy="6858000"/>
  <p:notesSz cx="6735763" cy="98663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km - all spp" id="{A805E225-AFCB-41F4-A93F-3547F6EC7C98}">
          <p14:sldIdLst>
            <p14:sldId id="257"/>
            <p14:sldId id="260"/>
          </p14:sldIdLst>
        </p14:section>
        <p14:section name="mkm - five spp" id="{1C7B0101-1060-4B33-913A-3F9859A7BEEF}">
          <p14:sldIdLst>
            <p14:sldId id="258"/>
            <p14:sldId id="261"/>
          </p14:sldIdLst>
        </p14:section>
        <p14:section name="mkm - gadus morhua" id="{BA4EB1F9-6F98-45B7-A895-24E26D34C2F4}">
          <p14:sldIdLst>
            <p14:sldId id="259"/>
            <p14:sldId id="262"/>
          </p14:sldIdLst>
        </p14:section>
        <p14:section name="vae - all spp" id="{8F148BFE-7AEE-4126-AEA0-C8072BE307A7}">
          <p14:sldIdLst>
            <p14:sldId id="263"/>
            <p14:sldId id="264"/>
          </p14:sldIdLst>
        </p14:section>
        <p14:section name="vae - five spp" id="{4F13373D-6E6A-42A3-B29F-E1B6BDBCFFAA}">
          <p14:sldIdLst>
            <p14:sldId id="265"/>
            <p14:sldId id="266"/>
          </p14:sldIdLst>
        </p14:section>
        <p14:section name="vae - gadus morhua" id="{3962C957-CEA9-4734-88F2-4E7248CD5DDD}">
          <p14:sldIdLst>
            <p14:sldId id="267"/>
            <p14:sldId id="268"/>
          </p14:sldIdLst>
        </p14:section>
        <p14:section name="mkm - ensamble" id="{9ED4AFFB-662D-4003-AD23-FD99C1B60F6B}">
          <p14:sldIdLst>
            <p14:sldId id="269"/>
            <p14:sldId id="275"/>
            <p14:sldId id="270"/>
            <p14:sldId id="276"/>
          </p14:sldIdLst>
        </p14:section>
        <p14:section name="vae - ensamble" id="{1B3F18D0-6634-444B-9379-EA1D8A76E847}">
          <p14:sldIdLst>
            <p14:sldId id="271"/>
            <p14:sldId id="277"/>
            <p14:sldId id="272"/>
            <p14:sldId id="278"/>
          </p14:sldIdLst>
        </p14:section>
        <p14:section name="mkm + vae" id="{D7789E8E-696D-4013-9505-A8637F0CD33D}">
          <p14:sldIdLst>
            <p14:sldId id="273"/>
            <p14:sldId id="280"/>
            <p14:sldId id="281"/>
            <p14:sldId id="282"/>
            <p14:sldId id="283"/>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showGuides="1">
      <p:cViewPr varScale="1">
        <p:scale>
          <a:sx n="149" d="100"/>
          <a:sy n="149" d="100"/>
        </p:scale>
        <p:origin x="692"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BBE0A0-CBF8-A0EF-66AB-8F89817A127C}"/>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33F7040D-11A4-CF1D-1272-84DEAD34FA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FBDB4F6-4B81-794F-22B5-CD4866E68B8E}"/>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C9427516-1345-33C4-E15E-2299256B31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94DDD7A-F440-879C-102E-DB95AB317D0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2304978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A818FA-C53D-C5AE-6199-26C5AA2E216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40B71BD-9098-04F8-D81D-BEBE134F9D46}"/>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AA05D9CD-BF74-F0E4-4AAE-9F430399EAB6}"/>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31C888C0-7D7E-D22E-B2C0-7DE2F644E33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344CB40-9140-63AB-2615-8CA794AF999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4162935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4382034-B89E-9573-3B68-81FC7437158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0B0CA49-16B5-1608-E94D-C569AE4D5B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948EA4C0-8501-38B3-5469-B035799BA4F8}"/>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B091514B-FFFC-EAA7-C38D-031B4130ED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621FAB4-3F99-C15F-0CEE-C7D491815594}"/>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606957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DC9BDA0-5EF4-EA9A-E147-DCAABB098BC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A02E991-1B5E-CB07-F1B0-0150F84B53DB}"/>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F7B740E-F8E7-3AEB-2DD9-32F1EE3454C0}"/>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50909FF4-C43F-76FA-742E-2B9E28927F65}"/>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6" name="Segnaposto piè di pagina 5">
            <a:extLst>
              <a:ext uri="{FF2B5EF4-FFF2-40B4-BE49-F238E27FC236}">
                <a16:creationId xmlns:a16="http://schemas.microsoft.com/office/drawing/2014/main" id="{727AC408-A3B5-20F4-815D-585BAAE0DCE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D447E2D-0290-0DC9-4EB8-BE766BD8465C}"/>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46231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0400B7-74AE-CFF3-4A2D-CDB42C5BD265}"/>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0CA461D9-FED0-5BB7-A8DB-5A80C84D94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7F8C463-1EC1-DEAB-4BF9-659C97B08437}"/>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4AA83D10-5E45-B387-55C2-9DBBE08E8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D7C50233-38BE-B1CD-892D-CFD0B9BE542D}"/>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6F5F16F4-8F11-8C73-49F2-4E011C375F4C}"/>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8" name="Segnaposto piè di pagina 7">
            <a:extLst>
              <a:ext uri="{FF2B5EF4-FFF2-40B4-BE49-F238E27FC236}">
                <a16:creationId xmlns:a16="http://schemas.microsoft.com/office/drawing/2014/main" id="{4F7372DB-AA40-AC65-5B1F-3C89A809D561}"/>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FE492B74-C8F6-60CA-FDC7-EB18DCE85F5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8221145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73C598-C749-B71B-97E5-83340FDCB3D1}"/>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993A9799-37B1-C52D-1845-CC4996003684}"/>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4" name="Segnaposto piè di pagina 3">
            <a:extLst>
              <a:ext uri="{FF2B5EF4-FFF2-40B4-BE49-F238E27FC236}">
                <a16:creationId xmlns:a16="http://schemas.microsoft.com/office/drawing/2014/main" id="{56836BD7-9F6A-D174-748B-07C939B47211}"/>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6088E0A9-C532-A01C-F682-24B9AAD0CC1A}"/>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003988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4C243262-14B8-B36C-1692-24880F80C039}"/>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3" name="Segnaposto piè di pagina 2">
            <a:extLst>
              <a:ext uri="{FF2B5EF4-FFF2-40B4-BE49-F238E27FC236}">
                <a16:creationId xmlns:a16="http://schemas.microsoft.com/office/drawing/2014/main" id="{93A8752F-C94B-2E82-DF15-31433EEF754A}"/>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5DB2BB79-9A68-76E9-63C9-26FB9378726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63480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9FF27C-4CB6-C5AD-FF2B-1989FF37085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12E4E98-1C0B-DB46-E2A7-D6A4B276DE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111FF215-5A83-7627-335E-5C78579DC8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C7D04CF5-52F0-E6E8-E7BD-4F9391BC215C}"/>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6" name="Segnaposto piè di pagina 5">
            <a:extLst>
              <a:ext uri="{FF2B5EF4-FFF2-40B4-BE49-F238E27FC236}">
                <a16:creationId xmlns:a16="http://schemas.microsoft.com/office/drawing/2014/main" id="{B87EFF67-96C9-9EF1-7FB4-28FD53F57E6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9C4DF7E-E2D4-9451-9970-777102C53F62}"/>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28263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E9D771-2F9B-FA04-1B37-34FF27D745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B0C827E-9BE8-2E98-F5B2-E1323A23F6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796002-26C1-672C-8C0E-DA26A7D7E5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DF69D20-0F19-7919-1F86-4ED89DFFB250}"/>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6" name="Segnaposto piè di pagina 5">
            <a:extLst>
              <a:ext uri="{FF2B5EF4-FFF2-40B4-BE49-F238E27FC236}">
                <a16:creationId xmlns:a16="http://schemas.microsoft.com/office/drawing/2014/main" id="{E352CF88-6B0C-81BE-5D8D-8FF2E8E526E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E24CF7D-0491-9667-C368-C38AD9D45F7F}"/>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190645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F5F81F-7189-97E5-5462-0A908563638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1A5D2A5E-0F27-F010-17B3-9FA09A4AAFFE}"/>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CA576B-3A62-85B0-5A3B-B06B0DB7ABFC}"/>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3B77D120-63AB-ECD1-4620-D6D01D118F8C}"/>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92B85CE9-4AAF-D723-1872-B5936019B05B}"/>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758917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C2EF1D34-BE4C-D40B-633A-CE1081D1C3C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22EB05C5-F410-3AB6-9833-CEDCCF15A7BD}"/>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0B66FC0-C212-4EF8-C72D-B0DD2C506D10}"/>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CBBD3EDA-4080-57C3-7844-35C438F58539}"/>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BF9DF2A-1C54-987C-D14B-02DBA9E7C353}"/>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397838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A38C893F-6660-6807-1189-CD19430D1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6E02A44D-32F0-7545-D7F9-8CDFE20EBB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517CE55-1C6F-8D1B-EAAE-F57BE00D8E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33ABF1CA-1DDE-9D8C-8B18-E59C857422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8E9A230-1255-CF33-71CA-32D5A27B2E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EA57E-E379-4B46-AB2C-561019FDBF6D}" type="slidenum">
              <a:rPr lang="it-IT" smtClean="0"/>
              <a:t>‹N›</a:t>
            </a:fld>
            <a:endParaRPr lang="it-IT"/>
          </a:p>
        </p:txBody>
      </p:sp>
    </p:spTree>
    <p:extLst>
      <p:ext uri="{BB962C8B-B14F-4D97-AF65-F5344CB8AC3E}">
        <p14:creationId xmlns:p14="http://schemas.microsoft.com/office/powerpoint/2010/main" val="4278199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B38E7429-5060-5B7C-8506-655E1C8CF9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87103"/>
            <a:chOff x="5219879" y="3899677"/>
            <a:chExt cx="5429784" cy="2387103"/>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470898"/>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to high salinity, and low surface productivity. Very high biomass. Fishing activity is low to fair, and shipping traffic is moderate. Strong anthropogenic influence with a marked presence of dumping sites and very few wind farms.</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low bottom salinity, and quite low surface productivity. Very high biomass. Fair to moderate fishing activity, and fair shipping traffic. Minor anthropogenic influence with the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Very high biomass. Fair fishing activity and moderate shipping traffic. Moderate to high anthropogenic influence, with dumping sites and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fair surface productivity. Very high biomass,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326466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A8C9D8DD-2C70-37D5-C0E8-D975123D3E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0" name="Gruppo 9">
            <a:extLst>
              <a:ext uri="{FF2B5EF4-FFF2-40B4-BE49-F238E27FC236}">
                <a16:creationId xmlns:a16="http://schemas.microsoft.com/office/drawing/2014/main" id="{CD2A974A-C917-13A8-51D6-599E4BC48FD9}"/>
              </a:ext>
            </a:extLst>
          </p:cNvPr>
          <p:cNvGrpSpPr/>
          <p:nvPr/>
        </p:nvGrpSpPr>
        <p:grpSpPr>
          <a:xfrm>
            <a:off x="5219879" y="3899677"/>
            <a:ext cx="5429784" cy="2387103"/>
            <a:chOff x="5219879" y="3899677"/>
            <a:chExt cx="5429784" cy="2387103"/>
          </a:xfrm>
        </p:grpSpPr>
        <p:sp>
          <p:nvSpPr>
            <p:cNvPr id="13" name="CasellaDiTesto 12">
              <a:extLst>
                <a:ext uri="{FF2B5EF4-FFF2-40B4-BE49-F238E27FC236}">
                  <a16:creationId xmlns:a16="http://schemas.microsoft.com/office/drawing/2014/main" id="{ECF69955-A394-C267-B14A-7E40C5130151}"/>
                </a:ext>
              </a:extLst>
            </p:cNvPr>
            <p:cNvSpPr txBox="1"/>
            <p:nvPr/>
          </p:nvSpPr>
          <p:spPr>
            <a:xfrm>
              <a:off x="5219879" y="4470898"/>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to high salinity, and low surface productivity. Very high biomass. Fishing activity is low to fair, and shipping traffic is moderate. Strong anthropogenic influence with a marked presence of dumping sites and very few wind farms.</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low bottom salinity, and quite low surface productivity. Very high biomass. Fair to moderate fishing activity, and fair shipping traffic. Minor anthropogenic influence with the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Very high biomass. Fair fishing activity and moderate shipping traffic. Moderate to high anthropogenic influence, with dumping sites and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fair surface productivity. Very high biomass,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4" name="CasellaDiTesto 13">
              <a:extLst>
                <a:ext uri="{FF2B5EF4-FFF2-40B4-BE49-F238E27FC236}">
                  <a16:creationId xmlns:a16="http://schemas.microsoft.com/office/drawing/2014/main" id="{79BCF7B0-422A-A9CA-E75A-7ECBE1E9F98F}"/>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1965032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75BD8736-82B3-2322-49F8-3BCD921C3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low/fair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1493032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3BD079C5-40D5-77DD-77B0-6454F5DC12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low/fair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2594551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descr="Immagine che contiene mappa, testo, diagramma, atlante&#10;&#10;Descrizione generata automaticamente">
            <a:extLst>
              <a:ext uri="{FF2B5EF4-FFF2-40B4-BE49-F238E27FC236}">
                <a16:creationId xmlns:a16="http://schemas.microsoft.com/office/drawing/2014/main" id="{483F4012-9532-63EE-D0A2-F4852DC96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197284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DBB7B2F1-07EE-479F-CA24-DD9EDD6D2D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7453617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10;&#10;Descrizione generata automaticamente">
            <a:extLst>
              <a:ext uri="{FF2B5EF4-FFF2-40B4-BE49-F238E27FC236}">
                <a16:creationId xmlns:a16="http://schemas.microsoft.com/office/drawing/2014/main" id="{8DE16B32-7DA1-D0CF-3C5C-7C80C38A62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2" name="Gruppo 1">
            <a:extLst>
              <a:ext uri="{FF2B5EF4-FFF2-40B4-BE49-F238E27FC236}">
                <a16:creationId xmlns:a16="http://schemas.microsoft.com/office/drawing/2014/main" id="{E378CCE6-F51C-D331-7738-90A74702CCAD}"/>
              </a:ext>
            </a:extLst>
          </p:cNvPr>
          <p:cNvGrpSpPr/>
          <p:nvPr/>
        </p:nvGrpSpPr>
        <p:grpSpPr>
          <a:xfrm>
            <a:off x="5219879" y="3899677"/>
            <a:ext cx="5429784" cy="2392442"/>
            <a:chOff x="5219879" y="3899677"/>
            <a:chExt cx="5429784" cy="2392442"/>
          </a:xfrm>
        </p:grpSpPr>
        <p:sp>
          <p:nvSpPr>
            <p:cNvPr id="3" name="CasellaDiTesto 2">
              <a:extLst>
                <a:ext uri="{FF2B5EF4-FFF2-40B4-BE49-F238E27FC236}">
                  <a16:creationId xmlns:a16="http://schemas.microsoft.com/office/drawing/2014/main" id="{CF3F7C6E-12B9-11EF-A3F9-6589C51248EF}"/>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high bottom oxygen and fairly moderate surface productivity. Very high biomass, moderately high fishing activity, moderate shipping traffic, and low salinity. Intense anthropogenic influence, limited to military areas.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areas with cool bottom waters, very high biomass, and moderate surface productivity. Moderately high fishing activity, moderate shipping traffic, and low salinity, with high bottom oxygen levels. Intense anthropogenic influence, limited to military areas.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low surface productivity. Very high biomass, moderate fishing activity, moderate shipping traffic, and moderate to high salinity. Strong presence of dumping sites and only minimal military influence.</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low bottom oxygen and moderate surface productivity. High biomass, moderate to high fishing activity, high shipping traffic, and low salinity. Minimal presence of wind farms.</a:t>
              </a:r>
            </a:p>
          </p:txBody>
        </p:sp>
        <p:sp>
          <p:nvSpPr>
            <p:cNvPr id="14" name="CasellaDiTesto 13">
              <a:extLst>
                <a:ext uri="{FF2B5EF4-FFF2-40B4-BE49-F238E27FC236}">
                  <a16:creationId xmlns:a16="http://schemas.microsoft.com/office/drawing/2014/main" id="{44FF6EB3-7153-BF5C-AFAF-B520DF247DD5}"/>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Multi K-</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5" name="CasellaDiTesto 14">
            <a:extLst>
              <a:ext uri="{FF2B5EF4-FFF2-40B4-BE49-F238E27FC236}">
                <a16:creationId xmlns:a16="http://schemas.microsoft.com/office/drawing/2014/main" id="{E59A58FD-55F2-835E-7D51-08EAB0B646B0}"/>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6F15B647-15E6-B7A0-01F4-88074FCBFA41}"/>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7" name="CasellaDiTesto 16">
            <a:extLst>
              <a:ext uri="{FF2B5EF4-FFF2-40B4-BE49-F238E27FC236}">
                <a16:creationId xmlns:a16="http://schemas.microsoft.com/office/drawing/2014/main" id="{EA6231AF-B43E-8156-A410-44C30CDE7CB2}"/>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8" name="CasellaDiTesto 17">
            <a:extLst>
              <a:ext uri="{FF2B5EF4-FFF2-40B4-BE49-F238E27FC236}">
                <a16:creationId xmlns:a16="http://schemas.microsoft.com/office/drawing/2014/main" id="{8ECC0F65-B1A2-EF80-293A-B28F2B211515}"/>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4D554DD6-4C9C-D04D-8CF7-59F59A94E64C}"/>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0" name="CasellaDiTesto 19">
            <a:extLst>
              <a:ext uri="{FF2B5EF4-FFF2-40B4-BE49-F238E27FC236}">
                <a16:creationId xmlns:a16="http://schemas.microsoft.com/office/drawing/2014/main" id="{86ABEABA-61A4-CE03-6391-9DED0586BA39}"/>
              </a:ext>
            </a:extLst>
          </p:cNvPr>
          <p:cNvSpPr txBox="1"/>
          <p:nvPr/>
        </p:nvSpPr>
        <p:spPr>
          <a:xfrm>
            <a:off x="6837105" y="3020634"/>
            <a:ext cx="565119"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1984900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F9507DFE-CD8F-1F16-C86F-419562F991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2392442"/>
            <a:chOff x="5219879" y="3899677"/>
            <a:chExt cx="5429784" cy="2392442"/>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high bottom oxygen and fairly moderate surface productivity. Very high biomass, moderately high fishing activity, moderate shipping traffic, and low salinity. Intense anthropogenic influence, limited to military areas.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areas with cool bottom waters, very high biomass, and moderate surface productivity. Moderately high fishing activity, moderate shipping traffic, and low salinity, with high bottom oxygen levels. Intense anthropogenic influence, limited to military areas.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low surface productivity. Very high biomass, moderate fishing activity, moderate shipping traffic, and moderate to high salinity. Strong presence of dumping sites and only minimal military influence.</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low bottom oxygen and moderate surface productivity. High biomass, moderate to high fishing activity, high shipping traffic, and low salinity. Minimal presence of wind farms.</a:t>
              </a: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Multi K-</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7" name="CasellaDiTesto 16">
            <a:extLst>
              <a:ext uri="{FF2B5EF4-FFF2-40B4-BE49-F238E27FC236}">
                <a16:creationId xmlns:a16="http://schemas.microsoft.com/office/drawing/2014/main" id="{C32DF3A5-0213-118F-CF75-8249A8B012E5}"/>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8" name="CasellaDiTesto 17">
            <a:extLst>
              <a:ext uri="{FF2B5EF4-FFF2-40B4-BE49-F238E27FC236}">
                <a16:creationId xmlns:a16="http://schemas.microsoft.com/office/drawing/2014/main" id="{24910F9C-CEB2-8D27-B566-AB4976ABBBCD}"/>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EF14A826-C238-0924-B4F2-1EA9251B60BA}"/>
              </a:ext>
            </a:extLst>
          </p:cNvPr>
          <p:cNvSpPr txBox="1"/>
          <p:nvPr/>
        </p:nvSpPr>
        <p:spPr>
          <a:xfrm>
            <a:off x="6837105" y="3020634"/>
            <a:ext cx="565119"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3029371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 atlante&#10;&#10;Descrizione generata automaticamente">
            <a:extLst>
              <a:ext uri="{FF2B5EF4-FFF2-40B4-BE49-F238E27FC236}">
                <a16:creationId xmlns:a16="http://schemas.microsoft.com/office/drawing/2014/main" id="{0C1B4426-3ACF-300C-B8B7-A3948F5426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2333426"/>
            <a:chOff x="5219879" y="3899677"/>
            <a:chExt cx="5429784" cy="2333426"/>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540332"/>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five commercial species, intense fishing activity, and moderate shipping traffic. Strong anthropogenic influence with dominant dumping sites, military areas, and minimal presence of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cool areas with low bottom oxygen and moderately high salinity, and moderate surface productivity. High biomass of five commercial species, intense fishing activity, moderate shipping traffic. Minimal anthropogenic influence, limited to minor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salinity, and moderate to high surface productivity. High biomass of five commercial species, intense fishing activity, moderate shipping traffic. Minimal anthropogenic influence, with only minor wind farms, and partly hardbottom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Multi K-</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258991" y="313248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5422786" y="299398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5" name="CasellaDiTesto 4">
            <a:extLst>
              <a:ext uri="{FF2B5EF4-FFF2-40B4-BE49-F238E27FC236}">
                <a16:creationId xmlns:a16="http://schemas.microsoft.com/office/drawing/2014/main" id="{F18249C7-7F35-45EE-E69E-4984E50DDE54}"/>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Tree>
    <p:extLst>
      <p:ext uri="{BB962C8B-B14F-4D97-AF65-F5344CB8AC3E}">
        <p14:creationId xmlns:p14="http://schemas.microsoft.com/office/powerpoint/2010/main" val="2408188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815862A8-0EC0-3593-8C1C-378AFB1F5D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F225F658-5F13-3124-D001-CF7A98C6F58F}"/>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11A3D605-F61B-4B31-C66A-3E928A34B391}"/>
              </a:ext>
            </a:extLst>
          </p:cNvPr>
          <p:cNvSpPr txBox="1"/>
          <p:nvPr/>
        </p:nvSpPr>
        <p:spPr>
          <a:xfrm>
            <a:off x="7258991" y="313248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6" name="CasellaDiTesto 5">
            <a:extLst>
              <a:ext uri="{FF2B5EF4-FFF2-40B4-BE49-F238E27FC236}">
                <a16:creationId xmlns:a16="http://schemas.microsoft.com/office/drawing/2014/main" id="{A4E9D876-8BD4-1AD3-64B5-8725D22C3A6A}"/>
              </a:ext>
            </a:extLst>
          </p:cNvPr>
          <p:cNvSpPr txBox="1"/>
          <p:nvPr/>
        </p:nvSpPr>
        <p:spPr>
          <a:xfrm>
            <a:off x="5422786" y="299398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7" name="CasellaDiTesto 6">
            <a:extLst>
              <a:ext uri="{FF2B5EF4-FFF2-40B4-BE49-F238E27FC236}">
                <a16:creationId xmlns:a16="http://schemas.microsoft.com/office/drawing/2014/main" id="{CF9C4FEB-2D14-2E2A-F783-D22285879739}"/>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8" name="CasellaDiTesto 7">
            <a:extLst>
              <a:ext uri="{FF2B5EF4-FFF2-40B4-BE49-F238E27FC236}">
                <a16:creationId xmlns:a16="http://schemas.microsoft.com/office/drawing/2014/main" id="{071CAC81-1C56-67C2-EDAB-5146A2856516}"/>
              </a:ext>
            </a:extLst>
          </p:cNvPr>
          <p:cNvSpPr txBox="1"/>
          <p:nvPr/>
        </p:nvSpPr>
        <p:spPr>
          <a:xfrm>
            <a:off x="5219879" y="4540332"/>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five commercial species, intense fishing activity, and moderate shipping traffic. Strong anthropogenic influence with dominant dumping sites, military areas, and minimal presence of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cool areas with low bottom oxygen and moderately high salinity, and moderate surface productivity. High biomass of five commercial species, intense fishing activity, moderate shipping traffic. Minimal anthropogenic influence, limited to minor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salinity, and moderate to high surface productivity. High biomass of five commercial species, intense fishing activity, moderate shipping traffic. Minimal anthropogenic influence, with only minor wind farms, and partly hardbottom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9" name="CasellaDiTesto 8">
            <a:extLst>
              <a:ext uri="{FF2B5EF4-FFF2-40B4-BE49-F238E27FC236}">
                <a16:creationId xmlns:a16="http://schemas.microsoft.com/office/drawing/2014/main" id="{0A1FDFF8-6493-B097-3DF9-6E7C326995F0}"/>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Multi K-</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spTree>
    <p:extLst>
      <p:ext uri="{BB962C8B-B14F-4D97-AF65-F5344CB8AC3E}">
        <p14:creationId xmlns:p14="http://schemas.microsoft.com/office/powerpoint/2010/main" val="17401239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10;&#10;Descrizione generata automaticamente">
            <a:extLst>
              <a:ext uri="{FF2B5EF4-FFF2-40B4-BE49-F238E27FC236}">
                <a16:creationId xmlns:a16="http://schemas.microsoft.com/office/drawing/2014/main" id="{5E6BB94B-A657-E297-1F04-D6AE5D55B0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1" name="Gruppo 10">
            <a:extLst>
              <a:ext uri="{FF2B5EF4-FFF2-40B4-BE49-F238E27FC236}">
                <a16:creationId xmlns:a16="http://schemas.microsoft.com/office/drawing/2014/main" id="{690E625F-7570-EF19-668A-81020222F920}"/>
              </a:ext>
            </a:extLst>
          </p:cNvPr>
          <p:cNvGrpSpPr/>
          <p:nvPr/>
        </p:nvGrpSpPr>
        <p:grpSpPr>
          <a:xfrm>
            <a:off x="5219879" y="3899677"/>
            <a:ext cx="5429784" cy="2392442"/>
            <a:chOff x="5219879" y="3899677"/>
            <a:chExt cx="5429784" cy="2392442"/>
          </a:xfrm>
        </p:grpSpPr>
        <p:sp>
          <p:nvSpPr>
            <p:cNvPr id="12" name="CasellaDiTesto 11">
              <a:extLst>
                <a:ext uri="{FF2B5EF4-FFF2-40B4-BE49-F238E27FC236}">
                  <a16:creationId xmlns:a16="http://schemas.microsoft.com/office/drawing/2014/main" id="{EC6DDEC8-A314-8EC4-D51B-B831DC5FAFB5}"/>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extremely low bottom oxygen, moderately high salinity,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high salinity,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intense fishing activity, and heavy shipping traffic, with only minimal hard-bottom substrate present.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moderate shipping traffic. Strong anthropogenic influence with dominant dumping sites, military areas, and minimal presence of wind farms.</a:t>
              </a:r>
            </a:p>
            <a:p>
              <a:pPr marL="228600" indent="-228600" algn="just">
                <a:buFontTx/>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moderately high salinity, extremely low bottom oxygen and very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 with only minimal anthropogenic presence from limited military areas.</a:t>
              </a:r>
            </a:p>
          </p:txBody>
        </p:sp>
        <p:sp>
          <p:nvSpPr>
            <p:cNvPr id="13" name="CasellaDiTesto 12">
              <a:extLst>
                <a:ext uri="{FF2B5EF4-FFF2-40B4-BE49-F238E27FC236}">
                  <a16:creationId xmlns:a16="http://schemas.microsoft.com/office/drawing/2014/main" id="{DC652620-C7DC-38D7-BEB0-7BAC564F305C}"/>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Multi K-</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4" name="CasellaDiTesto 13">
            <a:extLst>
              <a:ext uri="{FF2B5EF4-FFF2-40B4-BE49-F238E27FC236}">
                <a16:creationId xmlns:a16="http://schemas.microsoft.com/office/drawing/2014/main" id="{D6BF471C-4AF5-CCE3-F13E-139BF2B48699}"/>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6" name="CasellaDiTesto 15">
            <a:extLst>
              <a:ext uri="{FF2B5EF4-FFF2-40B4-BE49-F238E27FC236}">
                <a16:creationId xmlns:a16="http://schemas.microsoft.com/office/drawing/2014/main" id="{165D436A-FF37-CDF6-2361-1812835DFE2A}"/>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9" name="CasellaDiTesto 18">
            <a:extLst>
              <a:ext uri="{FF2B5EF4-FFF2-40B4-BE49-F238E27FC236}">
                <a16:creationId xmlns:a16="http://schemas.microsoft.com/office/drawing/2014/main" id="{4B4D68A2-5F7C-9523-CA58-3FC50DAA9DC6}"/>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20" name="CasellaDiTesto 19">
            <a:extLst>
              <a:ext uri="{FF2B5EF4-FFF2-40B4-BE49-F238E27FC236}">
                <a16:creationId xmlns:a16="http://schemas.microsoft.com/office/drawing/2014/main" id="{2DA73D47-20BB-B5AD-A487-F89EE0A17974}"/>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203646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 atlante&#10;&#10;Descrizione generata automaticamente">
            <a:extLst>
              <a:ext uri="{FF2B5EF4-FFF2-40B4-BE49-F238E27FC236}">
                <a16:creationId xmlns:a16="http://schemas.microsoft.com/office/drawing/2014/main" id="{2B3868DB-A5DF-7180-8867-9F26E07ED0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1" name="Gruppo 10">
            <a:extLst>
              <a:ext uri="{FF2B5EF4-FFF2-40B4-BE49-F238E27FC236}">
                <a16:creationId xmlns:a16="http://schemas.microsoft.com/office/drawing/2014/main" id="{90D5CFE6-925F-2B0D-E994-53F2E00CF9A3}"/>
              </a:ext>
            </a:extLst>
          </p:cNvPr>
          <p:cNvGrpSpPr/>
          <p:nvPr/>
        </p:nvGrpSpPr>
        <p:grpSpPr>
          <a:xfrm>
            <a:off x="5219879" y="3899677"/>
            <a:ext cx="5429784" cy="2392442"/>
            <a:chOff x="5219879" y="3899677"/>
            <a:chExt cx="5429784" cy="2392442"/>
          </a:xfrm>
        </p:grpSpPr>
        <p:sp>
          <p:nvSpPr>
            <p:cNvPr id="12" name="CasellaDiTesto 11">
              <a:extLst>
                <a:ext uri="{FF2B5EF4-FFF2-40B4-BE49-F238E27FC236}">
                  <a16:creationId xmlns:a16="http://schemas.microsoft.com/office/drawing/2014/main" id="{8869BD5C-AA84-F561-84C4-9A01349619BF}"/>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extremely low bottom oxygen, moderately high salinity,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high salinity,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intense fishing activity, and heavy shipping traffic, with only minimal hard-bottom substrate present.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moderate shipping traffic. Strong anthropogenic influence with dominant dumping sites, military areas, and minimal presence of wind farms.</a:t>
              </a:r>
            </a:p>
            <a:p>
              <a:pPr marL="228600" indent="-228600" algn="just">
                <a:buFontTx/>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moderately high salinity, extremely low bottom oxygen and very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 with only minimal anthropogenic presence from limited military areas.</a:t>
              </a:r>
            </a:p>
          </p:txBody>
        </p:sp>
        <p:sp>
          <p:nvSpPr>
            <p:cNvPr id="13" name="CasellaDiTesto 12">
              <a:extLst>
                <a:ext uri="{FF2B5EF4-FFF2-40B4-BE49-F238E27FC236}">
                  <a16:creationId xmlns:a16="http://schemas.microsoft.com/office/drawing/2014/main" id="{F3D42F10-5F0D-945E-6C45-7644625071E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Multi K-</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4" name="CasellaDiTesto 13">
            <a:extLst>
              <a:ext uri="{FF2B5EF4-FFF2-40B4-BE49-F238E27FC236}">
                <a16:creationId xmlns:a16="http://schemas.microsoft.com/office/drawing/2014/main" id="{B79B0DBD-B498-2B6A-79CF-825F837DF36D}"/>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5" name="CasellaDiTesto 14">
            <a:extLst>
              <a:ext uri="{FF2B5EF4-FFF2-40B4-BE49-F238E27FC236}">
                <a16:creationId xmlns:a16="http://schemas.microsoft.com/office/drawing/2014/main" id="{6DB7BE91-2A84-20D3-71BA-9ACBC75B63D8}"/>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E159CBBD-1511-9156-857E-D44D5C4C68E9}"/>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7" name="CasellaDiTesto 16">
            <a:extLst>
              <a:ext uri="{FF2B5EF4-FFF2-40B4-BE49-F238E27FC236}">
                <a16:creationId xmlns:a16="http://schemas.microsoft.com/office/drawing/2014/main" id="{462DF6AE-9DCE-5A73-EEA6-C313E26599EF}"/>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2326158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magine 13" descr="Immagine che contiene mappa, testo, diagramma&#10;&#10;Descrizione generata automaticamente">
            <a:extLst>
              <a:ext uri="{FF2B5EF4-FFF2-40B4-BE49-F238E27FC236}">
                <a16:creationId xmlns:a16="http://schemas.microsoft.com/office/drawing/2014/main" id="{5FA407CD-279C-AE3F-6CCB-203091F275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904"/>
            <a:ext cx="9697986" cy="6858000"/>
          </a:xfrm>
          <a:prstGeom prst="rect">
            <a:avLst/>
          </a:prstGeom>
        </p:spPr>
      </p:pic>
      <p:sp>
        <p:nvSpPr>
          <p:cNvPr id="5" name="CasellaDiTesto 4">
            <a:extLst>
              <a:ext uri="{FF2B5EF4-FFF2-40B4-BE49-F238E27FC236}">
                <a16:creationId xmlns:a16="http://schemas.microsoft.com/office/drawing/2014/main" id="{237BFFEA-CF0A-C973-7F4F-99D1CA979C5E}"/>
              </a:ext>
            </a:extLst>
          </p:cNvPr>
          <p:cNvSpPr txBox="1"/>
          <p:nvPr/>
        </p:nvSpPr>
        <p:spPr>
          <a:xfrm>
            <a:off x="9576646" y="181958"/>
            <a:ext cx="2615354" cy="6494085"/>
          </a:xfrm>
          <a:prstGeom prst="rect">
            <a:avLst/>
          </a:prstGeom>
          <a:noFill/>
        </p:spPr>
        <p:txBody>
          <a:bodyPr wrap="square" rtlCol="0">
            <a:spAutoFit/>
          </a:bodyPr>
          <a:lstStyle/>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warm areas with moderate bottom oxygen, very high salinity, and very high surface productivity. High biomass across the general biodiversity,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to high shipping traffic. Minor anthropogenic influence with minimal presence of wind farms, dumping sites, and military areas. Limited bedrock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Biomass is generally very high, while the five commercially important species range from moderate to high. Fair fishing activity and moderate shipping traffic. Moderate to high anthropogenic influence, with dumping sites and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very cold areas with extremely low bottom oxygen, low bottom salinity, and quite low surface productivity. Overall biomass is high, biomass of the five commercially important species is moderate,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ranges from fair to moderate, and shipping traffic is fair. Minor anthropogenic influence with the presence of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to high salinity, and low surface productivity. Overall biomass is very high, while biomass of the five commercially important species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p:txBody>
      </p:sp>
      <p:sp>
        <p:nvSpPr>
          <p:cNvPr id="6" name="CasellaDiTesto 5">
            <a:extLst>
              <a:ext uri="{FF2B5EF4-FFF2-40B4-BE49-F238E27FC236}">
                <a16:creationId xmlns:a16="http://schemas.microsoft.com/office/drawing/2014/main" id="{972B0385-9675-ED69-D055-78322829BE8B}"/>
              </a:ext>
            </a:extLst>
          </p:cNvPr>
          <p:cNvSpPr txBox="1"/>
          <p:nvPr/>
        </p:nvSpPr>
        <p:spPr>
          <a:xfrm>
            <a:off x="5411576" y="4768505"/>
            <a:ext cx="3555999"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B8175458-641F-A2FF-C91C-DFB6AF09A392}"/>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8" name="CasellaDiTesto 7">
            <a:extLst>
              <a:ext uri="{FF2B5EF4-FFF2-40B4-BE49-F238E27FC236}">
                <a16:creationId xmlns:a16="http://schemas.microsoft.com/office/drawing/2014/main" id="{7A3CB8C4-AA0A-0C4C-D0EA-77C9AC16F701}"/>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9" name="CasellaDiTesto 8">
            <a:extLst>
              <a:ext uri="{FF2B5EF4-FFF2-40B4-BE49-F238E27FC236}">
                <a16:creationId xmlns:a16="http://schemas.microsoft.com/office/drawing/2014/main" id="{8339F146-5E39-B835-C2A7-B325FC94E80C}"/>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10" name="CasellaDiTesto 9">
            <a:extLst>
              <a:ext uri="{FF2B5EF4-FFF2-40B4-BE49-F238E27FC236}">
                <a16:creationId xmlns:a16="http://schemas.microsoft.com/office/drawing/2014/main" id="{D8375868-28E8-E101-4E1F-0C8CCBC4B2A0}"/>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2" name="CasellaDiTesto 1">
            <a:extLst>
              <a:ext uri="{FF2B5EF4-FFF2-40B4-BE49-F238E27FC236}">
                <a16:creationId xmlns:a16="http://schemas.microsoft.com/office/drawing/2014/main" id="{3ED75D70-89AA-0516-E6D9-3765B1CB9CE1}"/>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11" name="CasellaDiTesto 10">
            <a:extLst>
              <a:ext uri="{FF2B5EF4-FFF2-40B4-BE49-F238E27FC236}">
                <a16:creationId xmlns:a16="http://schemas.microsoft.com/office/drawing/2014/main" id="{F33FCCA7-1C1A-E157-DBF9-08BB4900789C}"/>
              </a:ext>
            </a:extLst>
          </p:cNvPr>
          <p:cNvSpPr txBox="1"/>
          <p:nvPr/>
        </p:nvSpPr>
        <p:spPr>
          <a:xfrm>
            <a:off x="5940582" y="31896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12" name="CasellaDiTesto 11">
            <a:extLst>
              <a:ext uri="{FF2B5EF4-FFF2-40B4-BE49-F238E27FC236}">
                <a16:creationId xmlns:a16="http://schemas.microsoft.com/office/drawing/2014/main" id="{DD5F6CF3-AB8E-578B-6859-9BD1F5264663}"/>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15" name="CasellaDiTesto 14">
            <a:extLst>
              <a:ext uri="{FF2B5EF4-FFF2-40B4-BE49-F238E27FC236}">
                <a16:creationId xmlns:a16="http://schemas.microsoft.com/office/drawing/2014/main" id="{FB06A761-02BA-7D4B-FEBD-E949D582B203}"/>
              </a:ext>
            </a:extLst>
          </p:cNvPr>
          <p:cNvSpPr txBox="1"/>
          <p:nvPr/>
        </p:nvSpPr>
        <p:spPr>
          <a:xfrm>
            <a:off x="6865799"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3" name="CasellaDiTesto 2">
            <a:extLst>
              <a:ext uri="{FF2B5EF4-FFF2-40B4-BE49-F238E27FC236}">
                <a16:creationId xmlns:a16="http://schemas.microsoft.com/office/drawing/2014/main" id="{F3A65801-A171-0202-6013-09791C0D11E6}"/>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rgbClr val="FF0000"/>
                </a:solidFill>
                <a:latin typeface="MS Shell Dlg 2" panose="020B0604030504040204" pitchFamily="34" charset="0"/>
                <a:ea typeface="MS Shell Dlg 2" panose="020B0604030504040204" pitchFamily="34" charset="0"/>
                <a:cs typeface="MS Shell Dlg 2" panose="020B0604030504040204" pitchFamily="34" charset="0"/>
              </a:rPr>
              <a:t>1</a:t>
            </a:r>
          </a:p>
        </p:txBody>
      </p:sp>
    </p:spTree>
    <p:extLst>
      <p:ext uri="{BB962C8B-B14F-4D97-AF65-F5344CB8AC3E}">
        <p14:creationId xmlns:p14="http://schemas.microsoft.com/office/powerpoint/2010/main" val="3004319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magine 13" descr="Immagine che contiene mappa, testo, diagramma&#10;&#10;Descrizione generata automaticamente">
            <a:extLst>
              <a:ext uri="{FF2B5EF4-FFF2-40B4-BE49-F238E27FC236}">
                <a16:creationId xmlns:a16="http://schemas.microsoft.com/office/drawing/2014/main" id="{5FA407CD-279C-AE3F-6CCB-203091F275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904"/>
            <a:ext cx="9697986" cy="6858000"/>
          </a:xfrm>
          <a:prstGeom prst="rect">
            <a:avLst/>
          </a:prstGeom>
        </p:spPr>
      </p:pic>
      <p:sp>
        <p:nvSpPr>
          <p:cNvPr id="5" name="CasellaDiTesto 4">
            <a:extLst>
              <a:ext uri="{FF2B5EF4-FFF2-40B4-BE49-F238E27FC236}">
                <a16:creationId xmlns:a16="http://schemas.microsoft.com/office/drawing/2014/main" id="{237BFFEA-CF0A-C973-7F4F-99D1CA979C5E}"/>
              </a:ext>
            </a:extLst>
          </p:cNvPr>
          <p:cNvSpPr txBox="1"/>
          <p:nvPr/>
        </p:nvSpPr>
        <p:spPr>
          <a:xfrm>
            <a:off x="9576646" y="1659285"/>
            <a:ext cx="2615354" cy="3539430"/>
          </a:xfrm>
          <a:prstGeom prst="rect">
            <a:avLst/>
          </a:prstGeom>
          <a:noFill/>
        </p:spPr>
        <p:txBody>
          <a:bodyPr wrap="square" rtlCol="0">
            <a:spAutoFit/>
          </a:bodyPr>
          <a:lstStyle/>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salinity, and high surface productivity. Overall biomass is very high, biomass of the five commercially important species is moderate,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is very intense, and shipping traffic is fair. Strong anthropogenic influence with a marked presence of military areas.</a:t>
            </a:r>
          </a:p>
        </p:txBody>
      </p:sp>
      <p:sp>
        <p:nvSpPr>
          <p:cNvPr id="6" name="CasellaDiTesto 5">
            <a:extLst>
              <a:ext uri="{FF2B5EF4-FFF2-40B4-BE49-F238E27FC236}">
                <a16:creationId xmlns:a16="http://schemas.microsoft.com/office/drawing/2014/main" id="{972B0385-9675-ED69-D055-78322829BE8B}"/>
              </a:ext>
            </a:extLst>
          </p:cNvPr>
          <p:cNvSpPr txBox="1"/>
          <p:nvPr/>
        </p:nvSpPr>
        <p:spPr>
          <a:xfrm>
            <a:off x="5411576" y="4768505"/>
            <a:ext cx="3555999"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B8175458-641F-A2FF-C91C-DFB6AF09A392}"/>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8" name="CasellaDiTesto 7">
            <a:extLst>
              <a:ext uri="{FF2B5EF4-FFF2-40B4-BE49-F238E27FC236}">
                <a16:creationId xmlns:a16="http://schemas.microsoft.com/office/drawing/2014/main" id="{7A3CB8C4-AA0A-0C4C-D0EA-77C9AC16F701}"/>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9" name="CasellaDiTesto 8">
            <a:extLst>
              <a:ext uri="{FF2B5EF4-FFF2-40B4-BE49-F238E27FC236}">
                <a16:creationId xmlns:a16="http://schemas.microsoft.com/office/drawing/2014/main" id="{8339F146-5E39-B835-C2A7-B325FC94E80C}"/>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10" name="CasellaDiTesto 9">
            <a:extLst>
              <a:ext uri="{FF2B5EF4-FFF2-40B4-BE49-F238E27FC236}">
                <a16:creationId xmlns:a16="http://schemas.microsoft.com/office/drawing/2014/main" id="{D8375868-28E8-E101-4E1F-0C8CCBC4B2A0}"/>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2" name="CasellaDiTesto 1">
            <a:extLst>
              <a:ext uri="{FF2B5EF4-FFF2-40B4-BE49-F238E27FC236}">
                <a16:creationId xmlns:a16="http://schemas.microsoft.com/office/drawing/2014/main" id="{3ED75D70-89AA-0516-E6D9-3765B1CB9CE1}"/>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11" name="CasellaDiTesto 10">
            <a:extLst>
              <a:ext uri="{FF2B5EF4-FFF2-40B4-BE49-F238E27FC236}">
                <a16:creationId xmlns:a16="http://schemas.microsoft.com/office/drawing/2014/main" id="{F33FCCA7-1C1A-E157-DBF9-08BB4900789C}"/>
              </a:ext>
            </a:extLst>
          </p:cNvPr>
          <p:cNvSpPr txBox="1"/>
          <p:nvPr/>
        </p:nvSpPr>
        <p:spPr>
          <a:xfrm>
            <a:off x="5940582" y="31896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12" name="CasellaDiTesto 11">
            <a:extLst>
              <a:ext uri="{FF2B5EF4-FFF2-40B4-BE49-F238E27FC236}">
                <a16:creationId xmlns:a16="http://schemas.microsoft.com/office/drawing/2014/main" id="{DD5F6CF3-AB8E-578B-6859-9BD1F5264663}"/>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15" name="CasellaDiTesto 14">
            <a:extLst>
              <a:ext uri="{FF2B5EF4-FFF2-40B4-BE49-F238E27FC236}">
                <a16:creationId xmlns:a16="http://schemas.microsoft.com/office/drawing/2014/main" id="{FB06A761-02BA-7D4B-FEBD-E949D582B203}"/>
              </a:ext>
            </a:extLst>
          </p:cNvPr>
          <p:cNvSpPr txBox="1"/>
          <p:nvPr/>
        </p:nvSpPr>
        <p:spPr>
          <a:xfrm>
            <a:off x="6865799"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3" name="CasellaDiTesto 2">
            <a:extLst>
              <a:ext uri="{FF2B5EF4-FFF2-40B4-BE49-F238E27FC236}">
                <a16:creationId xmlns:a16="http://schemas.microsoft.com/office/drawing/2014/main" id="{E7D8A15C-1AE5-CF52-AE1C-40073BEF7579}"/>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rgbClr val="FF0000"/>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6934707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318451DC-D5FD-D4DD-AE42-BD9471431A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866FDD92-A9E5-2298-64E4-8CF31F4DF0C0}"/>
              </a:ext>
            </a:extLst>
          </p:cNvPr>
          <p:cNvSpPr txBox="1"/>
          <p:nvPr/>
        </p:nvSpPr>
        <p:spPr>
          <a:xfrm>
            <a:off x="5411576" y="4768505"/>
            <a:ext cx="3555999"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F1BB58B4-93C9-2B43-1164-1A1F60A69D05}"/>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7" name="CasellaDiTesto 6">
            <a:extLst>
              <a:ext uri="{FF2B5EF4-FFF2-40B4-BE49-F238E27FC236}">
                <a16:creationId xmlns:a16="http://schemas.microsoft.com/office/drawing/2014/main" id="{DDF4933E-9801-EA05-8F0F-7D815FD4D8E3}"/>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8" name="CasellaDiTesto 7">
            <a:extLst>
              <a:ext uri="{FF2B5EF4-FFF2-40B4-BE49-F238E27FC236}">
                <a16:creationId xmlns:a16="http://schemas.microsoft.com/office/drawing/2014/main" id="{F82D33DA-1F57-7EC8-4D2A-9EFF4A725900}"/>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9" name="CasellaDiTesto 8">
            <a:extLst>
              <a:ext uri="{FF2B5EF4-FFF2-40B4-BE49-F238E27FC236}">
                <a16:creationId xmlns:a16="http://schemas.microsoft.com/office/drawing/2014/main" id="{696839A1-9C22-CB6E-035A-3A59D94E6A51}"/>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10" name="CasellaDiTesto 9">
            <a:extLst>
              <a:ext uri="{FF2B5EF4-FFF2-40B4-BE49-F238E27FC236}">
                <a16:creationId xmlns:a16="http://schemas.microsoft.com/office/drawing/2014/main" id="{5ED7BC07-7099-D5CE-6056-DB6276F39474}"/>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20" name="CasellaDiTesto 19">
            <a:extLst>
              <a:ext uri="{FF2B5EF4-FFF2-40B4-BE49-F238E27FC236}">
                <a16:creationId xmlns:a16="http://schemas.microsoft.com/office/drawing/2014/main" id="{FED5DA61-81F8-BFED-6879-4DFFD3D20C2F}"/>
              </a:ext>
            </a:extLst>
          </p:cNvPr>
          <p:cNvSpPr txBox="1"/>
          <p:nvPr/>
        </p:nvSpPr>
        <p:spPr>
          <a:xfrm>
            <a:off x="5940582" y="31896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21" name="CasellaDiTesto 20">
            <a:extLst>
              <a:ext uri="{FF2B5EF4-FFF2-40B4-BE49-F238E27FC236}">
                <a16:creationId xmlns:a16="http://schemas.microsoft.com/office/drawing/2014/main" id="{1DE4317F-17F2-E972-F0A9-B8F2B495103E}"/>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22" name="CasellaDiTesto 21">
            <a:extLst>
              <a:ext uri="{FF2B5EF4-FFF2-40B4-BE49-F238E27FC236}">
                <a16:creationId xmlns:a16="http://schemas.microsoft.com/office/drawing/2014/main" id="{F4C02380-3DC3-5505-3F0F-515BD133AD99}"/>
              </a:ext>
            </a:extLst>
          </p:cNvPr>
          <p:cNvSpPr txBox="1"/>
          <p:nvPr/>
        </p:nvSpPr>
        <p:spPr>
          <a:xfrm>
            <a:off x="6865799"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4" name="CasellaDiTesto 23">
            <a:extLst>
              <a:ext uri="{FF2B5EF4-FFF2-40B4-BE49-F238E27FC236}">
                <a16:creationId xmlns:a16="http://schemas.microsoft.com/office/drawing/2014/main" id="{537B4000-833C-881D-D056-9838032AF2A6}"/>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2"/>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26" name="CasellaDiTesto 25">
            <a:extLst>
              <a:ext uri="{FF2B5EF4-FFF2-40B4-BE49-F238E27FC236}">
                <a16:creationId xmlns:a16="http://schemas.microsoft.com/office/drawing/2014/main" id="{767BBCCC-A608-8A29-E54A-F27B3C50030F}"/>
              </a:ext>
            </a:extLst>
          </p:cNvPr>
          <p:cNvSpPr txBox="1"/>
          <p:nvPr/>
        </p:nvSpPr>
        <p:spPr>
          <a:xfrm>
            <a:off x="9576646" y="181958"/>
            <a:ext cx="2615354" cy="6494085"/>
          </a:xfrm>
          <a:prstGeom prst="rect">
            <a:avLst/>
          </a:prstGeom>
          <a:noFill/>
        </p:spPr>
        <p:txBody>
          <a:bodyPr wrap="square" rtlCol="0">
            <a:spAutoFit/>
          </a:bodyPr>
          <a:lstStyle/>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warm areas with moderate bottom oxygen, very high salinity, and very high surface productivity. High biomass across the general biodiversity,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to high shipping traffic. Minor anthropogenic influence with minimal presence of wind farms, dumping sites, and military areas. Limited bedrock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Biomass is generally very high, while the five commercially important species range from moderate to high. Fair fishing activity and moderate shipping traffic. Moderate to high anthropogenic influence, with dumping sites and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very cold areas with extremely low bottom oxygen, low bottom salinity, and quite low surface productivity. Overall biomass is high, biomass of the five commercially important species is moderate,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ranges from fair to moderate, and shipping traffic is fair. Minor anthropogenic influence with the presence of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to high salinity, and low surface productivity. Overall biomass is very high, while biomass of the five commercially important species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p:txBody>
      </p:sp>
    </p:spTree>
    <p:extLst>
      <p:ext uri="{BB962C8B-B14F-4D97-AF65-F5344CB8AC3E}">
        <p14:creationId xmlns:p14="http://schemas.microsoft.com/office/powerpoint/2010/main" val="30799481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318451DC-D5FD-D4DD-AE42-BD9471431A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866FDD92-A9E5-2298-64E4-8CF31F4DF0C0}"/>
              </a:ext>
            </a:extLst>
          </p:cNvPr>
          <p:cNvSpPr txBox="1"/>
          <p:nvPr/>
        </p:nvSpPr>
        <p:spPr>
          <a:xfrm>
            <a:off x="5411576" y="4768505"/>
            <a:ext cx="3555999"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F1BB58B4-93C9-2B43-1164-1A1F60A69D05}"/>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7" name="CasellaDiTesto 6">
            <a:extLst>
              <a:ext uri="{FF2B5EF4-FFF2-40B4-BE49-F238E27FC236}">
                <a16:creationId xmlns:a16="http://schemas.microsoft.com/office/drawing/2014/main" id="{DDF4933E-9801-EA05-8F0F-7D815FD4D8E3}"/>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8" name="CasellaDiTesto 7">
            <a:extLst>
              <a:ext uri="{FF2B5EF4-FFF2-40B4-BE49-F238E27FC236}">
                <a16:creationId xmlns:a16="http://schemas.microsoft.com/office/drawing/2014/main" id="{F82D33DA-1F57-7EC8-4D2A-9EFF4A725900}"/>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9" name="CasellaDiTesto 8">
            <a:extLst>
              <a:ext uri="{FF2B5EF4-FFF2-40B4-BE49-F238E27FC236}">
                <a16:creationId xmlns:a16="http://schemas.microsoft.com/office/drawing/2014/main" id="{696839A1-9C22-CB6E-035A-3A59D94E6A51}"/>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10" name="CasellaDiTesto 9">
            <a:extLst>
              <a:ext uri="{FF2B5EF4-FFF2-40B4-BE49-F238E27FC236}">
                <a16:creationId xmlns:a16="http://schemas.microsoft.com/office/drawing/2014/main" id="{5ED7BC07-7099-D5CE-6056-DB6276F39474}"/>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20" name="CasellaDiTesto 19">
            <a:extLst>
              <a:ext uri="{FF2B5EF4-FFF2-40B4-BE49-F238E27FC236}">
                <a16:creationId xmlns:a16="http://schemas.microsoft.com/office/drawing/2014/main" id="{FED5DA61-81F8-BFED-6879-4DFFD3D20C2F}"/>
              </a:ext>
            </a:extLst>
          </p:cNvPr>
          <p:cNvSpPr txBox="1"/>
          <p:nvPr/>
        </p:nvSpPr>
        <p:spPr>
          <a:xfrm>
            <a:off x="5940582" y="31896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21" name="CasellaDiTesto 20">
            <a:extLst>
              <a:ext uri="{FF2B5EF4-FFF2-40B4-BE49-F238E27FC236}">
                <a16:creationId xmlns:a16="http://schemas.microsoft.com/office/drawing/2014/main" id="{1DE4317F-17F2-E972-F0A9-B8F2B495103E}"/>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22" name="CasellaDiTesto 21">
            <a:extLst>
              <a:ext uri="{FF2B5EF4-FFF2-40B4-BE49-F238E27FC236}">
                <a16:creationId xmlns:a16="http://schemas.microsoft.com/office/drawing/2014/main" id="{F4C02380-3DC3-5505-3F0F-515BD133AD99}"/>
              </a:ext>
            </a:extLst>
          </p:cNvPr>
          <p:cNvSpPr txBox="1"/>
          <p:nvPr/>
        </p:nvSpPr>
        <p:spPr>
          <a:xfrm>
            <a:off x="6865799"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4" name="CasellaDiTesto 3">
            <a:extLst>
              <a:ext uri="{FF2B5EF4-FFF2-40B4-BE49-F238E27FC236}">
                <a16:creationId xmlns:a16="http://schemas.microsoft.com/office/drawing/2014/main" id="{1662114B-4EA8-36E8-83FE-90838B56A431}"/>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2"/>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5" name="CasellaDiTesto 4">
            <a:extLst>
              <a:ext uri="{FF2B5EF4-FFF2-40B4-BE49-F238E27FC236}">
                <a16:creationId xmlns:a16="http://schemas.microsoft.com/office/drawing/2014/main" id="{4CE4B6B9-3B02-798C-CDA5-E2ED0753F032}"/>
              </a:ext>
            </a:extLst>
          </p:cNvPr>
          <p:cNvSpPr txBox="1"/>
          <p:nvPr/>
        </p:nvSpPr>
        <p:spPr>
          <a:xfrm>
            <a:off x="9576646" y="1659285"/>
            <a:ext cx="2615354" cy="3539430"/>
          </a:xfrm>
          <a:prstGeom prst="rect">
            <a:avLst/>
          </a:prstGeom>
          <a:noFill/>
        </p:spPr>
        <p:txBody>
          <a:bodyPr wrap="square" rtlCol="0">
            <a:spAutoFit/>
          </a:bodyPr>
          <a:lstStyle/>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salinity, and high surface productivity. Overall biomass is very high, biomass of the five commercially important species is moderate,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is very intense, and shipping traffic is fair. Strong anthropogenic influence with a marked presence of military areas.</a:t>
            </a:r>
          </a:p>
        </p:txBody>
      </p:sp>
    </p:spTree>
    <p:extLst>
      <p:ext uri="{BB962C8B-B14F-4D97-AF65-F5344CB8AC3E}">
        <p14:creationId xmlns:p14="http://schemas.microsoft.com/office/powerpoint/2010/main" val="3425905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45763EE3-790A-3A55-B1F3-941C943CCB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6" name="CasellaDiTesto 5">
            <a:extLst>
              <a:ext uri="{FF2B5EF4-FFF2-40B4-BE49-F238E27FC236}">
                <a16:creationId xmlns:a16="http://schemas.microsoft.com/office/drawing/2014/main" id="{683CAA8A-703E-FFCC-0E0C-0E06FA7FF18F}"/>
              </a:ext>
            </a:extLst>
          </p:cNvPr>
          <p:cNvSpPr txBox="1"/>
          <p:nvPr/>
        </p:nvSpPr>
        <p:spPr>
          <a:xfrm>
            <a:off x="5262271" y="4503303"/>
            <a:ext cx="3625018"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38EB0D34-4497-9501-52EF-87CC5FCD93DB}"/>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14" name="CasellaDiTesto 13">
            <a:extLst>
              <a:ext uri="{FF2B5EF4-FFF2-40B4-BE49-F238E27FC236}">
                <a16:creationId xmlns:a16="http://schemas.microsoft.com/office/drawing/2014/main" id="{DE6D34C8-C67B-06E0-623B-47326F99149D}"/>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15" name="CasellaDiTesto 14">
            <a:extLst>
              <a:ext uri="{FF2B5EF4-FFF2-40B4-BE49-F238E27FC236}">
                <a16:creationId xmlns:a16="http://schemas.microsoft.com/office/drawing/2014/main" id="{114C8759-ECFA-FBDA-5EA3-BA22FF047F23}"/>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16" name="CasellaDiTesto 15">
            <a:extLst>
              <a:ext uri="{FF2B5EF4-FFF2-40B4-BE49-F238E27FC236}">
                <a16:creationId xmlns:a16="http://schemas.microsoft.com/office/drawing/2014/main" id="{F1FA9B59-AEEE-FB82-FAEE-BF732CC4FFA7}"/>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17" name="CasellaDiTesto 16">
            <a:extLst>
              <a:ext uri="{FF2B5EF4-FFF2-40B4-BE49-F238E27FC236}">
                <a16:creationId xmlns:a16="http://schemas.microsoft.com/office/drawing/2014/main" id="{9ACB4721-A779-92CC-BAEB-EE8DAC1273B7}"/>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18" name="CasellaDiTesto 17">
            <a:extLst>
              <a:ext uri="{FF2B5EF4-FFF2-40B4-BE49-F238E27FC236}">
                <a16:creationId xmlns:a16="http://schemas.microsoft.com/office/drawing/2014/main" id="{290B6AF9-595C-3458-67E1-456BD802D96B}"/>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19" name="CasellaDiTesto 18">
            <a:extLst>
              <a:ext uri="{FF2B5EF4-FFF2-40B4-BE49-F238E27FC236}">
                <a16:creationId xmlns:a16="http://schemas.microsoft.com/office/drawing/2014/main" id="{7228784C-84D0-2882-BD5B-E1C62F246398}"/>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20" name="CasellaDiTesto 19">
            <a:extLst>
              <a:ext uri="{FF2B5EF4-FFF2-40B4-BE49-F238E27FC236}">
                <a16:creationId xmlns:a16="http://schemas.microsoft.com/office/drawing/2014/main" id="{28835EBD-AA73-12FB-C33D-6A4BDB70F720}"/>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3" name="CasellaDiTesto 2">
            <a:extLst>
              <a:ext uri="{FF2B5EF4-FFF2-40B4-BE49-F238E27FC236}">
                <a16:creationId xmlns:a16="http://schemas.microsoft.com/office/drawing/2014/main" id="{79202790-A114-DEAA-0107-2710D4B25005}"/>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4"/>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8" name="CasellaDiTesto 7">
            <a:extLst>
              <a:ext uri="{FF2B5EF4-FFF2-40B4-BE49-F238E27FC236}">
                <a16:creationId xmlns:a16="http://schemas.microsoft.com/office/drawing/2014/main" id="{CEC4C122-4AB8-CD56-7B4F-08154C1BDFE0}"/>
              </a:ext>
            </a:extLst>
          </p:cNvPr>
          <p:cNvSpPr txBox="1"/>
          <p:nvPr/>
        </p:nvSpPr>
        <p:spPr>
          <a:xfrm>
            <a:off x="9576646" y="674400"/>
            <a:ext cx="2615354" cy="5509200"/>
          </a:xfrm>
          <a:prstGeom prst="rect">
            <a:avLst/>
          </a:prstGeom>
          <a:noFill/>
        </p:spPr>
        <p:txBody>
          <a:bodyPr wrap="square" rtlCol="0">
            <a:spAutoFit/>
          </a:bodyPr>
          <a:lstStyle/>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cool to moderately cold bottom temperatures, low bottom salinity, and fair to moderate surface productivity. High bottom oxygen levels. Very high overall biomass, with high biomass of the five commercially important species. Moderate to high fishing activity and fair to moderate shipping traffic. Strong anthropogenic influence, with a marked presence of military areas. Partly hard-rock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cold bottom temperatures, low salinity, and low to fairly moderate surface productivity. High bottom oxygen levels. Very high overall biomass, low biomass of the five commercially important species, and moderate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ranges from fair to high, and shipping traffic from fair to high. Strong anthropogenic influence with a marked presence of military areas. Presence of hard-bottom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(E) Deep, cold areas with very low bottom oxygen, moderate to high salinity, and low surface productivity. Overall biomass is very high, while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areas with moderately cold temperatures, moderate to high surface productivity, low salinity, and very high bottom oxygen levels. Overall biomass ranges from moderate to high, with moderate biomass of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low, while shipping traffic is very intense. Strong anthropogenic influence with a marked presence of military areas. Partly hard-bottom seafloor.</a:t>
            </a:r>
          </a:p>
          <a:p>
            <a:pPr algn="just"/>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9" name="CasellaDiTesto 8">
            <a:extLst>
              <a:ext uri="{FF2B5EF4-FFF2-40B4-BE49-F238E27FC236}">
                <a16:creationId xmlns:a16="http://schemas.microsoft.com/office/drawing/2014/main" id="{106E0114-18C3-8D34-CB33-C6288072FA87}"/>
              </a:ext>
            </a:extLst>
          </p:cNvPr>
          <p:cNvSpPr txBox="1"/>
          <p:nvPr/>
        </p:nvSpPr>
        <p:spPr>
          <a:xfrm>
            <a:off x="4754989" y="3200581"/>
            <a:ext cx="290556"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21" name="CasellaDiTesto 20">
            <a:extLst>
              <a:ext uri="{FF2B5EF4-FFF2-40B4-BE49-F238E27FC236}">
                <a16:creationId xmlns:a16="http://schemas.microsoft.com/office/drawing/2014/main" id="{04596776-E97A-AE41-4695-8B0EDBF1A550}"/>
              </a:ext>
            </a:extLst>
          </p:cNvPr>
          <p:cNvSpPr txBox="1"/>
          <p:nvPr/>
        </p:nvSpPr>
        <p:spPr>
          <a:xfrm>
            <a:off x="6619478" y="2604972"/>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22" name="CasellaDiTesto 21">
            <a:extLst>
              <a:ext uri="{FF2B5EF4-FFF2-40B4-BE49-F238E27FC236}">
                <a16:creationId xmlns:a16="http://schemas.microsoft.com/office/drawing/2014/main" id="{07D1FAF6-5C65-0CB8-E88C-01BF9EFFB134}"/>
              </a:ext>
            </a:extLst>
          </p:cNvPr>
          <p:cNvSpPr txBox="1"/>
          <p:nvPr/>
        </p:nvSpPr>
        <p:spPr>
          <a:xfrm>
            <a:off x="5888445" y="3180003"/>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23" name="CasellaDiTesto 22">
            <a:extLst>
              <a:ext uri="{FF2B5EF4-FFF2-40B4-BE49-F238E27FC236}">
                <a16:creationId xmlns:a16="http://schemas.microsoft.com/office/drawing/2014/main" id="{2F84CAEA-84B0-8E09-7928-7644A1D55681}"/>
              </a:ext>
            </a:extLst>
          </p:cNvPr>
          <p:cNvSpPr txBox="1"/>
          <p:nvPr/>
        </p:nvSpPr>
        <p:spPr>
          <a:xfrm>
            <a:off x="6495088" y="3376755"/>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24" name="CasellaDiTesto 23">
            <a:extLst>
              <a:ext uri="{FF2B5EF4-FFF2-40B4-BE49-F238E27FC236}">
                <a16:creationId xmlns:a16="http://schemas.microsoft.com/office/drawing/2014/main" id="{7EC30217-B93F-EDC4-999D-BD93707FB646}"/>
              </a:ext>
            </a:extLst>
          </p:cNvPr>
          <p:cNvSpPr txBox="1"/>
          <p:nvPr/>
        </p:nvSpPr>
        <p:spPr>
          <a:xfrm>
            <a:off x="6792077" y="3550519"/>
            <a:ext cx="290555" cy="276999"/>
          </a:xfrm>
          <a:prstGeom prst="rect">
            <a:avLst/>
          </a:prstGeom>
          <a:noFill/>
        </p:spPr>
        <p:txBody>
          <a:bodyPr wrap="square" rtlCol="0">
            <a:spAutoFit/>
          </a:bodyPr>
          <a:lstStyle/>
          <a:p>
            <a:pPr algn="ctr"/>
            <a:r>
              <a:rPr lang="it-IT" sz="1200" b="1" dirty="0">
                <a:solidFill>
                  <a:schemeClr val="accent1">
                    <a:lumMod val="60000"/>
                    <a:lumOff val="40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Tree>
    <p:extLst>
      <p:ext uri="{BB962C8B-B14F-4D97-AF65-F5344CB8AC3E}">
        <p14:creationId xmlns:p14="http://schemas.microsoft.com/office/powerpoint/2010/main" val="305555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45763EE3-790A-3A55-B1F3-941C943CCB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6" name="CasellaDiTesto 5">
            <a:extLst>
              <a:ext uri="{FF2B5EF4-FFF2-40B4-BE49-F238E27FC236}">
                <a16:creationId xmlns:a16="http://schemas.microsoft.com/office/drawing/2014/main" id="{683CAA8A-703E-FFCC-0E0C-0E06FA7FF18F}"/>
              </a:ext>
            </a:extLst>
          </p:cNvPr>
          <p:cNvSpPr txBox="1"/>
          <p:nvPr/>
        </p:nvSpPr>
        <p:spPr>
          <a:xfrm>
            <a:off x="5262271" y="4503303"/>
            <a:ext cx="3625018"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2" name="CasellaDiTesto 1">
            <a:extLst>
              <a:ext uri="{FF2B5EF4-FFF2-40B4-BE49-F238E27FC236}">
                <a16:creationId xmlns:a16="http://schemas.microsoft.com/office/drawing/2014/main" id="{1E54B57F-2A0C-ADA3-3101-F218392108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4"/>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F01D3EB1-DE53-B55F-41EA-422F33908F6F}"/>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22" name="CasellaDiTesto 21">
            <a:extLst>
              <a:ext uri="{FF2B5EF4-FFF2-40B4-BE49-F238E27FC236}">
                <a16:creationId xmlns:a16="http://schemas.microsoft.com/office/drawing/2014/main" id="{EE2EEA26-634C-F0AA-17D0-75A489A3B0E8}"/>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23" name="CasellaDiTesto 22">
            <a:extLst>
              <a:ext uri="{FF2B5EF4-FFF2-40B4-BE49-F238E27FC236}">
                <a16:creationId xmlns:a16="http://schemas.microsoft.com/office/drawing/2014/main" id="{08583537-0610-0931-46B9-B833ED99A28B}"/>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24" name="CasellaDiTesto 23">
            <a:extLst>
              <a:ext uri="{FF2B5EF4-FFF2-40B4-BE49-F238E27FC236}">
                <a16:creationId xmlns:a16="http://schemas.microsoft.com/office/drawing/2014/main" id="{80E80FE8-F461-1A22-3168-518A153B6E6C}"/>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25" name="CasellaDiTesto 24">
            <a:extLst>
              <a:ext uri="{FF2B5EF4-FFF2-40B4-BE49-F238E27FC236}">
                <a16:creationId xmlns:a16="http://schemas.microsoft.com/office/drawing/2014/main" id="{5DC8780D-A2D1-C4E7-30CF-E0DF479DFCD8}"/>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26" name="CasellaDiTesto 25">
            <a:extLst>
              <a:ext uri="{FF2B5EF4-FFF2-40B4-BE49-F238E27FC236}">
                <a16:creationId xmlns:a16="http://schemas.microsoft.com/office/drawing/2014/main" id="{8D6F33D9-30BA-1B44-635E-E12CCD2F12FD}"/>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27" name="CasellaDiTesto 26">
            <a:extLst>
              <a:ext uri="{FF2B5EF4-FFF2-40B4-BE49-F238E27FC236}">
                <a16:creationId xmlns:a16="http://schemas.microsoft.com/office/drawing/2014/main" id="{0902F906-48B8-7958-81B4-8904ED0E0877}"/>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28" name="CasellaDiTesto 27">
            <a:extLst>
              <a:ext uri="{FF2B5EF4-FFF2-40B4-BE49-F238E27FC236}">
                <a16:creationId xmlns:a16="http://schemas.microsoft.com/office/drawing/2014/main" id="{92A321A2-55F2-E381-DB99-E5759D7F54EE}"/>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29" name="CasellaDiTesto 28">
            <a:extLst>
              <a:ext uri="{FF2B5EF4-FFF2-40B4-BE49-F238E27FC236}">
                <a16:creationId xmlns:a16="http://schemas.microsoft.com/office/drawing/2014/main" id="{2BDDDFED-E0CE-8703-5CFC-5E9E8D17596F}"/>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30" name="CasellaDiTesto 29">
            <a:extLst>
              <a:ext uri="{FF2B5EF4-FFF2-40B4-BE49-F238E27FC236}">
                <a16:creationId xmlns:a16="http://schemas.microsoft.com/office/drawing/2014/main" id="{CA92D7A6-92A4-C837-F9F2-BC272261D7D2}"/>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31" name="CasellaDiTesto 30">
            <a:extLst>
              <a:ext uri="{FF2B5EF4-FFF2-40B4-BE49-F238E27FC236}">
                <a16:creationId xmlns:a16="http://schemas.microsoft.com/office/drawing/2014/main" id="{877820F6-E571-BA3A-BF1E-1E581732FC64}"/>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32" name="CasellaDiTesto 31">
            <a:extLst>
              <a:ext uri="{FF2B5EF4-FFF2-40B4-BE49-F238E27FC236}">
                <a16:creationId xmlns:a16="http://schemas.microsoft.com/office/drawing/2014/main" id="{0167B807-22D3-C73F-1265-41EB4EE4F652}"/>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33" name="CasellaDiTesto 32">
            <a:extLst>
              <a:ext uri="{FF2B5EF4-FFF2-40B4-BE49-F238E27FC236}">
                <a16:creationId xmlns:a16="http://schemas.microsoft.com/office/drawing/2014/main" id="{433D59B6-A85D-7D21-10A1-B1D18CF6209C}"/>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34" name="CasellaDiTesto 33">
            <a:extLst>
              <a:ext uri="{FF2B5EF4-FFF2-40B4-BE49-F238E27FC236}">
                <a16:creationId xmlns:a16="http://schemas.microsoft.com/office/drawing/2014/main" id="{40531B3B-2340-3664-6FC2-C8CB2545D6DC}"/>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5" name="CasellaDiTesto 34">
            <a:extLst>
              <a:ext uri="{FF2B5EF4-FFF2-40B4-BE49-F238E27FC236}">
                <a16:creationId xmlns:a16="http://schemas.microsoft.com/office/drawing/2014/main" id="{73606FFE-DA95-4A8F-29EF-A08319AB3DEB}"/>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36" name="CasellaDiTesto 35">
            <a:extLst>
              <a:ext uri="{FF2B5EF4-FFF2-40B4-BE49-F238E27FC236}">
                <a16:creationId xmlns:a16="http://schemas.microsoft.com/office/drawing/2014/main" id="{7F5A238D-4415-A0C7-EECD-83FF49F2F8AE}"/>
              </a:ext>
            </a:extLst>
          </p:cNvPr>
          <p:cNvSpPr txBox="1"/>
          <p:nvPr/>
        </p:nvSpPr>
        <p:spPr>
          <a:xfrm>
            <a:off x="4754989" y="3200581"/>
            <a:ext cx="290556"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37" name="CasellaDiTesto 36">
            <a:extLst>
              <a:ext uri="{FF2B5EF4-FFF2-40B4-BE49-F238E27FC236}">
                <a16:creationId xmlns:a16="http://schemas.microsoft.com/office/drawing/2014/main" id="{96778776-32A5-0D84-DECA-E959CC568A1C}"/>
              </a:ext>
            </a:extLst>
          </p:cNvPr>
          <p:cNvSpPr txBox="1"/>
          <p:nvPr/>
        </p:nvSpPr>
        <p:spPr>
          <a:xfrm>
            <a:off x="6619478" y="2604972"/>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38" name="CasellaDiTesto 37">
            <a:extLst>
              <a:ext uri="{FF2B5EF4-FFF2-40B4-BE49-F238E27FC236}">
                <a16:creationId xmlns:a16="http://schemas.microsoft.com/office/drawing/2014/main" id="{4E31976E-778B-6EFE-FDC6-85C370E1368F}"/>
              </a:ext>
            </a:extLst>
          </p:cNvPr>
          <p:cNvSpPr txBox="1"/>
          <p:nvPr/>
        </p:nvSpPr>
        <p:spPr>
          <a:xfrm>
            <a:off x="5874777" y="3187233"/>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39" name="CasellaDiTesto 38">
            <a:extLst>
              <a:ext uri="{FF2B5EF4-FFF2-40B4-BE49-F238E27FC236}">
                <a16:creationId xmlns:a16="http://schemas.microsoft.com/office/drawing/2014/main" id="{5ECF9C37-5C71-8DCB-9201-7EF942379323}"/>
              </a:ext>
            </a:extLst>
          </p:cNvPr>
          <p:cNvSpPr txBox="1"/>
          <p:nvPr/>
        </p:nvSpPr>
        <p:spPr>
          <a:xfrm>
            <a:off x="6495088" y="3376755"/>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40" name="CasellaDiTesto 39">
            <a:extLst>
              <a:ext uri="{FF2B5EF4-FFF2-40B4-BE49-F238E27FC236}">
                <a16:creationId xmlns:a16="http://schemas.microsoft.com/office/drawing/2014/main" id="{122E775B-8782-FEF7-BCEA-B4CA1DED92EB}"/>
              </a:ext>
            </a:extLst>
          </p:cNvPr>
          <p:cNvSpPr txBox="1"/>
          <p:nvPr/>
        </p:nvSpPr>
        <p:spPr>
          <a:xfrm>
            <a:off x="6792077" y="3550519"/>
            <a:ext cx="290555" cy="276999"/>
          </a:xfrm>
          <a:prstGeom prst="rect">
            <a:avLst/>
          </a:prstGeom>
          <a:noFill/>
        </p:spPr>
        <p:txBody>
          <a:bodyPr wrap="square" rtlCol="0">
            <a:spAutoFit/>
          </a:bodyPr>
          <a:lstStyle/>
          <a:p>
            <a:pPr algn="ctr"/>
            <a:r>
              <a:rPr lang="it-IT" sz="1200" b="1" dirty="0">
                <a:solidFill>
                  <a:schemeClr val="accent4"/>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43" name="CasellaDiTesto 42">
            <a:extLst>
              <a:ext uri="{FF2B5EF4-FFF2-40B4-BE49-F238E27FC236}">
                <a16:creationId xmlns:a16="http://schemas.microsoft.com/office/drawing/2014/main" id="{0B44F507-FD4F-51E7-7DD3-F07495F2EF32}"/>
              </a:ext>
            </a:extLst>
          </p:cNvPr>
          <p:cNvSpPr txBox="1"/>
          <p:nvPr/>
        </p:nvSpPr>
        <p:spPr>
          <a:xfrm>
            <a:off x="9576646" y="735955"/>
            <a:ext cx="2615354" cy="5386090"/>
          </a:xfrm>
          <a:prstGeom prst="rect">
            <a:avLst/>
          </a:prstGeom>
          <a:noFill/>
        </p:spPr>
        <p:txBody>
          <a:bodyPr wrap="square" rtlCol="0">
            <a:spAutoFit/>
          </a:bodyPr>
          <a:lstStyle/>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(B) 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(F) 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(G) 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(H?) </a:t>
            </a: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moderate salinity, and moderate to high surface productivity. Overall biomass is fairly moderate, with fair to low biomass of the five commercially important species and moderate biomass of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intense, and shipping traffic is high.</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24905133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E0DBD1B4-7D7D-3242-1E76-F5DB3B0EFC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96523605-196C-2B6D-0397-9A0FA6AF8A01}"/>
              </a:ext>
            </a:extLst>
          </p:cNvPr>
          <p:cNvSpPr txBox="1"/>
          <p:nvPr/>
        </p:nvSpPr>
        <p:spPr>
          <a:xfrm>
            <a:off x="5262271" y="4503303"/>
            <a:ext cx="3625018"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B5B3E04E-E33D-0304-974A-9728031744C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3"/>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24" name="CasellaDiTesto 23">
            <a:extLst>
              <a:ext uri="{FF2B5EF4-FFF2-40B4-BE49-F238E27FC236}">
                <a16:creationId xmlns:a16="http://schemas.microsoft.com/office/drawing/2014/main" id="{10B4AF2B-37D6-9273-11E5-FBE60E82C0CC}"/>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25" name="CasellaDiTesto 24">
            <a:extLst>
              <a:ext uri="{FF2B5EF4-FFF2-40B4-BE49-F238E27FC236}">
                <a16:creationId xmlns:a16="http://schemas.microsoft.com/office/drawing/2014/main" id="{7F591FF8-552C-658C-9380-44BAC26133FC}"/>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26" name="CasellaDiTesto 25">
            <a:extLst>
              <a:ext uri="{FF2B5EF4-FFF2-40B4-BE49-F238E27FC236}">
                <a16:creationId xmlns:a16="http://schemas.microsoft.com/office/drawing/2014/main" id="{56C1464F-3787-AE67-C0E6-909AB56FDE32}"/>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27" name="CasellaDiTesto 26">
            <a:extLst>
              <a:ext uri="{FF2B5EF4-FFF2-40B4-BE49-F238E27FC236}">
                <a16:creationId xmlns:a16="http://schemas.microsoft.com/office/drawing/2014/main" id="{686ABE71-85FE-A3CF-8168-8DCE84F920F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28" name="CasellaDiTesto 27">
            <a:extLst>
              <a:ext uri="{FF2B5EF4-FFF2-40B4-BE49-F238E27FC236}">
                <a16:creationId xmlns:a16="http://schemas.microsoft.com/office/drawing/2014/main" id="{85CB7770-60CA-775E-7829-3C58F4F3244F}"/>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29" name="CasellaDiTesto 28">
            <a:extLst>
              <a:ext uri="{FF2B5EF4-FFF2-40B4-BE49-F238E27FC236}">
                <a16:creationId xmlns:a16="http://schemas.microsoft.com/office/drawing/2014/main" id="{32D210F1-A830-31B9-38C2-F2C85294A110}"/>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0" name="CasellaDiTesto 29">
            <a:extLst>
              <a:ext uri="{FF2B5EF4-FFF2-40B4-BE49-F238E27FC236}">
                <a16:creationId xmlns:a16="http://schemas.microsoft.com/office/drawing/2014/main" id="{F3DB69C9-8341-1E94-29E5-48CE74B655A5}"/>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31" name="CasellaDiTesto 30">
            <a:extLst>
              <a:ext uri="{FF2B5EF4-FFF2-40B4-BE49-F238E27FC236}">
                <a16:creationId xmlns:a16="http://schemas.microsoft.com/office/drawing/2014/main" id="{9455D5EC-FF1C-0CC9-2AEF-B052185B1AD7}"/>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32" name="CasellaDiTesto 31">
            <a:extLst>
              <a:ext uri="{FF2B5EF4-FFF2-40B4-BE49-F238E27FC236}">
                <a16:creationId xmlns:a16="http://schemas.microsoft.com/office/drawing/2014/main" id="{9F26544F-750C-B06F-F136-F27FDB8B6719}"/>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33" name="CasellaDiTesto 32">
            <a:extLst>
              <a:ext uri="{FF2B5EF4-FFF2-40B4-BE49-F238E27FC236}">
                <a16:creationId xmlns:a16="http://schemas.microsoft.com/office/drawing/2014/main" id="{4C5A5069-E28A-0517-8F55-6247E4B4B04C}"/>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34" name="CasellaDiTesto 33">
            <a:extLst>
              <a:ext uri="{FF2B5EF4-FFF2-40B4-BE49-F238E27FC236}">
                <a16:creationId xmlns:a16="http://schemas.microsoft.com/office/drawing/2014/main" id="{4F3DD77C-69B2-6E14-872C-10CC1C7BD292}"/>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35" name="CasellaDiTesto 34">
            <a:extLst>
              <a:ext uri="{FF2B5EF4-FFF2-40B4-BE49-F238E27FC236}">
                <a16:creationId xmlns:a16="http://schemas.microsoft.com/office/drawing/2014/main" id="{83900ACD-611D-8C7E-E9C6-D6411E299E99}"/>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36" name="CasellaDiTesto 35">
            <a:extLst>
              <a:ext uri="{FF2B5EF4-FFF2-40B4-BE49-F238E27FC236}">
                <a16:creationId xmlns:a16="http://schemas.microsoft.com/office/drawing/2014/main" id="{126974FA-FB54-1437-5557-18F46DFCD51A}"/>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37" name="CasellaDiTesto 36">
            <a:extLst>
              <a:ext uri="{FF2B5EF4-FFF2-40B4-BE49-F238E27FC236}">
                <a16:creationId xmlns:a16="http://schemas.microsoft.com/office/drawing/2014/main" id="{18712E2B-56FF-0A90-D858-C654AF39DF7D}"/>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8" name="CasellaDiTesto 37">
            <a:extLst>
              <a:ext uri="{FF2B5EF4-FFF2-40B4-BE49-F238E27FC236}">
                <a16:creationId xmlns:a16="http://schemas.microsoft.com/office/drawing/2014/main" id="{15594AA2-D1F4-5181-481B-0F8603F987F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39" name="CasellaDiTesto 38">
            <a:extLst>
              <a:ext uri="{FF2B5EF4-FFF2-40B4-BE49-F238E27FC236}">
                <a16:creationId xmlns:a16="http://schemas.microsoft.com/office/drawing/2014/main" id="{52E6A641-C760-809B-852E-E2D4BA3A9C50}"/>
              </a:ext>
            </a:extLst>
          </p:cNvPr>
          <p:cNvSpPr txBox="1"/>
          <p:nvPr/>
        </p:nvSpPr>
        <p:spPr>
          <a:xfrm>
            <a:off x="4754989" y="3200581"/>
            <a:ext cx="290556"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40" name="CasellaDiTesto 39">
            <a:extLst>
              <a:ext uri="{FF2B5EF4-FFF2-40B4-BE49-F238E27FC236}">
                <a16:creationId xmlns:a16="http://schemas.microsoft.com/office/drawing/2014/main" id="{EB3DB489-7AB4-AB0D-11B2-EA8935DB4B9D}"/>
              </a:ext>
            </a:extLst>
          </p:cNvPr>
          <p:cNvSpPr txBox="1"/>
          <p:nvPr/>
        </p:nvSpPr>
        <p:spPr>
          <a:xfrm>
            <a:off x="6619478" y="2604972"/>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41" name="CasellaDiTesto 40">
            <a:extLst>
              <a:ext uri="{FF2B5EF4-FFF2-40B4-BE49-F238E27FC236}">
                <a16:creationId xmlns:a16="http://schemas.microsoft.com/office/drawing/2014/main" id="{A7EABD9B-C495-10D8-63EE-24F9D77716CF}"/>
              </a:ext>
            </a:extLst>
          </p:cNvPr>
          <p:cNvSpPr txBox="1"/>
          <p:nvPr/>
        </p:nvSpPr>
        <p:spPr>
          <a:xfrm>
            <a:off x="5866860" y="3238255"/>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42" name="CasellaDiTesto 41">
            <a:extLst>
              <a:ext uri="{FF2B5EF4-FFF2-40B4-BE49-F238E27FC236}">
                <a16:creationId xmlns:a16="http://schemas.microsoft.com/office/drawing/2014/main" id="{FC05CC10-9D50-DABE-457A-8CCC3D008E3A}"/>
              </a:ext>
            </a:extLst>
          </p:cNvPr>
          <p:cNvSpPr txBox="1"/>
          <p:nvPr/>
        </p:nvSpPr>
        <p:spPr>
          <a:xfrm>
            <a:off x="6495088" y="3376755"/>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43" name="CasellaDiTesto 42">
            <a:extLst>
              <a:ext uri="{FF2B5EF4-FFF2-40B4-BE49-F238E27FC236}">
                <a16:creationId xmlns:a16="http://schemas.microsoft.com/office/drawing/2014/main" id="{FD6EA4B8-6105-03AD-696C-C1820886CA19}"/>
              </a:ext>
            </a:extLst>
          </p:cNvPr>
          <p:cNvSpPr txBox="1"/>
          <p:nvPr/>
        </p:nvSpPr>
        <p:spPr>
          <a:xfrm>
            <a:off x="6792077" y="3550519"/>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44" name="CasellaDiTesto 43">
            <a:extLst>
              <a:ext uri="{FF2B5EF4-FFF2-40B4-BE49-F238E27FC236}">
                <a16:creationId xmlns:a16="http://schemas.microsoft.com/office/drawing/2014/main" id="{A583B5CE-4F70-3B8D-C41A-A279CBF82547}"/>
              </a:ext>
            </a:extLst>
          </p:cNvPr>
          <p:cNvSpPr txBox="1"/>
          <p:nvPr/>
        </p:nvSpPr>
        <p:spPr>
          <a:xfrm>
            <a:off x="9576646" y="674400"/>
            <a:ext cx="2615354" cy="5509200"/>
          </a:xfrm>
          <a:prstGeom prst="rect">
            <a:avLst/>
          </a:prstGeom>
          <a:noFill/>
        </p:spPr>
        <p:txBody>
          <a:bodyPr wrap="square" rtlCol="0">
            <a:spAutoFit/>
          </a:bodyPr>
          <a:lstStyle/>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cool to moderately cold bottom temperatures, low bottom salinity, and fair to moderate surface productivity. High bottom oxygen levels. Very high overall biomass, with high biomass of the five commercially important species. Moderate to high fishing activity and fair to moderate shipping traffic. Strong anthropogenic influence, with a marked presence of military areas. Partly hard-rock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cold bottom temperatures, low salinity, and low to fairly moderate surface productivity. High bottom oxygen levels. Very high overall biomass, low biomass of the five commercially important species, and moderate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ranges from fair to high, and shipping traffic from fair to high. Strong anthropogenic influence with a marked presence of military areas. Presence of hard-bottom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(E) Deep, cold areas with very low bottom oxygen, moderate to high salinity, and low surface productivity. Overall biomass is very high, while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areas with moderately cold temperatures, moderate to high surface productivity, low salinity, and very high bottom oxygen levels. Overall biomass ranges from moderate to high, with moderate biomass of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low, while shipping traffic is very intense. Strong anthropogenic influence with a marked presence of military areas. Partly hard-bottom seafloor.</a:t>
            </a:r>
          </a:p>
          <a:p>
            <a:pPr algn="just"/>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2493968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E0DBD1B4-7D7D-3242-1E76-F5DB3B0EFC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96523605-196C-2B6D-0397-9A0FA6AF8A01}"/>
              </a:ext>
            </a:extLst>
          </p:cNvPr>
          <p:cNvSpPr txBox="1"/>
          <p:nvPr/>
        </p:nvSpPr>
        <p:spPr>
          <a:xfrm>
            <a:off x="5262271" y="4503303"/>
            <a:ext cx="3625018"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722B5D7A-ED4E-4646-3B4E-C763F9D2A40E}"/>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3"/>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2382C877-EE9C-9D65-69F9-E3D984BBB2CF}"/>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22" name="CasellaDiTesto 21">
            <a:extLst>
              <a:ext uri="{FF2B5EF4-FFF2-40B4-BE49-F238E27FC236}">
                <a16:creationId xmlns:a16="http://schemas.microsoft.com/office/drawing/2014/main" id="{E82FC46F-E754-2D4F-D818-111DD7C87357}"/>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23" name="CasellaDiTesto 22">
            <a:extLst>
              <a:ext uri="{FF2B5EF4-FFF2-40B4-BE49-F238E27FC236}">
                <a16:creationId xmlns:a16="http://schemas.microsoft.com/office/drawing/2014/main" id="{28FCF8AD-6F76-D7B6-62EE-EC3CE21726EB}"/>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24" name="CasellaDiTesto 23">
            <a:extLst>
              <a:ext uri="{FF2B5EF4-FFF2-40B4-BE49-F238E27FC236}">
                <a16:creationId xmlns:a16="http://schemas.microsoft.com/office/drawing/2014/main" id="{5886D7C0-D318-8F17-4FE2-FFE83DFB8BFE}"/>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25" name="CasellaDiTesto 24">
            <a:extLst>
              <a:ext uri="{FF2B5EF4-FFF2-40B4-BE49-F238E27FC236}">
                <a16:creationId xmlns:a16="http://schemas.microsoft.com/office/drawing/2014/main" id="{7F2F9604-D3D7-C84C-08E7-CB1DF77CF8B1}"/>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26" name="CasellaDiTesto 25">
            <a:extLst>
              <a:ext uri="{FF2B5EF4-FFF2-40B4-BE49-F238E27FC236}">
                <a16:creationId xmlns:a16="http://schemas.microsoft.com/office/drawing/2014/main" id="{DE539155-75B1-0EE4-ACB2-60246640F2BF}"/>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27" name="CasellaDiTesto 26">
            <a:extLst>
              <a:ext uri="{FF2B5EF4-FFF2-40B4-BE49-F238E27FC236}">
                <a16:creationId xmlns:a16="http://schemas.microsoft.com/office/drawing/2014/main" id="{74CD89AA-483A-A198-A423-BF43A7583C51}"/>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28" name="CasellaDiTesto 27">
            <a:extLst>
              <a:ext uri="{FF2B5EF4-FFF2-40B4-BE49-F238E27FC236}">
                <a16:creationId xmlns:a16="http://schemas.microsoft.com/office/drawing/2014/main" id="{C65BEE67-D9B8-333B-238C-D2970E0E6D97}"/>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29" name="CasellaDiTesto 28">
            <a:extLst>
              <a:ext uri="{FF2B5EF4-FFF2-40B4-BE49-F238E27FC236}">
                <a16:creationId xmlns:a16="http://schemas.microsoft.com/office/drawing/2014/main" id="{9389596E-C981-4F59-E7E2-DDADB4E12C3B}"/>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30" name="CasellaDiTesto 29">
            <a:extLst>
              <a:ext uri="{FF2B5EF4-FFF2-40B4-BE49-F238E27FC236}">
                <a16:creationId xmlns:a16="http://schemas.microsoft.com/office/drawing/2014/main" id="{2AFEA6A3-7E80-78EE-7747-A7315746122B}"/>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31" name="CasellaDiTesto 30">
            <a:extLst>
              <a:ext uri="{FF2B5EF4-FFF2-40B4-BE49-F238E27FC236}">
                <a16:creationId xmlns:a16="http://schemas.microsoft.com/office/drawing/2014/main" id="{A82DEB9E-C2F6-7D33-FA0D-20950D887929}"/>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32" name="CasellaDiTesto 31">
            <a:extLst>
              <a:ext uri="{FF2B5EF4-FFF2-40B4-BE49-F238E27FC236}">
                <a16:creationId xmlns:a16="http://schemas.microsoft.com/office/drawing/2014/main" id="{20CA1AD1-3A37-D1E5-4BDC-C08F27D048E7}"/>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33" name="CasellaDiTesto 32">
            <a:extLst>
              <a:ext uri="{FF2B5EF4-FFF2-40B4-BE49-F238E27FC236}">
                <a16:creationId xmlns:a16="http://schemas.microsoft.com/office/drawing/2014/main" id="{C0D4B211-7202-850A-D6D0-6800F3503C7D}"/>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34" name="CasellaDiTesto 33">
            <a:extLst>
              <a:ext uri="{FF2B5EF4-FFF2-40B4-BE49-F238E27FC236}">
                <a16:creationId xmlns:a16="http://schemas.microsoft.com/office/drawing/2014/main" id="{97FC4C67-505F-6F0D-24B7-C14655983AEC}"/>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5" name="CasellaDiTesto 34">
            <a:extLst>
              <a:ext uri="{FF2B5EF4-FFF2-40B4-BE49-F238E27FC236}">
                <a16:creationId xmlns:a16="http://schemas.microsoft.com/office/drawing/2014/main" id="{40C959F5-49B9-9D7D-87B6-DEE1C9C22885}"/>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36" name="CasellaDiTesto 35">
            <a:extLst>
              <a:ext uri="{FF2B5EF4-FFF2-40B4-BE49-F238E27FC236}">
                <a16:creationId xmlns:a16="http://schemas.microsoft.com/office/drawing/2014/main" id="{D7314764-1F47-7532-D208-BA8E108E0816}"/>
              </a:ext>
            </a:extLst>
          </p:cNvPr>
          <p:cNvSpPr txBox="1"/>
          <p:nvPr/>
        </p:nvSpPr>
        <p:spPr>
          <a:xfrm>
            <a:off x="4754989" y="3200581"/>
            <a:ext cx="290556"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37" name="CasellaDiTesto 36">
            <a:extLst>
              <a:ext uri="{FF2B5EF4-FFF2-40B4-BE49-F238E27FC236}">
                <a16:creationId xmlns:a16="http://schemas.microsoft.com/office/drawing/2014/main" id="{08645E2E-833B-9F45-A518-2EEDEB426772}"/>
              </a:ext>
            </a:extLst>
          </p:cNvPr>
          <p:cNvSpPr txBox="1"/>
          <p:nvPr/>
        </p:nvSpPr>
        <p:spPr>
          <a:xfrm>
            <a:off x="6619478" y="2604972"/>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38" name="CasellaDiTesto 37">
            <a:extLst>
              <a:ext uri="{FF2B5EF4-FFF2-40B4-BE49-F238E27FC236}">
                <a16:creationId xmlns:a16="http://schemas.microsoft.com/office/drawing/2014/main" id="{91796B9F-69C4-9CF6-ACBB-500E168DD4F9}"/>
              </a:ext>
            </a:extLst>
          </p:cNvPr>
          <p:cNvSpPr txBox="1"/>
          <p:nvPr/>
        </p:nvSpPr>
        <p:spPr>
          <a:xfrm>
            <a:off x="5866860" y="3238255"/>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39" name="CasellaDiTesto 38">
            <a:extLst>
              <a:ext uri="{FF2B5EF4-FFF2-40B4-BE49-F238E27FC236}">
                <a16:creationId xmlns:a16="http://schemas.microsoft.com/office/drawing/2014/main" id="{1D8F2285-729C-B23A-9687-9E3A6FE0FC0C}"/>
              </a:ext>
            </a:extLst>
          </p:cNvPr>
          <p:cNvSpPr txBox="1"/>
          <p:nvPr/>
        </p:nvSpPr>
        <p:spPr>
          <a:xfrm>
            <a:off x="6495088" y="3376755"/>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40" name="CasellaDiTesto 39">
            <a:extLst>
              <a:ext uri="{FF2B5EF4-FFF2-40B4-BE49-F238E27FC236}">
                <a16:creationId xmlns:a16="http://schemas.microsoft.com/office/drawing/2014/main" id="{E7326ED7-D126-871D-30DB-8CEF91616458}"/>
              </a:ext>
            </a:extLst>
          </p:cNvPr>
          <p:cNvSpPr txBox="1"/>
          <p:nvPr/>
        </p:nvSpPr>
        <p:spPr>
          <a:xfrm>
            <a:off x="6792077" y="3550519"/>
            <a:ext cx="290555" cy="276999"/>
          </a:xfrm>
          <a:prstGeom prst="rect">
            <a:avLst/>
          </a:prstGeom>
          <a:noFill/>
        </p:spPr>
        <p:txBody>
          <a:bodyPr wrap="square" rtlCol="0">
            <a:spAutoFit/>
          </a:bodyPr>
          <a:lstStyle/>
          <a:p>
            <a:pPr algn="ctr"/>
            <a:r>
              <a:rPr lang="it-IT" sz="1200" b="1" dirty="0">
                <a:solidFill>
                  <a:schemeClr val="accent6"/>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41" name="CasellaDiTesto 40">
            <a:extLst>
              <a:ext uri="{FF2B5EF4-FFF2-40B4-BE49-F238E27FC236}">
                <a16:creationId xmlns:a16="http://schemas.microsoft.com/office/drawing/2014/main" id="{0E3E77AC-56DF-A69B-5720-562B61FDF488}"/>
              </a:ext>
            </a:extLst>
          </p:cNvPr>
          <p:cNvSpPr txBox="1"/>
          <p:nvPr/>
        </p:nvSpPr>
        <p:spPr>
          <a:xfrm>
            <a:off x="9576646" y="735955"/>
            <a:ext cx="2615354" cy="5386090"/>
          </a:xfrm>
          <a:prstGeom prst="rect">
            <a:avLst/>
          </a:prstGeom>
          <a:noFill/>
        </p:spPr>
        <p:txBody>
          <a:bodyPr wrap="square" rtlCol="0">
            <a:spAutoFit/>
          </a:bodyPr>
          <a:lstStyle/>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(B) 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(F) 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(G) 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(H?) </a:t>
            </a: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moderate salinity, and moderate to high surface productivity. Overall biomass is fairly moderate, with fair to low biomass of the five commercially important species and moderate biomass of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intense, and shipping traffic is high.</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40364248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testo, mappa, diagramma&#10;&#10;Descrizione generata automaticamente">
            <a:extLst>
              <a:ext uri="{FF2B5EF4-FFF2-40B4-BE49-F238E27FC236}">
                <a16:creationId xmlns:a16="http://schemas.microsoft.com/office/drawing/2014/main" id="{D24B2977-0498-C606-33B3-EDC61E25D6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6" name="CasellaDiTesto 5">
            <a:extLst>
              <a:ext uri="{FF2B5EF4-FFF2-40B4-BE49-F238E27FC236}">
                <a16:creationId xmlns:a16="http://schemas.microsoft.com/office/drawing/2014/main" id="{A2EAB924-8023-A0A2-BA1E-7DBFAC214170}"/>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C83BCD3F-03C3-5735-B5D6-C1534CF433E2}"/>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25" name="CasellaDiTesto 24">
            <a:extLst>
              <a:ext uri="{FF2B5EF4-FFF2-40B4-BE49-F238E27FC236}">
                <a16:creationId xmlns:a16="http://schemas.microsoft.com/office/drawing/2014/main" id="{AA299FE3-2E42-59F4-CAA7-596687906824}"/>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26" name="CasellaDiTesto 25">
            <a:extLst>
              <a:ext uri="{FF2B5EF4-FFF2-40B4-BE49-F238E27FC236}">
                <a16:creationId xmlns:a16="http://schemas.microsoft.com/office/drawing/2014/main" id="{1D28A08F-CB30-31DE-FF44-0CF57327044B}"/>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27" name="CasellaDiTesto 26">
            <a:extLst>
              <a:ext uri="{FF2B5EF4-FFF2-40B4-BE49-F238E27FC236}">
                <a16:creationId xmlns:a16="http://schemas.microsoft.com/office/drawing/2014/main" id="{81DA3C1E-FB81-8C3D-0086-0ECD027A70DF}"/>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28" name="CasellaDiTesto 27">
            <a:extLst>
              <a:ext uri="{FF2B5EF4-FFF2-40B4-BE49-F238E27FC236}">
                <a16:creationId xmlns:a16="http://schemas.microsoft.com/office/drawing/2014/main" id="{91011FBD-2E4A-25ED-F28D-C5C228DAC80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29" name="CasellaDiTesto 28">
            <a:extLst>
              <a:ext uri="{FF2B5EF4-FFF2-40B4-BE49-F238E27FC236}">
                <a16:creationId xmlns:a16="http://schemas.microsoft.com/office/drawing/2014/main" id="{6C7C12AA-5D5B-6158-3E78-87A52C669360}"/>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30" name="CasellaDiTesto 29">
            <a:extLst>
              <a:ext uri="{FF2B5EF4-FFF2-40B4-BE49-F238E27FC236}">
                <a16:creationId xmlns:a16="http://schemas.microsoft.com/office/drawing/2014/main" id="{7550694B-B74C-AA92-D0DC-2D2408ACBAEB}"/>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1" name="CasellaDiTesto 30">
            <a:extLst>
              <a:ext uri="{FF2B5EF4-FFF2-40B4-BE49-F238E27FC236}">
                <a16:creationId xmlns:a16="http://schemas.microsoft.com/office/drawing/2014/main" id="{E08E4522-24C5-AFA4-819A-B3C11957542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32" name="CasellaDiTesto 31">
            <a:extLst>
              <a:ext uri="{FF2B5EF4-FFF2-40B4-BE49-F238E27FC236}">
                <a16:creationId xmlns:a16="http://schemas.microsoft.com/office/drawing/2014/main" id="{14512D42-F0B8-C303-950F-91E16ECE2F5F}"/>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33" name="CasellaDiTesto 32">
            <a:extLst>
              <a:ext uri="{FF2B5EF4-FFF2-40B4-BE49-F238E27FC236}">
                <a16:creationId xmlns:a16="http://schemas.microsoft.com/office/drawing/2014/main" id="{65FE23C8-E8D9-0384-A273-B49CDB04DC2F}"/>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34" name="CasellaDiTesto 33">
            <a:extLst>
              <a:ext uri="{FF2B5EF4-FFF2-40B4-BE49-F238E27FC236}">
                <a16:creationId xmlns:a16="http://schemas.microsoft.com/office/drawing/2014/main" id="{49F4A867-7A43-FC57-58C5-033C424FAB5A}"/>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35" name="CasellaDiTesto 34">
            <a:extLst>
              <a:ext uri="{FF2B5EF4-FFF2-40B4-BE49-F238E27FC236}">
                <a16:creationId xmlns:a16="http://schemas.microsoft.com/office/drawing/2014/main" id="{A99C6AAF-41D3-302F-1C33-7654F29FDB06}"/>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36" name="CasellaDiTesto 35">
            <a:extLst>
              <a:ext uri="{FF2B5EF4-FFF2-40B4-BE49-F238E27FC236}">
                <a16:creationId xmlns:a16="http://schemas.microsoft.com/office/drawing/2014/main" id="{3F848D74-1DBB-E6D8-A1FC-26B681751485}"/>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37" name="CasellaDiTesto 36">
            <a:extLst>
              <a:ext uri="{FF2B5EF4-FFF2-40B4-BE49-F238E27FC236}">
                <a16:creationId xmlns:a16="http://schemas.microsoft.com/office/drawing/2014/main" id="{951EA14B-2504-C945-8303-8B4C61FD63C8}"/>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38" name="CasellaDiTesto 37">
            <a:extLst>
              <a:ext uri="{FF2B5EF4-FFF2-40B4-BE49-F238E27FC236}">
                <a16:creationId xmlns:a16="http://schemas.microsoft.com/office/drawing/2014/main" id="{8524CE58-7DE3-9D45-8837-2AA5FA241B5C}"/>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39" name="CasellaDiTesto 38">
            <a:extLst>
              <a:ext uri="{FF2B5EF4-FFF2-40B4-BE49-F238E27FC236}">
                <a16:creationId xmlns:a16="http://schemas.microsoft.com/office/drawing/2014/main" id="{45501010-29D3-7C07-4EF2-40940CC9FA1A}"/>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40" name="CasellaDiTesto 39">
            <a:extLst>
              <a:ext uri="{FF2B5EF4-FFF2-40B4-BE49-F238E27FC236}">
                <a16:creationId xmlns:a16="http://schemas.microsoft.com/office/drawing/2014/main" id="{8911D10E-7725-B386-FC4B-F446D40CC283}"/>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41" name="CasellaDiTesto 40">
            <a:extLst>
              <a:ext uri="{FF2B5EF4-FFF2-40B4-BE49-F238E27FC236}">
                <a16:creationId xmlns:a16="http://schemas.microsoft.com/office/drawing/2014/main" id="{A9C8A8D6-D295-F6CF-66CF-3DBCD2B142F5}"/>
              </a:ext>
            </a:extLst>
          </p:cNvPr>
          <p:cNvSpPr txBox="1"/>
          <p:nvPr/>
        </p:nvSpPr>
        <p:spPr>
          <a:xfrm>
            <a:off x="9576646" y="181958"/>
            <a:ext cx="2615354" cy="6494085"/>
          </a:xfrm>
          <a:prstGeom prst="rect">
            <a:avLst/>
          </a:prstGeom>
          <a:noFill/>
        </p:spPr>
        <p:txBody>
          <a:bodyPr wrap="square" rtlCol="0">
            <a:spAutoFit/>
          </a:bodyPr>
          <a:lstStyle/>
          <a:p>
            <a:pPr marL="228600" indent="-228600" algn="just">
              <a:buFont typeface="+mj-lt"/>
              <a:buAutoNum type="alphaUcPeriod"/>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Shallow, warm areas with moderate bottom oxygen, very high salinity, and very high surface productivity. High biomass across the general biodiversity, including </a:t>
            </a:r>
            <a:r>
              <a:rPr lang="en-US" sz="800" i="1"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to high shipping traffic. Minor anthropogenic influence with minimal presence of wind farms, dumping sites, and military areas. Limited bedrock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(P) 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Biomass is generally very high, while the five commercially important species range from moderate to high. Fair fishing activity and moderate shipping traffic. Moderate to high anthropogenic influence, with dumping sites and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Very deep, very cold areas with extremely low bottom oxygen, low bottom salinity, and quite low surface productivity. Overall biomass is high, biomass of the five commercially important species is moderate, and </a:t>
            </a:r>
            <a:r>
              <a:rPr lang="en-US" sz="800" i="1"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biomass is high. Fishing activity ranges from fair to moderate, and shipping traffic is fair. Minor anthropogenic influence with the presence of wind farms.</a:t>
            </a:r>
          </a:p>
          <a:p>
            <a:pPr marL="228600" indent="-228600" algn="just">
              <a:buFont typeface="+mj-lt"/>
              <a:buAutoNum type="alphaUcPeriod"/>
            </a:pPr>
            <a:endPar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(N) Deep, cold areas with very low bottom oxygen, moderate to high salinity, and low surface productivity. Overall biomass is very high, while biomass of the five commercially important species and </a:t>
            </a:r>
            <a:r>
              <a:rPr lang="en-US" sz="800" i="1"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p:txBody>
      </p:sp>
    </p:spTree>
    <p:extLst>
      <p:ext uri="{BB962C8B-B14F-4D97-AF65-F5344CB8AC3E}">
        <p14:creationId xmlns:p14="http://schemas.microsoft.com/office/powerpoint/2010/main" val="647371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testo, mappa, diagramma&#10;&#10;Descrizione generata automaticamente">
            <a:extLst>
              <a:ext uri="{FF2B5EF4-FFF2-40B4-BE49-F238E27FC236}">
                <a16:creationId xmlns:a16="http://schemas.microsoft.com/office/drawing/2014/main" id="{D24B2977-0498-C606-33B3-EDC61E25D6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6" name="CasellaDiTesto 5">
            <a:extLst>
              <a:ext uri="{FF2B5EF4-FFF2-40B4-BE49-F238E27FC236}">
                <a16:creationId xmlns:a16="http://schemas.microsoft.com/office/drawing/2014/main" id="{A2EAB924-8023-A0A2-BA1E-7DBFAC214170}"/>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C83BCD3F-03C3-5735-B5D6-C1534CF433E2}"/>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9" name="CasellaDiTesto 28">
            <a:extLst>
              <a:ext uri="{FF2B5EF4-FFF2-40B4-BE49-F238E27FC236}">
                <a16:creationId xmlns:a16="http://schemas.microsoft.com/office/drawing/2014/main" id="{505F69A3-9491-C3AC-43B8-3B9FD221918D}"/>
              </a:ext>
            </a:extLst>
          </p:cNvPr>
          <p:cNvSpPr txBox="1"/>
          <p:nvPr/>
        </p:nvSpPr>
        <p:spPr>
          <a:xfrm>
            <a:off x="9576646" y="101007"/>
            <a:ext cx="2615354" cy="3539430"/>
          </a:xfrm>
          <a:prstGeom prst="rect">
            <a:avLst/>
          </a:prstGeom>
          <a:noFill/>
        </p:spPr>
        <p:txBody>
          <a:bodyPr wrap="square" rtlCol="0">
            <a:spAutoFit/>
          </a:bodyPr>
          <a:lstStyle/>
          <a:p>
            <a:pPr marL="228600" indent="-228600" algn="just">
              <a:buFont typeface="+mj-lt"/>
              <a:buAutoNum type="alphaUcPeriod" startAt="6"/>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(Q) Moderately deep to deep, cold areas with moderately low bottom oxygen and fair to high salinity, and moderate to high surface productivity. Overall biomass is high, with high biomass of the five commercially important species and Gadus </a:t>
            </a:r>
            <a:r>
              <a:rPr lang="en-US" sz="800" dirty="0" err="1">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6"/>
            </a:pPr>
            <a:endPar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(R) Deep, cold areas with moderate to high bottom oxygen depletion and fair to moderate salinity, and high surface productivity. Overall biomass is high, with high biomass of the five commercially important species and Gadus </a:t>
            </a:r>
            <a:r>
              <a:rPr lang="en-US" sz="800" dirty="0" err="1">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solidFill>
                  <a:schemeClr val="accent1"/>
                </a:solidFill>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salinity, and high surface productivity. Overall biomass is very high, biomass of the five commercially important species is moderate, and Gadus </a:t>
            </a:r>
            <a:r>
              <a:rPr lang="en-US" sz="800" dirty="0" err="1">
                <a:solidFill>
                  <a:schemeClr val="accent1"/>
                </a:solidFill>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accent1"/>
                </a:solidFill>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 biomass is high. Fishing activity is very intense, and shipping traffic is fair. Strong anthropogenic influence with a marked presence of military areas.</a:t>
            </a:r>
          </a:p>
        </p:txBody>
      </p:sp>
      <p:sp>
        <p:nvSpPr>
          <p:cNvPr id="30" name="CasellaDiTesto 29">
            <a:extLst>
              <a:ext uri="{FF2B5EF4-FFF2-40B4-BE49-F238E27FC236}">
                <a16:creationId xmlns:a16="http://schemas.microsoft.com/office/drawing/2014/main" id="{3692C3F4-9B05-A3FF-A7AB-52BAB90B888C}"/>
              </a:ext>
            </a:extLst>
          </p:cNvPr>
          <p:cNvSpPr txBox="1"/>
          <p:nvPr/>
        </p:nvSpPr>
        <p:spPr>
          <a:xfrm>
            <a:off x="9576646" y="3605173"/>
            <a:ext cx="2615354" cy="338554"/>
          </a:xfrm>
          <a:prstGeom prst="rect">
            <a:avLst/>
          </a:prstGeom>
          <a:noFill/>
        </p:spPr>
        <p:txBody>
          <a:bodyPr wrap="square" rtlCol="0">
            <a:spAutoFit/>
          </a:bodyPr>
          <a:lstStyle/>
          <a:p>
            <a:pPr marL="228600" indent="-228600" algn="just">
              <a:buFont typeface="+mj-lt"/>
              <a:buAutoNum type="alphaUcPeriod" startAt="12"/>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Font typeface="+mj-lt"/>
              <a:buAutoNum type="alphaUcPeriod" startAt="12"/>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1" name="CasellaDiTesto 30">
            <a:extLst>
              <a:ext uri="{FF2B5EF4-FFF2-40B4-BE49-F238E27FC236}">
                <a16:creationId xmlns:a16="http://schemas.microsoft.com/office/drawing/2014/main" id="{D0DFC44C-5593-A510-01A6-2DC5EAD3EB44}"/>
              </a:ext>
            </a:extLst>
          </p:cNvPr>
          <p:cNvSpPr txBox="1"/>
          <p:nvPr/>
        </p:nvSpPr>
        <p:spPr>
          <a:xfrm>
            <a:off x="9576646" y="3958503"/>
            <a:ext cx="2615354" cy="215444"/>
          </a:xfrm>
          <a:prstGeom prst="rect">
            <a:avLst/>
          </a:prstGeom>
          <a:noFill/>
        </p:spPr>
        <p:txBody>
          <a:bodyPr wrap="square" rtlCol="0">
            <a:spAutoFit/>
          </a:bodyPr>
          <a:lstStyle/>
          <a:p>
            <a:pPr marL="228600" indent="-228600" algn="just">
              <a:buSzPct val="100000"/>
              <a:buFont typeface="+mj-lt"/>
              <a:buAutoNum type="alphaUcPeriod" startAt="15"/>
            </a:pPr>
            <a:r>
              <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2" name="CasellaDiTesto 31">
            <a:extLst>
              <a:ext uri="{FF2B5EF4-FFF2-40B4-BE49-F238E27FC236}">
                <a16:creationId xmlns:a16="http://schemas.microsoft.com/office/drawing/2014/main" id="{3E648BFB-68B1-FDD5-B1E2-CEBA8D3C4854}"/>
              </a:ext>
            </a:extLst>
          </p:cNvPr>
          <p:cNvSpPr txBox="1"/>
          <p:nvPr/>
        </p:nvSpPr>
        <p:spPr>
          <a:xfrm>
            <a:off x="9576646" y="4239090"/>
            <a:ext cx="2615354" cy="215444"/>
          </a:xfrm>
          <a:prstGeom prst="rect">
            <a:avLst/>
          </a:prstGeom>
          <a:noFill/>
        </p:spPr>
        <p:txBody>
          <a:bodyPr wrap="square" rtlCol="0">
            <a:spAutoFit/>
          </a:bodyPr>
          <a:lstStyle/>
          <a:p>
            <a:pPr marL="228600" indent="-228600" algn="just">
              <a:buSzPct val="100000"/>
              <a:buFont typeface="+mj-lt"/>
              <a:buAutoNum type="alphaUcPeriod" startAt="19"/>
            </a:pPr>
            <a:r>
              <a:rPr lang="en-US" sz="800" dirty="0">
                <a:solidFill>
                  <a:schemeClr val="accent1"/>
                </a:solidFill>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49" name="CasellaDiTesto 48">
            <a:extLst>
              <a:ext uri="{FF2B5EF4-FFF2-40B4-BE49-F238E27FC236}">
                <a16:creationId xmlns:a16="http://schemas.microsoft.com/office/drawing/2014/main" id="{9F1B657A-2C32-6EAD-6BEE-5225EABB466C}"/>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50" name="CasellaDiTesto 49">
            <a:extLst>
              <a:ext uri="{FF2B5EF4-FFF2-40B4-BE49-F238E27FC236}">
                <a16:creationId xmlns:a16="http://schemas.microsoft.com/office/drawing/2014/main" id="{D069E3EC-2EE0-BF7A-E9AE-3243F161BE86}"/>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51" name="CasellaDiTesto 50">
            <a:extLst>
              <a:ext uri="{FF2B5EF4-FFF2-40B4-BE49-F238E27FC236}">
                <a16:creationId xmlns:a16="http://schemas.microsoft.com/office/drawing/2014/main" id="{7D592480-AD70-A3B5-0B0B-E505D457622F}"/>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52" name="CasellaDiTesto 51">
            <a:extLst>
              <a:ext uri="{FF2B5EF4-FFF2-40B4-BE49-F238E27FC236}">
                <a16:creationId xmlns:a16="http://schemas.microsoft.com/office/drawing/2014/main" id="{3603C7B4-3611-EB03-47B2-FBAEB836F578}"/>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53" name="CasellaDiTesto 52">
            <a:extLst>
              <a:ext uri="{FF2B5EF4-FFF2-40B4-BE49-F238E27FC236}">
                <a16:creationId xmlns:a16="http://schemas.microsoft.com/office/drawing/2014/main" id="{061AA4A3-10E9-CCC7-58F0-2D6406BA18ED}"/>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4" name="CasellaDiTesto 53">
            <a:extLst>
              <a:ext uri="{FF2B5EF4-FFF2-40B4-BE49-F238E27FC236}">
                <a16:creationId xmlns:a16="http://schemas.microsoft.com/office/drawing/2014/main" id="{22417772-060C-85D2-79A8-3FF27695E031}"/>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5" name="CasellaDiTesto 54">
            <a:extLst>
              <a:ext uri="{FF2B5EF4-FFF2-40B4-BE49-F238E27FC236}">
                <a16:creationId xmlns:a16="http://schemas.microsoft.com/office/drawing/2014/main" id="{A4F364BD-9A2A-868B-7803-658E6FFE062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6" name="CasellaDiTesto 55">
            <a:extLst>
              <a:ext uri="{FF2B5EF4-FFF2-40B4-BE49-F238E27FC236}">
                <a16:creationId xmlns:a16="http://schemas.microsoft.com/office/drawing/2014/main" id="{6D64E191-CCB8-858A-66C1-90B2A4DA254A}"/>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7" name="CasellaDiTesto 56">
            <a:extLst>
              <a:ext uri="{FF2B5EF4-FFF2-40B4-BE49-F238E27FC236}">
                <a16:creationId xmlns:a16="http://schemas.microsoft.com/office/drawing/2014/main" id="{F1F6B11C-A8C4-44A1-C97E-93A84BC8D0D5}"/>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8" name="CasellaDiTesto 57">
            <a:extLst>
              <a:ext uri="{FF2B5EF4-FFF2-40B4-BE49-F238E27FC236}">
                <a16:creationId xmlns:a16="http://schemas.microsoft.com/office/drawing/2014/main" id="{368B3F71-C54A-985B-6E74-6CC655DB6EE0}"/>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9" name="CasellaDiTesto 58">
            <a:extLst>
              <a:ext uri="{FF2B5EF4-FFF2-40B4-BE49-F238E27FC236}">
                <a16:creationId xmlns:a16="http://schemas.microsoft.com/office/drawing/2014/main" id="{3CC0CD8C-445B-3F16-4093-038716A57BA7}"/>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60" name="CasellaDiTesto 59">
            <a:extLst>
              <a:ext uri="{FF2B5EF4-FFF2-40B4-BE49-F238E27FC236}">
                <a16:creationId xmlns:a16="http://schemas.microsoft.com/office/drawing/2014/main" id="{60979DB4-AAF7-7CE9-F6D8-245E0AD41502}"/>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61" name="CasellaDiTesto 60">
            <a:extLst>
              <a:ext uri="{FF2B5EF4-FFF2-40B4-BE49-F238E27FC236}">
                <a16:creationId xmlns:a16="http://schemas.microsoft.com/office/drawing/2014/main" id="{8DA657D9-BD20-85B5-F3D6-A6A4FAB605AB}"/>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62" name="CasellaDiTesto 61">
            <a:extLst>
              <a:ext uri="{FF2B5EF4-FFF2-40B4-BE49-F238E27FC236}">
                <a16:creationId xmlns:a16="http://schemas.microsoft.com/office/drawing/2014/main" id="{8C6645DC-BD75-3BF9-04C9-C399ECF64151}"/>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63" name="CasellaDiTesto 62">
            <a:extLst>
              <a:ext uri="{FF2B5EF4-FFF2-40B4-BE49-F238E27FC236}">
                <a16:creationId xmlns:a16="http://schemas.microsoft.com/office/drawing/2014/main" id="{1CDFEF24-F206-82A3-57EB-D5DC3244C459}"/>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4" name="CasellaDiTesto 63">
            <a:extLst>
              <a:ext uri="{FF2B5EF4-FFF2-40B4-BE49-F238E27FC236}">
                <a16:creationId xmlns:a16="http://schemas.microsoft.com/office/drawing/2014/main" id="{33B2B41E-3B78-5E35-6902-0DA4F6D22D22}"/>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Tree>
    <p:extLst>
      <p:ext uri="{BB962C8B-B14F-4D97-AF65-F5344CB8AC3E}">
        <p14:creationId xmlns:p14="http://schemas.microsoft.com/office/powerpoint/2010/main" val="41380612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3" name="CasellaDiTesto 2">
            <a:extLst>
              <a:ext uri="{FF2B5EF4-FFF2-40B4-BE49-F238E27FC236}">
                <a16:creationId xmlns:a16="http://schemas.microsoft.com/office/drawing/2014/main" id="{05A9E515-B4BC-19BB-E3CD-6F0CA75ECB87}"/>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AEB21A37-5A73-BD4F-308C-B4DF8610B2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49" name="CasellaDiTesto 48">
            <a:extLst>
              <a:ext uri="{FF2B5EF4-FFF2-40B4-BE49-F238E27FC236}">
                <a16:creationId xmlns:a16="http://schemas.microsoft.com/office/drawing/2014/main" id="{9A80C8DE-3DC2-7B16-8B67-5FC7C1FB0244}"/>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50" name="CasellaDiTesto 49">
            <a:extLst>
              <a:ext uri="{FF2B5EF4-FFF2-40B4-BE49-F238E27FC236}">
                <a16:creationId xmlns:a16="http://schemas.microsoft.com/office/drawing/2014/main" id="{C5850BD0-123E-3DC6-2319-67B2FE4812DC}"/>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51" name="CasellaDiTesto 50">
            <a:extLst>
              <a:ext uri="{FF2B5EF4-FFF2-40B4-BE49-F238E27FC236}">
                <a16:creationId xmlns:a16="http://schemas.microsoft.com/office/drawing/2014/main" id="{1DE6F16C-F261-9890-6780-9F15C985C0FF}"/>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52" name="CasellaDiTesto 51">
            <a:extLst>
              <a:ext uri="{FF2B5EF4-FFF2-40B4-BE49-F238E27FC236}">
                <a16:creationId xmlns:a16="http://schemas.microsoft.com/office/drawing/2014/main" id="{2B66E463-63F0-6907-F5F8-F939717F5F86}"/>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53" name="CasellaDiTesto 52">
            <a:extLst>
              <a:ext uri="{FF2B5EF4-FFF2-40B4-BE49-F238E27FC236}">
                <a16:creationId xmlns:a16="http://schemas.microsoft.com/office/drawing/2014/main" id="{8FCDA73F-5DEE-B76F-E673-798551B69BA7}"/>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4" name="CasellaDiTesto 53">
            <a:extLst>
              <a:ext uri="{FF2B5EF4-FFF2-40B4-BE49-F238E27FC236}">
                <a16:creationId xmlns:a16="http://schemas.microsoft.com/office/drawing/2014/main" id="{D9796734-BF56-1591-030B-2BBC0B923471}"/>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5" name="CasellaDiTesto 54">
            <a:extLst>
              <a:ext uri="{FF2B5EF4-FFF2-40B4-BE49-F238E27FC236}">
                <a16:creationId xmlns:a16="http://schemas.microsoft.com/office/drawing/2014/main" id="{F77B95CD-9ADE-5E1C-69B0-706D268B6C02}"/>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6" name="CasellaDiTesto 55">
            <a:extLst>
              <a:ext uri="{FF2B5EF4-FFF2-40B4-BE49-F238E27FC236}">
                <a16:creationId xmlns:a16="http://schemas.microsoft.com/office/drawing/2014/main" id="{7244730E-2FA6-BA99-1218-BC57EA5CE180}"/>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7" name="CasellaDiTesto 56">
            <a:extLst>
              <a:ext uri="{FF2B5EF4-FFF2-40B4-BE49-F238E27FC236}">
                <a16:creationId xmlns:a16="http://schemas.microsoft.com/office/drawing/2014/main" id="{B0F2780D-6B81-9330-2B16-A7BF29255670}"/>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8" name="CasellaDiTesto 57">
            <a:extLst>
              <a:ext uri="{FF2B5EF4-FFF2-40B4-BE49-F238E27FC236}">
                <a16:creationId xmlns:a16="http://schemas.microsoft.com/office/drawing/2014/main" id="{09FA1F4D-2BDB-C783-1BF2-B82C87487436}"/>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9" name="CasellaDiTesto 58">
            <a:extLst>
              <a:ext uri="{FF2B5EF4-FFF2-40B4-BE49-F238E27FC236}">
                <a16:creationId xmlns:a16="http://schemas.microsoft.com/office/drawing/2014/main" id="{ACFE1447-5856-5A08-1335-44B93D6FEDE6}"/>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60" name="CasellaDiTesto 59">
            <a:extLst>
              <a:ext uri="{FF2B5EF4-FFF2-40B4-BE49-F238E27FC236}">
                <a16:creationId xmlns:a16="http://schemas.microsoft.com/office/drawing/2014/main" id="{C7E31BAA-04A0-AEA0-FD31-C614B6AB91B7}"/>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61" name="CasellaDiTesto 60">
            <a:extLst>
              <a:ext uri="{FF2B5EF4-FFF2-40B4-BE49-F238E27FC236}">
                <a16:creationId xmlns:a16="http://schemas.microsoft.com/office/drawing/2014/main" id="{E2D209F1-C575-3A2F-E73A-549D618F62E2}"/>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62" name="CasellaDiTesto 61">
            <a:extLst>
              <a:ext uri="{FF2B5EF4-FFF2-40B4-BE49-F238E27FC236}">
                <a16:creationId xmlns:a16="http://schemas.microsoft.com/office/drawing/2014/main" id="{2D6D7815-E5CD-B700-B725-214475D073DE}"/>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63" name="CasellaDiTesto 62">
            <a:extLst>
              <a:ext uri="{FF2B5EF4-FFF2-40B4-BE49-F238E27FC236}">
                <a16:creationId xmlns:a16="http://schemas.microsoft.com/office/drawing/2014/main" id="{B12A3CE1-4040-04DF-DB89-3902EE063358}"/>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4" name="CasellaDiTesto 63">
            <a:extLst>
              <a:ext uri="{FF2B5EF4-FFF2-40B4-BE49-F238E27FC236}">
                <a16:creationId xmlns:a16="http://schemas.microsoft.com/office/drawing/2014/main" id="{0C8D2EA4-425F-DDEB-08DB-9D72F18A6E3F}"/>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 name="CasellaDiTesto 1">
            <a:extLst>
              <a:ext uri="{FF2B5EF4-FFF2-40B4-BE49-F238E27FC236}">
                <a16:creationId xmlns:a16="http://schemas.microsoft.com/office/drawing/2014/main" id="{D13B14F1-2705-868F-B6B1-8C2D495D463B}"/>
              </a:ext>
            </a:extLst>
          </p:cNvPr>
          <p:cNvSpPr txBox="1"/>
          <p:nvPr/>
        </p:nvSpPr>
        <p:spPr>
          <a:xfrm>
            <a:off x="9576646" y="181958"/>
            <a:ext cx="2615354" cy="6494085"/>
          </a:xfrm>
          <a:prstGeom prst="rect">
            <a:avLst/>
          </a:prstGeom>
          <a:noFill/>
        </p:spPr>
        <p:txBody>
          <a:bodyPr wrap="square" rtlCol="0">
            <a:spAutoFit/>
          </a:bodyPr>
          <a:lstStyle/>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warm areas with moderate bottom oxygen, very high salinity, and very high surface productivity. High biomass across the general biodiversity,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to high shipping traffic. Minor anthropogenic influence with minimal presence of wind farms, dumping sites, and military areas. Limited bedrock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(P) 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Biomass is generally very high, while the five commercially important species range from moderate to high. Fair fishing activity and moderate shipping traffic. Moderate to high anthropogenic influence, with dumping sites and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very cold areas with extremely low bottom oxygen, low bottom salinity, and quite low surface productivity. Overall biomass is high, biomass of the five commercially important species is moderate,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ranges from fair to moderate, and shipping traffic is fair. Minor anthropogenic influence with the presence of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(N) Deep, cold areas with very low bottom oxygen, moderate to high salinity, and low surface productivity. Overall biomass is very high, while biomass of the five commercially important species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p:txBody>
      </p:sp>
    </p:spTree>
    <p:extLst>
      <p:ext uri="{BB962C8B-B14F-4D97-AF65-F5344CB8AC3E}">
        <p14:creationId xmlns:p14="http://schemas.microsoft.com/office/powerpoint/2010/main" val="18825034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3" name="CasellaDiTesto 2">
            <a:extLst>
              <a:ext uri="{FF2B5EF4-FFF2-40B4-BE49-F238E27FC236}">
                <a16:creationId xmlns:a16="http://schemas.microsoft.com/office/drawing/2014/main" id="{05A9E515-B4BC-19BB-E3CD-6F0CA75ECB87}"/>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AEB21A37-5A73-BD4F-308C-B4DF8610B2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45" name="CasellaDiTesto 44">
            <a:extLst>
              <a:ext uri="{FF2B5EF4-FFF2-40B4-BE49-F238E27FC236}">
                <a16:creationId xmlns:a16="http://schemas.microsoft.com/office/drawing/2014/main" id="{4B47F889-A9E6-0B08-4FB8-544C2C6840B8}"/>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46" name="CasellaDiTesto 45">
            <a:extLst>
              <a:ext uri="{FF2B5EF4-FFF2-40B4-BE49-F238E27FC236}">
                <a16:creationId xmlns:a16="http://schemas.microsoft.com/office/drawing/2014/main" id="{47777F98-19F3-9641-4256-82BE79712729}"/>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47" name="CasellaDiTesto 46">
            <a:extLst>
              <a:ext uri="{FF2B5EF4-FFF2-40B4-BE49-F238E27FC236}">
                <a16:creationId xmlns:a16="http://schemas.microsoft.com/office/drawing/2014/main" id="{97A7A628-6F03-122A-2E11-CBB5EC85984A}"/>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48" name="CasellaDiTesto 47">
            <a:extLst>
              <a:ext uri="{FF2B5EF4-FFF2-40B4-BE49-F238E27FC236}">
                <a16:creationId xmlns:a16="http://schemas.microsoft.com/office/drawing/2014/main" id="{38C0ACFA-92A5-44E9-878A-6FB9928F9E0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49" name="CasellaDiTesto 48">
            <a:extLst>
              <a:ext uri="{FF2B5EF4-FFF2-40B4-BE49-F238E27FC236}">
                <a16:creationId xmlns:a16="http://schemas.microsoft.com/office/drawing/2014/main" id="{C547F39A-DCBB-3861-7B16-402C68E468E7}"/>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0" name="CasellaDiTesto 49">
            <a:extLst>
              <a:ext uri="{FF2B5EF4-FFF2-40B4-BE49-F238E27FC236}">
                <a16:creationId xmlns:a16="http://schemas.microsoft.com/office/drawing/2014/main" id="{0D7A762A-2D6D-FF66-3BB5-D2DD12CFBBC5}"/>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1" name="CasellaDiTesto 50">
            <a:extLst>
              <a:ext uri="{FF2B5EF4-FFF2-40B4-BE49-F238E27FC236}">
                <a16:creationId xmlns:a16="http://schemas.microsoft.com/office/drawing/2014/main" id="{31F648CE-599F-F34D-F903-FB3A3A6027E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2" name="CasellaDiTesto 51">
            <a:extLst>
              <a:ext uri="{FF2B5EF4-FFF2-40B4-BE49-F238E27FC236}">
                <a16:creationId xmlns:a16="http://schemas.microsoft.com/office/drawing/2014/main" id="{DB9AF6F8-8751-6E29-D48F-4F28810F4E2C}"/>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3" name="CasellaDiTesto 52">
            <a:extLst>
              <a:ext uri="{FF2B5EF4-FFF2-40B4-BE49-F238E27FC236}">
                <a16:creationId xmlns:a16="http://schemas.microsoft.com/office/drawing/2014/main" id="{E076BFD6-0D1C-BA2F-6DAA-57C3962062A1}"/>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4" name="CasellaDiTesto 53">
            <a:extLst>
              <a:ext uri="{FF2B5EF4-FFF2-40B4-BE49-F238E27FC236}">
                <a16:creationId xmlns:a16="http://schemas.microsoft.com/office/drawing/2014/main" id="{7A847F9E-CC8D-02BA-245B-26E3321E0E8E}"/>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5" name="CasellaDiTesto 54">
            <a:extLst>
              <a:ext uri="{FF2B5EF4-FFF2-40B4-BE49-F238E27FC236}">
                <a16:creationId xmlns:a16="http://schemas.microsoft.com/office/drawing/2014/main" id="{C5AE858E-AC3E-19BA-80C9-3F6C066DA032}"/>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56" name="CasellaDiTesto 55">
            <a:extLst>
              <a:ext uri="{FF2B5EF4-FFF2-40B4-BE49-F238E27FC236}">
                <a16:creationId xmlns:a16="http://schemas.microsoft.com/office/drawing/2014/main" id="{F6D815CA-D53C-A5C1-5D4F-96B72C6ACE73}"/>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57" name="CasellaDiTesto 56">
            <a:extLst>
              <a:ext uri="{FF2B5EF4-FFF2-40B4-BE49-F238E27FC236}">
                <a16:creationId xmlns:a16="http://schemas.microsoft.com/office/drawing/2014/main" id="{BE4DCD2F-AAF0-3336-F65D-7DBB51B8572C}"/>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58" name="CasellaDiTesto 57">
            <a:extLst>
              <a:ext uri="{FF2B5EF4-FFF2-40B4-BE49-F238E27FC236}">
                <a16:creationId xmlns:a16="http://schemas.microsoft.com/office/drawing/2014/main" id="{29C1EECA-AB20-7EA3-5BED-81625B98A939}"/>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59" name="CasellaDiTesto 58">
            <a:extLst>
              <a:ext uri="{FF2B5EF4-FFF2-40B4-BE49-F238E27FC236}">
                <a16:creationId xmlns:a16="http://schemas.microsoft.com/office/drawing/2014/main" id="{85AD2F1F-CD7B-B61B-04A0-A69993F7AF90}"/>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0" name="CasellaDiTesto 59">
            <a:extLst>
              <a:ext uri="{FF2B5EF4-FFF2-40B4-BE49-F238E27FC236}">
                <a16:creationId xmlns:a16="http://schemas.microsoft.com/office/drawing/2014/main" id="{EE1D96D0-248A-B913-2A12-F558306B299E}"/>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 name="CasellaDiTesto 1">
            <a:extLst>
              <a:ext uri="{FF2B5EF4-FFF2-40B4-BE49-F238E27FC236}">
                <a16:creationId xmlns:a16="http://schemas.microsoft.com/office/drawing/2014/main" id="{EE17EF64-1688-0906-72D4-28322C2FFDFF}"/>
              </a:ext>
            </a:extLst>
          </p:cNvPr>
          <p:cNvSpPr txBox="1"/>
          <p:nvPr/>
        </p:nvSpPr>
        <p:spPr>
          <a:xfrm>
            <a:off x="9576646" y="331739"/>
            <a:ext cx="2615354" cy="3539430"/>
          </a:xfrm>
          <a:prstGeom prst="rect">
            <a:avLst/>
          </a:prstGeom>
          <a:noFill/>
        </p:spPr>
        <p:txBody>
          <a:bodyPr wrap="square" rtlCol="0">
            <a:spAutoFit/>
          </a:bodyPr>
          <a:lstStyle/>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(Q) 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(R) 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salinity, and high surface productivity. Overall biomass is very high, biomass of the five commercially important species is moderate, and Gadus </a:t>
            </a:r>
            <a:r>
              <a:rPr lang="en-US" sz="800" dirty="0" err="1">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 biomass is high. Fishing activity is very intense, and shipping traffic is fair. Strong anthropogenic influence with a marked presence of military areas.</a:t>
            </a:r>
          </a:p>
        </p:txBody>
      </p:sp>
      <p:sp>
        <p:nvSpPr>
          <p:cNvPr id="4" name="CasellaDiTesto 3">
            <a:extLst>
              <a:ext uri="{FF2B5EF4-FFF2-40B4-BE49-F238E27FC236}">
                <a16:creationId xmlns:a16="http://schemas.microsoft.com/office/drawing/2014/main" id="{A1C67736-9871-EA19-55A5-F961B52F6EE0}"/>
              </a:ext>
            </a:extLst>
          </p:cNvPr>
          <p:cNvSpPr txBox="1"/>
          <p:nvPr/>
        </p:nvSpPr>
        <p:spPr>
          <a:xfrm>
            <a:off x="9576646" y="3826234"/>
            <a:ext cx="2615354" cy="2800767"/>
          </a:xfrm>
          <a:prstGeom prst="rect">
            <a:avLst/>
          </a:prstGeom>
          <a:noFill/>
        </p:spPr>
        <p:txBody>
          <a:bodyPr wrap="square" rtlCol="0">
            <a:spAutoFit/>
          </a:bodyPr>
          <a:lstStyle/>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cool to moderately cold bottom temperatures, low bottom salinity, and fair to moderate surface productivity. High bottom oxygen levels. Very high overall biomass, with high biomass of the five commercially important species. Moderate to high fishing activity and fair to moderate shipping traffic. Strong anthropogenic influence, with a marked presence of military areas. Partly hard-rock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cold bottom temperatures, low salinity, and low to fairly moderate surface productivity. High bottom oxygen levels. Very high overall biomass, low biomass of the five commercially important species, and moderate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ranges from fair to high, and shipping traffic from fair to high. Strong anthropogenic influence with a marked presence of military areas. Presence of hard-bottom seafloor.</a:t>
            </a:r>
          </a:p>
        </p:txBody>
      </p:sp>
    </p:spTree>
    <p:extLst>
      <p:ext uri="{BB962C8B-B14F-4D97-AF65-F5344CB8AC3E}">
        <p14:creationId xmlns:p14="http://schemas.microsoft.com/office/powerpoint/2010/main" val="5628042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3" name="CasellaDiTesto 2">
            <a:extLst>
              <a:ext uri="{FF2B5EF4-FFF2-40B4-BE49-F238E27FC236}">
                <a16:creationId xmlns:a16="http://schemas.microsoft.com/office/drawing/2014/main" id="{05A9E515-B4BC-19BB-E3CD-6F0CA75ECB87}"/>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AEB21A37-5A73-BD4F-308C-B4DF8610B2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45" name="CasellaDiTesto 44">
            <a:extLst>
              <a:ext uri="{FF2B5EF4-FFF2-40B4-BE49-F238E27FC236}">
                <a16:creationId xmlns:a16="http://schemas.microsoft.com/office/drawing/2014/main" id="{4B47F889-A9E6-0B08-4FB8-544C2C6840B8}"/>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46" name="CasellaDiTesto 45">
            <a:extLst>
              <a:ext uri="{FF2B5EF4-FFF2-40B4-BE49-F238E27FC236}">
                <a16:creationId xmlns:a16="http://schemas.microsoft.com/office/drawing/2014/main" id="{47777F98-19F3-9641-4256-82BE79712729}"/>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47" name="CasellaDiTesto 46">
            <a:extLst>
              <a:ext uri="{FF2B5EF4-FFF2-40B4-BE49-F238E27FC236}">
                <a16:creationId xmlns:a16="http://schemas.microsoft.com/office/drawing/2014/main" id="{97A7A628-6F03-122A-2E11-CBB5EC85984A}"/>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48" name="CasellaDiTesto 47">
            <a:extLst>
              <a:ext uri="{FF2B5EF4-FFF2-40B4-BE49-F238E27FC236}">
                <a16:creationId xmlns:a16="http://schemas.microsoft.com/office/drawing/2014/main" id="{38C0ACFA-92A5-44E9-878A-6FB9928F9E0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49" name="CasellaDiTesto 48">
            <a:extLst>
              <a:ext uri="{FF2B5EF4-FFF2-40B4-BE49-F238E27FC236}">
                <a16:creationId xmlns:a16="http://schemas.microsoft.com/office/drawing/2014/main" id="{C547F39A-DCBB-3861-7B16-402C68E468E7}"/>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0" name="CasellaDiTesto 49">
            <a:extLst>
              <a:ext uri="{FF2B5EF4-FFF2-40B4-BE49-F238E27FC236}">
                <a16:creationId xmlns:a16="http://schemas.microsoft.com/office/drawing/2014/main" id="{0D7A762A-2D6D-FF66-3BB5-D2DD12CFBBC5}"/>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1" name="CasellaDiTesto 50">
            <a:extLst>
              <a:ext uri="{FF2B5EF4-FFF2-40B4-BE49-F238E27FC236}">
                <a16:creationId xmlns:a16="http://schemas.microsoft.com/office/drawing/2014/main" id="{31F648CE-599F-F34D-F903-FB3A3A6027E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2" name="CasellaDiTesto 51">
            <a:extLst>
              <a:ext uri="{FF2B5EF4-FFF2-40B4-BE49-F238E27FC236}">
                <a16:creationId xmlns:a16="http://schemas.microsoft.com/office/drawing/2014/main" id="{DB9AF6F8-8751-6E29-D48F-4F28810F4E2C}"/>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3" name="CasellaDiTesto 52">
            <a:extLst>
              <a:ext uri="{FF2B5EF4-FFF2-40B4-BE49-F238E27FC236}">
                <a16:creationId xmlns:a16="http://schemas.microsoft.com/office/drawing/2014/main" id="{E076BFD6-0D1C-BA2F-6DAA-57C3962062A1}"/>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4" name="CasellaDiTesto 53">
            <a:extLst>
              <a:ext uri="{FF2B5EF4-FFF2-40B4-BE49-F238E27FC236}">
                <a16:creationId xmlns:a16="http://schemas.microsoft.com/office/drawing/2014/main" id="{7A847F9E-CC8D-02BA-245B-26E3321E0E8E}"/>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5" name="CasellaDiTesto 54">
            <a:extLst>
              <a:ext uri="{FF2B5EF4-FFF2-40B4-BE49-F238E27FC236}">
                <a16:creationId xmlns:a16="http://schemas.microsoft.com/office/drawing/2014/main" id="{C5AE858E-AC3E-19BA-80C9-3F6C066DA032}"/>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56" name="CasellaDiTesto 55">
            <a:extLst>
              <a:ext uri="{FF2B5EF4-FFF2-40B4-BE49-F238E27FC236}">
                <a16:creationId xmlns:a16="http://schemas.microsoft.com/office/drawing/2014/main" id="{F6D815CA-D53C-A5C1-5D4F-96B72C6ACE73}"/>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57" name="CasellaDiTesto 56">
            <a:extLst>
              <a:ext uri="{FF2B5EF4-FFF2-40B4-BE49-F238E27FC236}">
                <a16:creationId xmlns:a16="http://schemas.microsoft.com/office/drawing/2014/main" id="{BE4DCD2F-AAF0-3336-F65D-7DBB51B8572C}"/>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58" name="CasellaDiTesto 57">
            <a:extLst>
              <a:ext uri="{FF2B5EF4-FFF2-40B4-BE49-F238E27FC236}">
                <a16:creationId xmlns:a16="http://schemas.microsoft.com/office/drawing/2014/main" id="{29C1EECA-AB20-7EA3-5BED-81625B98A939}"/>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59" name="CasellaDiTesto 58">
            <a:extLst>
              <a:ext uri="{FF2B5EF4-FFF2-40B4-BE49-F238E27FC236}">
                <a16:creationId xmlns:a16="http://schemas.microsoft.com/office/drawing/2014/main" id="{85AD2F1F-CD7B-B61B-04A0-A69993F7AF90}"/>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0" name="CasellaDiTesto 59">
            <a:extLst>
              <a:ext uri="{FF2B5EF4-FFF2-40B4-BE49-F238E27FC236}">
                <a16:creationId xmlns:a16="http://schemas.microsoft.com/office/drawing/2014/main" id="{EE1D96D0-248A-B913-2A12-F558306B299E}"/>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 name="CasellaDiTesto 1">
            <a:extLst>
              <a:ext uri="{FF2B5EF4-FFF2-40B4-BE49-F238E27FC236}">
                <a16:creationId xmlns:a16="http://schemas.microsoft.com/office/drawing/2014/main" id="{8E5F5311-1B18-2C76-A848-42B5B70C66F6}"/>
              </a:ext>
            </a:extLst>
          </p:cNvPr>
          <p:cNvSpPr txBox="1"/>
          <p:nvPr/>
        </p:nvSpPr>
        <p:spPr>
          <a:xfrm>
            <a:off x="9576646" y="2280489"/>
            <a:ext cx="2615354" cy="1446550"/>
          </a:xfrm>
          <a:prstGeom prst="rect">
            <a:avLst/>
          </a:prstGeom>
          <a:noFill/>
        </p:spPr>
        <p:txBody>
          <a:bodyPr wrap="square" rtlCol="0">
            <a:spAutoFit/>
          </a:bodyPr>
          <a:lstStyle/>
          <a:p>
            <a:pPr marL="228600" indent="-228600" algn="just">
              <a:buSzPct val="100000"/>
              <a:buFont typeface="+mj-lt"/>
              <a:buAutoNum type="alphaUcPeriod" startAt="15"/>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areas with moderately cold temperatures, moderate to high surface productivity, low salinity, and very high bottom oxygen levels. Overall biomass ranges from moderate to high, with moderate biomass of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low, while shipping traffic is very intense. Strong anthropogenic influence with a marked presence of military areas. Partly hard-bottom seafloor.</a:t>
            </a:r>
          </a:p>
          <a:p>
            <a:pPr marL="228600" indent="-228600" algn="just">
              <a:buSzPct val="100000"/>
              <a:buFont typeface="+mj-lt"/>
              <a:buAutoNum type="alphaUcPeriod" startAt="15"/>
            </a:pPr>
            <a:endPar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4" name="CasellaDiTesto 3">
            <a:extLst>
              <a:ext uri="{FF2B5EF4-FFF2-40B4-BE49-F238E27FC236}">
                <a16:creationId xmlns:a16="http://schemas.microsoft.com/office/drawing/2014/main" id="{74E6A9D0-9BAB-2C08-4EB6-4EEC3AC129AE}"/>
              </a:ext>
            </a:extLst>
          </p:cNvPr>
          <p:cNvSpPr txBox="1"/>
          <p:nvPr/>
        </p:nvSpPr>
        <p:spPr>
          <a:xfrm>
            <a:off x="9576646" y="3570636"/>
            <a:ext cx="2615354" cy="1077218"/>
          </a:xfrm>
          <a:prstGeom prst="rect">
            <a:avLst/>
          </a:prstGeom>
          <a:noFill/>
        </p:spPr>
        <p:txBody>
          <a:bodyPr wrap="square" rtlCol="0">
            <a:spAutoFit/>
          </a:bodyPr>
          <a:lstStyle/>
          <a:p>
            <a:pPr marL="228600" indent="-228600" algn="just">
              <a:buSzPct val="100000"/>
              <a:buFont typeface="+mj-lt"/>
              <a:buAutoNum type="alphaUcPeriod" startAt="19"/>
            </a:pPr>
            <a:r>
              <a:rPr lang="en-US" sz="800" dirty="0">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(H?) </a:t>
            </a: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moderate salinity, and moderate to high surface productivity. Overall biomass is fairly moderate, with fair to low biomass of the five commercially important species and moderate biomass of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intense, and shipping traffic is high.</a:t>
            </a:r>
          </a:p>
          <a:p>
            <a:pPr marL="228600" indent="-228600" algn="just">
              <a:buSzPct val="100000"/>
              <a:buFont typeface="+mj-lt"/>
              <a:buAutoNum type="alphaUcPeriod" startAt="19"/>
            </a:pPr>
            <a:endParaRPr lang="en-US" sz="800" dirty="0">
              <a:solidFill>
                <a:schemeClr val="accent1"/>
              </a:solidFill>
              <a:highlight>
                <a:srgbClr val="FFFF00"/>
              </a:highlight>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3369345684"/>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1517</TotalTime>
  <Words>6152</Words>
  <Application>Microsoft Office PowerPoint</Application>
  <PresentationFormat>Widescreen</PresentationFormat>
  <Paragraphs>510</Paragraphs>
  <Slides>25</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25</vt:i4>
      </vt:variant>
    </vt:vector>
  </HeadingPairs>
  <TitlesOfParts>
    <vt:vector size="30" baseType="lpstr">
      <vt:lpstr>Aptos</vt:lpstr>
      <vt:lpstr>Aptos Display</vt:lpstr>
      <vt:lpstr>Arial</vt:lpstr>
      <vt:lpstr>MS Shell Dlg 2</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Laura Pavirani</dc:creator>
  <cp:lastModifiedBy>Laura Pavirani</cp:lastModifiedBy>
  <cp:revision>56</cp:revision>
  <cp:lastPrinted>2025-12-12T09:13:38Z</cp:lastPrinted>
  <dcterms:created xsi:type="dcterms:W3CDTF">2025-12-10T09:17:21Z</dcterms:created>
  <dcterms:modified xsi:type="dcterms:W3CDTF">2025-12-17T08:13:52Z</dcterms:modified>
</cp:coreProperties>
</file>