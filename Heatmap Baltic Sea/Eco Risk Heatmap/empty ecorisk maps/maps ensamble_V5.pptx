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4" r:id="rId5"/>
    <p:sldId id="266" r:id="rId6"/>
    <p:sldId id="268" r:id="rId7"/>
    <p:sldId id="270" r:id="rId8"/>
    <p:sldId id="276" r:id="rId9"/>
    <p:sldId id="272" r:id="rId10"/>
    <p:sldId id="278" r:id="rId11"/>
    <p:sldId id="274" r:id="rId12"/>
    <p:sldId id="279" r:id="rId13"/>
    <p:sldId id="281" r:id="rId14"/>
    <p:sldId id="282" r:id="rId15"/>
  </p:sldIdLst>
  <p:sldSz cx="12192000" cy="6858000"/>
  <p:notesSz cx="6735763" cy="9866313"/>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km - all spp" id="{A805E225-AFCB-41F4-A93F-3547F6EC7C98}">
          <p14:sldIdLst>
            <p14:sldId id="260"/>
          </p14:sldIdLst>
        </p14:section>
        <p14:section name="mkm - five spp" id="{1C7B0101-1060-4B33-913A-3F9859A7BEEF}">
          <p14:sldIdLst>
            <p14:sldId id="261"/>
          </p14:sldIdLst>
        </p14:section>
        <p14:section name="mkm - gadus morhua" id="{BA4EB1F9-6F98-45B7-A895-24E26D34C2F4}">
          <p14:sldIdLst>
            <p14:sldId id="262"/>
          </p14:sldIdLst>
        </p14:section>
        <p14:section name="vae - all spp" id="{8F148BFE-7AEE-4126-AEA0-C8072BE307A7}">
          <p14:sldIdLst>
            <p14:sldId id="264"/>
          </p14:sldIdLst>
        </p14:section>
        <p14:section name="vae - five spp" id="{4F13373D-6E6A-42A3-B29F-E1B6BDBCFFAA}">
          <p14:sldIdLst>
            <p14:sldId id="266"/>
          </p14:sldIdLst>
        </p14:section>
        <p14:section name="vae - gadus morhua" id="{3962C957-CEA9-4734-88F2-4E7248CD5DDD}">
          <p14:sldIdLst>
            <p14:sldId id="268"/>
          </p14:sldIdLst>
        </p14:section>
        <p14:section name="mkm - ensamble" id="{9ED4AFFB-662D-4003-AD23-FD99C1B60F6B}">
          <p14:sldIdLst>
            <p14:sldId id="270"/>
            <p14:sldId id="276"/>
          </p14:sldIdLst>
        </p14:section>
        <p14:section name="vae - ensamble" id="{1B3F18D0-6634-444B-9379-EA1D8A76E847}">
          <p14:sldIdLst>
            <p14:sldId id="272"/>
            <p14:sldId id="278"/>
          </p14:sldIdLst>
        </p14:section>
        <p14:section name="mkm + vae" id="{D7789E8E-696D-4013-9505-A8637F0CD33D}">
          <p14:sldIdLst>
            <p14:sldId id="274"/>
            <p14:sldId id="279"/>
            <p14:sldId id="281"/>
          </p14:sldIdLst>
        </p14:section>
        <p14:section name="ENSAMBLE" id="{CC4A3A1A-DB0C-4802-AED9-4F580F8E532F}">
          <p14:sldIdLst>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400"/>
    <a:srgbClr val="FFFF00"/>
    <a:srgbClr val="FF0000"/>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46" autoAdjust="0"/>
    <p:restoredTop sz="94660"/>
  </p:normalViewPr>
  <p:slideViewPr>
    <p:cSldViewPr snapToGrid="0" showGuides="1">
      <p:cViewPr varScale="1">
        <p:scale>
          <a:sx n="67" d="100"/>
          <a:sy n="67" d="100"/>
        </p:scale>
        <p:origin x="651" y="5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6BBE0A0-CBF8-A0EF-66AB-8F89817A127C}"/>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33F7040D-11A4-CF1D-1272-84DEAD34FA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FFBDB4F6-4B81-794F-22B5-CD4866E68B8E}"/>
              </a:ext>
            </a:extLst>
          </p:cNvPr>
          <p:cNvSpPr>
            <a:spLocks noGrp="1"/>
          </p:cNvSpPr>
          <p:nvPr>
            <p:ph type="dt" sz="half" idx="10"/>
          </p:nvPr>
        </p:nvSpPr>
        <p:spPr/>
        <p:txBody>
          <a:bodyPr/>
          <a:lstStyle/>
          <a:p>
            <a:fld id="{8FD2010B-0304-4359-A36D-7ABB3F867AC8}" type="datetimeFigureOut">
              <a:rPr lang="it-IT" smtClean="0"/>
              <a:t>18/12/2025</a:t>
            </a:fld>
            <a:endParaRPr lang="it-IT"/>
          </a:p>
        </p:txBody>
      </p:sp>
      <p:sp>
        <p:nvSpPr>
          <p:cNvPr id="5" name="Segnaposto piè di pagina 4">
            <a:extLst>
              <a:ext uri="{FF2B5EF4-FFF2-40B4-BE49-F238E27FC236}">
                <a16:creationId xmlns:a16="http://schemas.microsoft.com/office/drawing/2014/main" id="{C9427516-1345-33C4-E15E-2299256B318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94DDD7A-F440-879C-102E-DB95AB317D07}"/>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3230497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A818FA-C53D-C5AE-6199-26C5AA2E216D}"/>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140B71BD-9098-04F8-D81D-BEBE134F9D46}"/>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A05D9CD-BF74-F0E4-4AAE-9F430399EAB6}"/>
              </a:ext>
            </a:extLst>
          </p:cNvPr>
          <p:cNvSpPr>
            <a:spLocks noGrp="1"/>
          </p:cNvSpPr>
          <p:nvPr>
            <p:ph type="dt" sz="half" idx="10"/>
          </p:nvPr>
        </p:nvSpPr>
        <p:spPr/>
        <p:txBody>
          <a:bodyPr/>
          <a:lstStyle/>
          <a:p>
            <a:fld id="{8FD2010B-0304-4359-A36D-7ABB3F867AC8}" type="datetimeFigureOut">
              <a:rPr lang="it-IT" smtClean="0"/>
              <a:t>18/12/2025</a:t>
            </a:fld>
            <a:endParaRPr lang="it-IT"/>
          </a:p>
        </p:txBody>
      </p:sp>
      <p:sp>
        <p:nvSpPr>
          <p:cNvPr id="5" name="Segnaposto piè di pagina 4">
            <a:extLst>
              <a:ext uri="{FF2B5EF4-FFF2-40B4-BE49-F238E27FC236}">
                <a16:creationId xmlns:a16="http://schemas.microsoft.com/office/drawing/2014/main" id="{31C888C0-7D7E-D22E-B2C0-7DE2F644E33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344CB40-9140-63AB-2615-8CA794AF999E}"/>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4162935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4382034-B89E-9573-3B68-81FC7437158A}"/>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30B0CA49-16B5-1608-E94D-C569AE4D5B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948EA4C0-8501-38B3-5469-B035799BA4F8}"/>
              </a:ext>
            </a:extLst>
          </p:cNvPr>
          <p:cNvSpPr>
            <a:spLocks noGrp="1"/>
          </p:cNvSpPr>
          <p:nvPr>
            <p:ph type="dt" sz="half" idx="10"/>
          </p:nvPr>
        </p:nvSpPr>
        <p:spPr/>
        <p:txBody>
          <a:bodyPr/>
          <a:lstStyle/>
          <a:p>
            <a:fld id="{8FD2010B-0304-4359-A36D-7ABB3F867AC8}" type="datetimeFigureOut">
              <a:rPr lang="it-IT" smtClean="0"/>
              <a:t>18/12/2025</a:t>
            </a:fld>
            <a:endParaRPr lang="it-IT"/>
          </a:p>
        </p:txBody>
      </p:sp>
      <p:sp>
        <p:nvSpPr>
          <p:cNvPr id="5" name="Segnaposto piè di pagina 4">
            <a:extLst>
              <a:ext uri="{FF2B5EF4-FFF2-40B4-BE49-F238E27FC236}">
                <a16:creationId xmlns:a16="http://schemas.microsoft.com/office/drawing/2014/main" id="{B091514B-FFFC-EAA7-C38D-031B4130ED8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621FAB4-3F99-C15F-0CEE-C7D491815594}"/>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606957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DC9BDA0-5EF4-EA9A-E147-DCAABB098BC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A02E991-1B5E-CB07-F1B0-0150F84B53DB}"/>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6F7B740E-F8E7-3AEB-2DD9-32F1EE3454C0}"/>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0909FF4-C43F-76FA-742E-2B9E28927F65}"/>
              </a:ext>
            </a:extLst>
          </p:cNvPr>
          <p:cNvSpPr>
            <a:spLocks noGrp="1"/>
          </p:cNvSpPr>
          <p:nvPr>
            <p:ph type="dt" sz="half" idx="10"/>
          </p:nvPr>
        </p:nvSpPr>
        <p:spPr/>
        <p:txBody>
          <a:bodyPr/>
          <a:lstStyle/>
          <a:p>
            <a:fld id="{8FD2010B-0304-4359-A36D-7ABB3F867AC8}" type="datetimeFigureOut">
              <a:rPr lang="it-IT" smtClean="0"/>
              <a:t>18/12/2025</a:t>
            </a:fld>
            <a:endParaRPr lang="it-IT"/>
          </a:p>
        </p:txBody>
      </p:sp>
      <p:sp>
        <p:nvSpPr>
          <p:cNvPr id="6" name="Segnaposto piè di pagina 5">
            <a:extLst>
              <a:ext uri="{FF2B5EF4-FFF2-40B4-BE49-F238E27FC236}">
                <a16:creationId xmlns:a16="http://schemas.microsoft.com/office/drawing/2014/main" id="{727AC408-A3B5-20F4-815D-585BAAE0DCE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D447E2D-0290-0DC9-4EB8-BE766BD8465C}"/>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3462317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0400B7-74AE-CFF3-4A2D-CDB42C5BD265}"/>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CA461D9-FED0-5BB7-A8DB-5A80C84D94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E7F8C463-1EC1-DEAB-4BF9-659C97B08437}"/>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4AA83D10-5E45-B387-55C2-9DBBE08E8D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D7C50233-38BE-B1CD-892D-CFD0B9BE542D}"/>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6F5F16F4-8F11-8C73-49F2-4E011C375F4C}"/>
              </a:ext>
            </a:extLst>
          </p:cNvPr>
          <p:cNvSpPr>
            <a:spLocks noGrp="1"/>
          </p:cNvSpPr>
          <p:nvPr>
            <p:ph type="dt" sz="half" idx="10"/>
          </p:nvPr>
        </p:nvSpPr>
        <p:spPr/>
        <p:txBody>
          <a:bodyPr/>
          <a:lstStyle/>
          <a:p>
            <a:fld id="{8FD2010B-0304-4359-A36D-7ABB3F867AC8}" type="datetimeFigureOut">
              <a:rPr lang="it-IT" smtClean="0"/>
              <a:t>18/12/2025</a:t>
            </a:fld>
            <a:endParaRPr lang="it-IT"/>
          </a:p>
        </p:txBody>
      </p:sp>
      <p:sp>
        <p:nvSpPr>
          <p:cNvPr id="8" name="Segnaposto piè di pagina 7">
            <a:extLst>
              <a:ext uri="{FF2B5EF4-FFF2-40B4-BE49-F238E27FC236}">
                <a16:creationId xmlns:a16="http://schemas.microsoft.com/office/drawing/2014/main" id="{4F7372DB-AA40-AC65-5B1F-3C89A809D561}"/>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FE492B74-C8F6-60CA-FDC7-EB18DCE85F5E}"/>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1822114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73C598-C749-B71B-97E5-83340FDCB3D1}"/>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993A9799-37B1-C52D-1845-CC4996003684}"/>
              </a:ext>
            </a:extLst>
          </p:cNvPr>
          <p:cNvSpPr>
            <a:spLocks noGrp="1"/>
          </p:cNvSpPr>
          <p:nvPr>
            <p:ph type="dt" sz="half" idx="10"/>
          </p:nvPr>
        </p:nvSpPr>
        <p:spPr/>
        <p:txBody>
          <a:bodyPr/>
          <a:lstStyle/>
          <a:p>
            <a:fld id="{8FD2010B-0304-4359-A36D-7ABB3F867AC8}" type="datetimeFigureOut">
              <a:rPr lang="it-IT" smtClean="0"/>
              <a:t>18/12/2025</a:t>
            </a:fld>
            <a:endParaRPr lang="it-IT"/>
          </a:p>
        </p:txBody>
      </p:sp>
      <p:sp>
        <p:nvSpPr>
          <p:cNvPr id="4" name="Segnaposto piè di pagina 3">
            <a:extLst>
              <a:ext uri="{FF2B5EF4-FFF2-40B4-BE49-F238E27FC236}">
                <a16:creationId xmlns:a16="http://schemas.microsoft.com/office/drawing/2014/main" id="{56836BD7-9F6A-D174-748B-07C939B47211}"/>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6088E0A9-C532-A01C-F682-24B9AAD0CC1A}"/>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1003988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4C243262-14B8-B36C-1692-24880F80C039}"/>
              </a:ext>
            </a:extLst>
          </p:cNvPr>
          <p:cNvSpPr>
            <a:spLocks noGrp="1"/>
          </p:cNvSpPr>
          <p:nvPr>
            <p:ph type="dt" sz="half" idx="10"/>
          </p:nvPr>
        </p:nvSpPr>
        <p:spPr/>
        <p:txBody>
          <a:bodyPr/>
          <a:lstStyle/>
          <a:p>
            <a:fld id="{8FD2010B-0304-4359-A36D-7ABB3F867AC8}" type="datetimeFigureOut">
              <a:rPr lang="it-IT" smtClean="0"/>
              <a:t>18/12/2025</a:t>
            </a:fld>
            <a:endParaRPr lang="it-IT"/>
          </a:p>
        </p:txBody>
      </p:sp>
      <p:sp>
        <p:nvSpPr>
          <p:cNvPr id="3" name="Segnaposto piè di pagina 2">
            <a:extLst>
              <a:ext uri="{FF2B5EF4-FFF2-40B4-BE49-F238E27FC236}">
                <a16:creationId xmlns:a16="http://schemas.microsoft.com/office/drawing/2014/main" id="{93A8752F-C94B-2E82-DF15-31433EEF754A}"/>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5DB2BB79-9A68-76E9-63C9-26FB93787267}"/>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863480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9FF27C-4CB6-C5AD-FF2B-1989FF37085F}"/>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12E4E98-1C0B-DB46-E2A7-D6A4B276DE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111FF215-5A83-7627-335E-5C78579DC8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C7D04CF5-52F0-E6E8-E7BD-4F9391BC215C}"/>
              </a:ext>
            </a:extLst>
          </p:cNvPr>
          <p:cNvSpPr>
            <a:spLocks noGrp="1"/>
          </p:cNvSpPr>
          <p:nvPr>
            <p:ph type="dt" sz="half" idx="10"/>
          </p:nvPr>
        </p:nvSpPr>
        <p:spPr/>
        <p:txBody>
          <a:bodyPr/>
          <a:lstStyle/>
          <a:p>
            <a:fld id="{8FD2010B-0304-4359-A36D-7ABB3F867AC8}" type="datetimeFigureOut">
              <a:rPr lang="it-IT" smtClean="0"/>
              <a:t>18/12/2025</a:t>
            </a:fld>
            <a:endParaRPr lang="it-IT"/>
          </a:p>
        </p:txBody>
      </p:sp>
      <p:sp>
        <p:nvSpPr>
          <p:cNvPr id="6" name="Segnaposto piè di pagina 5">
            <a:extLst>
              <a:ext uri="{FF2B5EF4-FFF2-40B4-BE49-F238E27FC236}">
                <a16:creationId xmlns:a16="http://schemas.microsoft.com/office/drawing/2014/main" id="{B87EFF67-96C9-9EF1-7FB4-28FD53F57E6D}"/>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9C4DF7E-E2D4-9451-9970-777102C53F62}"/>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828263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E9D771-2F9B-FA04-1B37-34FF27D745C0}"/>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FB0C827E-9BE8-2E98-F5B2-E1323A23F6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5796002-26C1-672C-8C0E-DA26A7D7E5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DDF69D20-0F19-7919-1F86-4ED89DFFB250}"/>
              </a:ext>
            </a:extLst>
          </p:cNvPr>
          <p:cNvSpPr>
            <a:spLocks noGrp="1"/>
          </p:cNvSpPr>
          <p:nvPr>
            <p:ph type="dt" sz="half" idx="10"/>
          </p:nvPr>
        </p:nvSpPr>
        <p:spPr/>
        <p:txBody>
          <a:bodyPr/>
          <a:lstStyle/>
          <a:p>
            <a:fld id="{8FD2010B-0304-4359-A36D-7ABB3F867AC8}" type="datetimeFigureOut">
              <a:rPr lang="it-IT" smtClean="0"/>
              <a:t>18/12/2025</a:t>
            </a:fld>
            <a:endParaRPr lang="it-IT"/>
          </a:p>
        </p:txBody>
      </p:sp>
      <p:sp>
        <p:nvSpPr>
          <p:cNvPr id="6" name="Segnaposto piè di pagina 5">
            <a:extLst>
              <a:ext uri="{FF2B5EF4-FFF2-40B4-BE49-F238E27FC236}">
                <a16:creationId xmlns:a16="http://schemas.microsoft.com/office/drawing/2014/main" id="{E352CF88-6B0C-81BE-5D8D-8FF2E8E526ED}"/>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E24CF7D-0491-9667-C368-C38AD9D45F7F}"/>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1190645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2F5F81F-7189-97E5-5462-0A9085636380}"/>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1A5D2A5E-0F27-F010-17B3-9FA09A4AAFF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2CA576B-3A62-85B0-5A3B-B06B0DB7ABFC}"/>
              </a:ext>
            </a:extLst>
          </p:cNvPr>
          <p:cNvSpPr>
            <a:spLocks noGrp="1"/>
          </p:cNvSpPr>
          <p:nvPr>
            <p:ph type="dt" sz="half" idx="10"/>
          </p:nvPr>
        </p:nvSpPr>
        <p:spPr/>
        <p:txBody>
          <a:bodyPr/>
          <a:lstStyle/>
          <a:p>
            <a:fld id="{8FD2010B-0304-4359-A36D-7ABB3F867AC8}" type="datetimeFigureOut">
              <a:rPr lang="it-IT" smtClean="0"/>
              <a:t>18/12/2025</a:t>
            </a:fld>
            <a:endParaRPr lang="it-IT"/>
          </a:p>
        </p:txBody>
      </p:sp>
      <p:sp>
        <p:nvSpPr>
          <p:cNvPr id="5" name="Segnaposto piè di pagina 4">
            <a:extLst>
              <a:ext uri="{FF2B5EF4-FFF2-40B4-BE49-F238E27FC236}">
                <a16:creationId xmlns:a16="http://schemas.microsoft.com/office/drawing/2014/main" id="{3B77D120-63AB-ECD1-4620-D6D01D118F8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2B85CE9-4AAF-D723-1872-B5936019B05B}"/>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758917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C2EF1D34-BE4C-D40B-633A-CE1081D1C3C9}"/>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2EB05C5-F410-3AB6-9833-CEDCCF15A7BD}"/>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B66FC0-C212-4EF8-C72D-B0DD2C506D10}"/>
              </a:ext>
            </a:extLst>
          </p:cNvPr>
          <p:cNvSpPr>
            <a:spLocks noGrp="1"/>
          </p:cNvSpPr>
          <p:nvPr>
            <p:ph type="dt" sz="half" idx="10"/>
          </p:nvPr>
        </p:nvSpPr>
        <p:spPr/>
        <p:txBody>
          <a:bodyPr/>
          <a:lstStyle/>
          <a:p>
            <a:fld id="{8FD2010B-0304-4359-A36D-7ABB3F867AC8}" type="datetimeFigureOut">
              <a:rPr lang="it-IT" smtClean="0"/>
              <a:t>18/12/2025</a:t>
            </a:fld>
            <a:endParaRPr lang="it-IT"/>
          </a:p>
        </p:txBody>
      </p:sp>
      <p:sp>
        <p:nvSpPr>
          <p:cNvPr id="5" name="Segnaposto piè di pagina 4">
            <a:extLst>
              <a:ext uri="{FF2B5EF4-FFF2-40B4-BE49-F238E27FC236}">
                <a16:creationId xmlns:a16="http://schemas.microsoft.com/office/drawing/2014/main" id="{CBBD3EDA-4080-57C3-7844-35C438F5853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BF9DF2A-1C54-987C-D14B-02DBA9E7C353}"/>
              </a:ext>
            </a:extLst>
          </p:cNvPr>
          <p:cNvSpPr>
            <a:spLocks noGrp="1"/>
          </p:cNvSpPr>
          <p:nvPr>
            <p:ph type="sldNum" sz="quarter" idx="12"/>
          </p:nvPr>
        </p:nvSpPr>
        <p:spPr/>
        <p:txBody>
          <a:bodyPr/>
          <a:lstStyle/>
          <a:p>
            <a:fld id="{371EA57E-E379-4B46-AB2C-561019FDBF6D}" type="slidenum">
              <a:rPr lang="it-IT" smtClean="0"/>
              <a:t>‹N›</a:t>
            </a:fld>
            <a:endParaRPr lang="it-IT"/>
          </a:p>
        </p:txBody>
      </p:sp>
    </p:spTree>
    <p:extLst>
      <p:ext uri="{BB962C8B-B14F-4D97-AF65-F5344CB8AC3E}">
        <p14:creationId xmlns:p14="http://schemas.microsoft.com/office/powerpoint/2010/main" val="2397838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38C893F-6660-6807-1189-CD19430D12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6E02A44D-32F0-7545-D7F9-8CDFE20EBB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517CE55-1C6F-8D1B-EAAE-F57BE00D8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D2010B-0304-4359-A36D-7ABB3F867AC8}" type="datetimeFigureOut">
              <a:rPr lang="it-IT" smtClean="0"/>
              <a:t>18/12/2025</a:t>
            </a:fld>
            <a:endParaRPr lang="it-IT"/>
          </a:p>
        </p:txBody>
      </p:sp>
      <p:sp>
        <p:nvSpPr>
          <p:cNvPr id="5" name="Segnaposto piè di pagina 4">
            <a:extLst>
              <a:ext uri="{FF2B5EF4-FFF2-40B4-BE49-F238E27FC236}">
                <a16:creationId xmlns:a16="http://schemas.microsoft.com/office/drawing/2014/main" id="{33ABF1CA-1DDE-9D8C-8B18-E59C857422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D8E9A230-1255-CF33-71CA-32D5A27B2E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1EA57E-E379-4B46-AB2C-561019FDBF6D}" type="slidenum">
              <a:rPr lang="it-IT" smtClean="0"/>
              <a:t>‹N›</a:t>
            </a:fld>
            <a:endParaRPr lang="it-IT"/>
          </a:p>
        </p:txBody>
      </p:sp>
    </p:spTree>
    <p:extLst>
      <p:ext uri="{BB962C8B-B14F-4D97-AF65-F5344CB8AC3E}">
        <p14:creationId xmlns:p14="http://schemas.microsoft.com/office/powerpoint/2010/main" val="4278199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6.jpg"/><Relationship Id="rId5" Type="http://schemas.openxmlformats.org/officeDocument/2006/relationships/image" Target="../media/image5.jpg"/><Relationship Id="rId10" Type="http://schemas.openxmlformats.org/officeDocument/2006/relationships/image" Target="../media/image2.jpg"/><Relationship Id="rId4" Type="http://schemas.openxmlformats.org/officeDocument/2006/relationships/image" Target="../media/image4.jpg"/><Relationship Id="rId9"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472060BB-54C1-7A7C-EE1E-55B68248D6B2}"/>
              </a:ext>
            </a:extLst>
          </p:cNvPr>
          <p:cNvGrpSpPr/>
          <p:nvPr/>
        </p:nvGrpSpPr>
        <p:grpSpPr>
          <a:xfrm>
            <a:off x="0" y="0"/>
            <a:ext cx="9697986" cy="6858000"/>
            <a:chOff x="0" y="0"/>
            <a:chExt cx="9697986" cy="6858000"/>
          </a:xfrm>
        </p:grpSpPr>
        <p:pic>
          <p:nvPicPr>
            <p:cNvPr id="8" name="Immagine 7" descr="Immagine che contiene mappa, testo, diagramma&#10;&#10;Descrizione generata automaticamente">
              <a:extLst>
                <a:ext uri="{FF2B5EF4-FFF2-40B4-BE49-F238E27FC236}">
                  <a16:creationId xmlns:a16="http://schemas.microsoft.com/office/drawing/2014/main" id="{A8C9D8DD-2C70-37D5-C0E8-D975123D3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14" name="CasellaDiTesto 13">
              <a:extLst>
                <a:ext uri="{FF2B5EF4-FFF2-40B4-BE49-F238E27FC236}">
                  <a16:creationId xmlns:a16="http://schemas.microsoft.com/office/drawing/2014/main" id="{79BCF7B0-422A-A9CA-E75A-7ECBE1E9F98F}"/>
                </a:ext>
              </a:extLst>
            </p:cNvPr>
            <p:cNvSpPr txBox="1"/>
            <p:nvPr/>
          </p:nvSpPr>
          <p:spPr>
            <a:xfrm>
              <a:off x="5308215" y="4666446"/>
              <a:ext cx="3385709" cy="954107"/>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Multi K-</a:t>
              </a:r>
              <a:r>
                <a:rPr lang="it-IT"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All</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4" name="CasellaDiTesto 3">
            <a:extLst>
              <a:ext uri="{FF2B5EF4-FFF2-40B4-BE49-F238E27FC236}">
                <a16:creationId xmlns:a16="http://schemas.microsoft.com/office/drawing/2014/main" id="{D5FC6E3C-5C82-FF38-D4BD-308B60B78F72}"/>
              </a:ext>
            </a:extLst>
          </p:cNvPr>
          <p:cNvSpPr txBox="1"/>
          <p:nvPr/>
        </p:nvSpPr>
        <p:spPr>
          <a:xfrm>
            <a:off x="5460750" y="2728915"/>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7E20C863-3CE8-982A-1618-B7955DB48271}"/>
              </a:ext>
            </a:extLst>
          </p:cNvPr>
          <p:cNvSpPr txBox="1"/>
          <p:nvPr/>
        </p:nvSpPr>
        <p:spPr>
          <a:xfrm>
            <a:off x="6071042" y="2734718"/>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6" name="CasellaDiTesto 5">
            <a:extLst>
              <a:ext uri="{FF2B5EF4-FFF2-40B4-BE49-F238E27FC236}">
                <a16:creationId xmlns:a16="http://schemas.microsoft.com/office/drawing/2014/main" id="{3702C876-8011-056C-CEAE-60D698DDA7DC}"/>
              </a:ext>
            </a:extLst>
          </p:cNvPr>
          <p:cNvSpPr txBox="1"/>
          <p:nvPr/>
        </p:nvSpPr>
        <p:spPr>
          <a:xfrm>
            <a:off x="6710514" y="2536598"/>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9" name="CasellaDiTesto 8">
            <a:extLst>
              <a:ext uri="{FF2B5EF4-FFF2-40B4-BE49-F238E27FC236}">
                <a16:creationId xmlns:a16="http://schemas.microsoft.com/office/drawing/2014/main" id="{FE895E89-1966-148F-927D-F38AB575517A}"/>
              </a:ext>
            </a:extLst>
          </p:cNvPr>
          <p:cNvSpPr txBox="1"/>
          <p:nvPr/>
        </p:nvSpPr>
        <p:spPr>
          <a:xfrm>
            <a:off x="5962795" y="3152001"/>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13" name="CasellaDiTesto 12">
            <a:extLst>
              <a:ext uri="{FF2B5EF4-FFF2-40B4-BE49-F238E27FC236}">
                <a16:creationId xmlns:a16="http://schemas.microsoft.com/office/drawing/2014/main" id="{ECF69955-A394-C267-B14A-7E40C5130151}"/>
              </a:ext>
            </a:extLst>
          </p:cNvPr>
          <p:cNvSpPr txBox="1"/>
          <p:nvPr/>
        </p:nvSpPr>
        <p:spPr>
          <a:xfrm>
            <a:off x="9574800" y="1843951"/>
            <a:ext cx="2617200" cy="3170099"/>
          </a:xfrm>
          <a:prstGeom prst="rect">
            <a:avLst/>
          </a:prstGeom>
          <a:noFill/>
        </p:spPr>
        <p:txBody>
          <a:bodyPr wrap="square" rtlCol="0">
            <a:spAutoFit/>
          </a:bodyPr>
          <a:lstStyle/>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cold areas with fair bottom oxygen, low salinity, and fair surface productivity. Very high biomass. Low fishing activity, and high shipping traffic. Presence of dumping sites and wind farms.</a:t>
            </a:r>
          </a:p>
          <a:p>
            <a:pPr marL="228600" indent="-228600" algn="just">
              <a:buFont typeface="+mj-lt"/>
              <a:buAutoNum type="arabicPeriod"/>
            </a:pPr>
            <a:endParaRPr lang="it-IT"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low bottom salinity, and low surface productivity. Very high biomass. Moderate fishing activity, and fair to moderate shipping traffic. Presence of wind farms and dumping sites.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with moderately low bottom oxygen and moderate bottom salinity, and very low surface productivity. Very high biomass. Fair fishing activity and moderate shipping traffic. Moderate to high anthropogenic influence, with dumping sites and wind farms, and minimal presence of military areas.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fairly cold areas with extremely low bottom oxygen and moderate surface productivity. Very high biomass, moderate salinity, high fishing activity, moderate shipping traffic, and minimal presence of wind farms.</a:t>
            </a:r>
            <a:endParaRPr lang="it-IT" sz="1100" dirty="0">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2196503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po 8">
            <a:extLst>
              <a:ext uri="{FF2B5EF4-FFF2-40B4-BE49-F238E27FC236}">
                <a16:creationId xmlns:a16="http://schemas.microsoft.com/office/drawing/2014/main" id="{D34FED7D-5AD2-3A93-5A7F-3EE05804013D}"/>
              </a:ext>
            </a:extLst>
          </p:cNvPr>
          <p:cNvGrpSpPr/>
          <p:nvPr/>
        </p:nvGrpSpPr>
        <p:grpSpPr>
          <a:xfrm>
            <a:off x="0" y="0"/>
            <a:ext cx="9697986" cy="6858000"/>
            <a:chOff x="0" y="0"/>
            <a:chExt cx="9697986" cy="6858000"/>
          </a:xfrm>
        </p:grpSpPr>
        <p:grpSp>
          <p:nvGrpSpPr>
            <p:cNvPr id="2" name="Gruppo 1">
              <a:extLst>
                <a:ext uri="{FF2B5EF4-FFF2-40B4-BE49-F238E27FC236}">
                  <a16:creationId xmlns:a16="http://schemas.microsoft.com/office/drawing/2014/main" id="{DC3ACA32-3027-8E57-D3FF-61C1D1BDED55}"/>
                </a:ext>
              </a:extLst>
            </p:cNvPr>
            <p:cNvGrpSpPr/>
            <p:nvPr/>
          </p:nvGrpSpPr>
          <p:grpSpPr>
            <a:xfrm>
              <a:off x="0" y="0"/>
              <a:ext cx="9697986" cy="6858000"/>
              <a:chOff x="0" y="0"/>
              <a:chExt cx="9697986" cy="6858000"/>
            </a:xfrm>
          </p:grpSpPr>
          <p:sp>
            <p:nvSpPr>
              <p:cNvPr id="11" name="CasellaDiTesto 10">
                <a:extLst>
                  <a:ext uri="{FF2B5EF4-FFF2-40B4-BE49-F238E27FC236}">
                    <a16:creationId xmlns:a16="http://schemas.microsoft.com/office/drawing/2014/main" id="{68BF044D-BE7B-5396-1843-2C875EAC56F7}"/>
                  </a:ext>
                </a:extLst>
              </p:cNvPr>
              <p:cNvSpPr txBox="1"/>
              <p:nvPr/>
            </p:nvSpPr>
            <p:spPr>
              <a:xfrm>
                <a:off x="4848993" y="4539197"/>
                <a:ext cx="4225902" cy="1338828"/>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Multi K-</a:t>
                </a:r>
                <a:r>
                  <a:rPr lang="it-IT"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Five</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Limanda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limanda</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Merlangius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merlangus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Platichthys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flesus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Pleuronectes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platessa</a:t>
                </a:r>
              </a:p>
              <a:p>
                <a:pPr algn="ctr"/>
                <a:endParaRPr lang="it-IT" dirty="0">
                  <a:latin typeface="MS Shell Dlg 2" panose="020B0604030504040204" pitchFamily="34" charset="0"/>
                  <a:ea typeface="MS Shell Dlg 2" panose="020B0604030504040204" pitchFamily="34" charset="0"/>
                  <a:cs typeface="MS Shell Dlg 2" panose="020B0604030504040204" pitchFamily="34" charset="0"/>
                </a:endParaRPr>
              </a:p>
            </p:txBody>
          </p:sp>
          <p:pic>
            <p:nvPicPr>
              <p:cNvPr id="3" name="Immagine 2" descr="Immagine che contiene mappa, testo, diagramma, atlante&#10;&#10;Descrizione generata automaticamente">
                <a:extLst>
                  <a:ext uri="{FF2B5EF4-FFF2-40B4-BE49-F238E27FC236}">
                    <a16:creationId xmlns:a16="http://schemas.microsoft.com/office/drawing/2014/main" id="{3BD079C5-40D5-77DD-77B0-6454F5DC12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grpSp>
        <p:sp>
          <p:nvSpPr>
            <p:cNvPr id="8" name="CasellaDiTesto 7">
              <a:extLst>
                <a:ext uri="{FF2B5EF4-FFF2-40B4-BE49-F238E27FC236}">
                  <a16:creationId xmlns:a16="http://schemas.microsoft.com/office/drawing/2014/main" id="{7CC1507C-9CDC-9E4A-08DD-9CCE92783563}"/>
                </a:ext>
              </a:extLst>
            </p:cNvPr>
            <p:cNvSpPr txBox="1"/>
            <p:nvPr/>
          </p:nvSpPr>
          <p:spPr>
            <a:xfrm>
              <a:off x="4228736" y="4641095"/>
              <a:ext cx="5429784" cy="1077218"/>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Multi K-</a:t>
              </a:r>
              <a:r>
                <a:rPr lang="it-IT"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Five</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Limanda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limanda</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Merlangius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merlangus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Platichthys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flesus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Pleuronectes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platessa</a:t>
              </a:r>
            </a:p>
          </p:txBody>
        </p:sp>
      </p:grpSp>
      <p:sp>
        <p:nvSpPr>
          <p:cNvPr id="7" name="CasellaDiTesto 6">
            <a:extLst>
              <a:ext uri="{FF2B5EF4-FFF2-40B4-BE49-F238E27FC236}">
                <a16:creationId xmlns:a16="http://schemas.microsoft.com/office/drawing/2014/main" id="{AC2AC8C7-85E6-2BDC-C429-2EE4A5DC7003}"/>
              </a:ext>
            </a:extLst>
          </p:cNvPr>
          <p:cNvSpPr txBox="1"/>
          <p:nvPr/>
        </p:nvSpPr>
        <p:spPr>
          <a:xfrm>
            <a:off x="9574800" y="2090172"/>
            <a:ext cx="2617200" cy="2800767"/>
          </a:xfrm>
          <a:prstGeom prst="rect">
            <a:avLst/>
          </a:prstGeom>
          <a:noFill/>
        </p:spPr>
        <p:txBody>
          <a:bodyPr wrap="square" rtlCol="0">
            <a:spAutoFit/>
          </a:bodyPr>
          <a:lstStyle/>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and fair to moderate surface productivity. Very high biomass of five commercial demersal species, high salinity, high fishing activity, and moderate to high shipping traffic. Strong anthropogenic influence with a dominant presence of dumping sites and military areas and minor presence of wind farms.</a:t>
            </a:r>
          </a:p>
          <a:p>
            <a:pPr marL="228600" indent="-228600" algn="just">
              <a:buAutoNum type="arabicPeriod"/>
            </a:pPr>
            <a:endParaRPr lang="it-IT"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low bottom oxygen and moderately high surface productivity. Very high biomass of five commercial demersal species, very high fishing activity, moderate shipping traffic, and fair to moderate salinity.</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with extremely low bottom oxygen and high surface productivity. Moderate to very high biomass of five commercial demersal species, extremely high fishing activity, high shipping traffic, and moderate salinity. Presence of military areas.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4" name="CasellaDiTesto 3">
            <a:extLst>
              <a:ext uri="{FF2B5EF4-FFF2-40B4-BE49-F238E27FC236}">
                <a16:creationId xmlns:a16="http://schemas.microsoft.com/office/drawing/2014/main" id="{D5FC6E3C-5C82-FF38-D4BD-308B60B78F72}"/>
              </a:ext>
            </a:extLst>
          </p:cNvPr>
          <p:cNvSpPr txBox="1"/>
          <p:nvPr/>
        </p:nvSpPr>
        <p:spPr>
          <a:xfrm>
            <a:off x="4848993" y="3128401"/>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7E20C863-3CE8-982A-1618-B7955DB48271}"/>
              </a:ext>
            </a:extLst>
          </p:cNvPr>
          <p:cNvSpPr txBox="1"/>
          <p:nvPr/>
        </p:nvSpPr>
        <p:spPr>
          <a:xfrm>
            <a:off x="5924243" y="312840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6" name="CasellaDiTesto 5">
            <a:extLst>
              <a:ext uri="{FF2B5EF4-FFF2-40B4-BE49-F238E27FC236}">
                <a16:creationId xmlns:a16="http://schemas.microsoft.com/office/drawing/2014/main" id="{3702C876-8011-056C-CEAE-60D698DDA7DC}"/>
              </a:ext>
            </a:extLst>
          </p:cNvPr>
          <p:cNvSpPr txBox="1"/>
          <p:nvPr/>
        </p:nvSpPr>
        <p:spPr>
          <a:xfrm>
            <a:off x="6744080" y="342900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Tree>
    <p:extLst>
      <p:ext uri="{BB962C8B-B14F-4D97-AF65-F5344CB8AC3E}">
        <p14:creationId xmlns:p14="http://schemas.microsoft.com/office/powerpoint/2010/main" val="2594551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A0D2F846-85EC-CDF4-BA98-CFD17591E4AC}"/>
              </a:ext>
            </a:extLst>
          </p:cNvPr>
          <p:cNvGrpSpPr/>
          <p:nvPr/>
        </p:nvGrpSpPr>
        <p:grpSpPr>
          <a:xfrm>
            <a:off x="0" y="0"/>
            <a:ext cx="9697986" cy="6858000"/>
            <a:chOff x="0" y="0"/>
            <a:chExt cx="9697986" cy="6858000"/>
          </a:xfrm>
        </p:grpSpPr>
        <p:pic>
          <p:nvPicPr>
            <p:cNvPr id="3" name="Immagine 2" descr="Immagine che contiene mappa, testo, diagramma, atlante&#10;&#10;Descrizione generata automaticamente">
              <a:extLst>
                <a:ext uri="{FF2B5EF4-FFF2-40B4-BE49-F238E27FC236}">
                  <a16:creationId xmlns:a16="http://schemas.microsoft.com/office/drawing/2014/main" id="{DBB7B2F1-07EE-479F-CA24-DD9EDD6D2D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8" name="CasellaDiTesto 7">
              <a:extLst>
                <a:ext uri="{FF2B5EF4-FFF2-40B4-BE49-F238E27FC236}">
                  <a16:creationId xmlns:a16="http://schemas.microsoft.com/office/drawing/2014/main" id="{02E62B29-E12E-426E-E13E-639E86F2DB5B}"/>
                </a:ext>
              </a:extLst>
            </p:cNvPr>
            <p:cNvSpPr txBox="1"/>
            <p:nvPr/>
          </p:nvSpPr>
          <p:spPr>
            <a:xfrm>
              <a:off x="5201921" y="4555030"/>
              <a:ext cx="3375102" cy="954107"/>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Multi K-</a:t>
              </a:r>
              <a:r>
                <a:rPr lang="it-IT"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dirty="0">
                  <a:latin typeface="MS Shell Dlg 2" panose="020B0604030504040204" pitchFamily="34" charset="0"/>
                  <a:ea typeface="MS Shell Dlg 2" panose="020B0604030504040204" pitchFamily="34" charset="0"/>
                  <a:cs typeface="MS Shell Dlg 2" panose="020B0604030504040204" pitchFamily="34" charset="0"/>
                </a:rPr>
                <a:t> -</a:t>
              </a:r>
            </a:p>
          </p:txBody>
        </p:sp>
      </p:grpSp>
      <p:sp>
        <p:nvSpPr>
          <p:cNvPr id="7" name="CasellaDiTesto 6">
            <a:extLst>
              <a:ext uri="{FF2B5EF4-FFF2-40B4-BE49-F238E27FC236}">
                <a16:creationId xmlns:a16="http://schemas.microsoft.com/office/drawing/2014/main" id="{FB9C796C-B593-02A0-402F-B29783ADA7D6}"/>
              </a:ext>
            </a:extLst>
          </p:cNvPr>
          <p:cNvSpPr txBox="1"/>
          <p:nvPr/>
        </p:nvSpPr>
        <p:spPr>
          <a:xfrm>
            <a:off x="9574800" y="1228398"/>
            <a:ext cx="2617200" cy="4278094"/>
          </a:xfrm>
          <a:prstGeom prst="rect">
            <a:avLst/>
          </a:prstGeom>
          <a:noFill/>
        </p:spPr>
        <p:txBody>
          <a:bodyPr wrap="square" rtlCol="0">
            <a:spAutoFit/>
          </a:bodyPr>
          <a:lstStyle/>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warm areas with slightly low bottom oxygen and very high surface productivity. Moderate to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moderate salinity. Minor anthropogenic influence with light presence of dumping sites, military areas, and wind farms.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Tx/>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Fairly deep, cool areas with moderately low bottom oxygen and moderate surface productivity.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high fishing activity, moderate shipping traffic, and fair salinity. Minimal anthropogenic influence, with only light presence of dumping sites, military areas, and wind farms. Partly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hardrock</a:t>
            </a:r>
            <a:r>
              <a:rPr lang="en-US" sz="800" dirty="0">
                <a:latin typeface="MS Shell Dlg 2" panose="020B0604030504040204" pitchFamily="34" charset="0"/>
                <a:ea typeface="MS Shell Dlg 2" panose="020B0604030504040204" pitchFamily="34" charset="0"/>
                <a:cs typeface="MS Shell Dlg 2" panose="020B0604030504040204" pitchFamily="34" charset="0"/>
              </a:rPr>
              <a:t> seafloor.</a:t>
            </a:r>
          </a:p>
          <a:p>
            <a:pPr marL="228600" indent="-228600" algn="just">
              <a:buFontTx/>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to deep, cold areas with high surface productivity, moderately high salinity, and moderate to high bottom oxygen depletion.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shipping traffic. Minimal anthropogenic influence with limited presence of wind farms and minimal hard-bottom seafloor.</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areas with cold bottom temperatures, very high surface productivity, and severe bottom oxygen depletion.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fair to moderate salinity, intense fishing activity, and high shipping traffic. Minimal anthropogenic influence with the presence of military areas and only minimal hard-bottom seafloor.</a:t>
            </a:r>
          </a:p>
        </p:txBody>
      </p:sp>
      <p:sp>
        <p:nvSpPr>
          <p:cNvPr id="9" name="CasellaDiTesto 8">
            <a:extLst>
              <a:ext uri="{FF2B5EF4-FFF2-40B4-BE49-F238E27FC236}">
                <a16:creationId xmlns:a16="http://schemas.microsoft.com/office/drawing/2014/main" id="{CE88400E-970D-F4CB-FFE1-A3EE8A3C68FD}"/>
              </a:ext>
            </a:extLst>
          </p:cNvPr>
          <p:cNvSpPr txBox="1"/>
          <p:nvPr/>
        </p:nvSpPr>
        <p:spPr>
          <a:xfrm>
            <a:off x="3116907" y="2962719"/>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0" name="CasellaDiTesto 9">
            <a:extLst>
              <a:ext uri="{FF2B5EF4-FFF2-40B4-BE49-F238E27FC236}">
                <a16:creationId xmlns:a16="http://schemas.microsoft.com/office/drawing/2014/main" id="{614DBA9D-0EDF-9CE0-FB2C-E5E723825D7F}"/>
              </a:ext>
            </a:extLst>
          </p:cNvPr>
          <p:cNvSpPr txBox="1"/>
          <p:nvPr/>
        </p:nvSpPr>
        <p:spPr>
          <a:xfrm>
            <a:off x="5093927" y="342900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11" name="CasellaDiTesto 10">
            <a:extLst>
              <a:ext uri="{FF2B5EF4-FFF2-40B4-BE49-F238E27FC236}">
                <a16:creationId xmlns:a16="http://schemas.microsoft.com/office/drawing/2014/main" id="{4C0B5442-9E58-9CB4-07EF-4870CD051E09}"/>
              </a:ext>
            </a:extLst>
          </p:cNvPr>
          <p:cNvSpPr txBox="1"/>
          <p:nvPr/>
        </p:nvSpPr>
        <p:spPr>
          <a:xfrm>
            <a:off x="5958878" y="3228945"/>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3" name="CasellaDiTesto 12">
            <a:extLst>
              <a:ext uri="{FF2B5EF4-FFF2-40B4-BE49-F238E27FC236}">
                <a16:creationId xmlns:a16="http://schemas.microsoft.com/office/drawing/2014/main" id="{4401768A-4A3A-D401-BDAE-92B0CBA0E1E6}"/>
              </a:ext>
            </a:extLst>
          </p:cNvPr>
          <p:cNvSpPr txBox="1"/>
          <p:nvPr/>
        </p:nvSpPr>
        <p:spPr>
          <a:xfrm>
            <a:off x="6587551" y="3388812"/>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4</a:t>
            </a:r>
          </a:p>
        </p:txBody>
      </p:sp>
    </p:spTree>
    <p:extLst>
      <p:ext uri="{BB962C8B-B14F-4D97-AF65-F5344CB8AC3E}">
        <p14:creationId xmlns:p14="http://schemas.microsoft.com/office/powerpoint/2010/main" val="3745361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po 3">
            <a:extLst>
              <a:ext uri="{FF2B5EF4-FFF2-40B4-BE49-F238E27FC236}">
                <a16:creationId xmlns:a16="http://schemas.microsoft.com/office/drawing/2014/main" id="{3992FC61-3D8B-6319-1997-6CD72B0B1721}"/>
              </a:ext>
            </a:extLst>
          </p:cNvPr>
          <p:cNvGrpSpPr/>
          <p:nvPr/>
        </p:nvGrpSpPr>
        <p:grpSpPr>
          <a:xfrm>
            <a:off x="0" y="0"/>
            <a:ext cx="9697986" cy="6858000"/>
            <a:chOff x="0" y="0"/>
            <a:chExt cx="9697986" cy="6858000"/>
          </a:xfrm>
        </p:grpSpPr>
        <p:pic>
          <p:nvPicPr>
            <p:cNvPr id="3" name="Immagine 2" descr="Immagine che contiene mappa, testo, diagramma&#10;&#10;Descrizione generata automaticamente">
              <a:extLst>
                <a:ext uri="{FF2B5EF4-FFF2-40B4-BE49-F238E27FC236}">
                  <a16:creationId xmlns:a16="http://schemas.microsoft.com/office/drawing/2014/main" id="{F9507DFE-CD8F-1F16-C86F-419562F991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15" name="CasellaDiTesto 14">
              <a:extLst>
                <a:ext uri="{FF2B5EF4-FFF2-40B4-BE49-F238E27FC236}">
                  <a16:creationId xmlns:a16="http://schemas.microsoft.com/office/drawing/2014/main" id="{9410F135-8E8A-D277-EDF5-20623186786D}"/>
                </a:ext>
              </a:extLst>
            </p:cNvPr>
            <p:cNvSpPr txBox="1"/>
            <p:nvPr/>
          </p:nvSpPr>
          <p:spPr>
            <a:xfrm>
              <a:off x="4303925" y="4633711"/>
              <a:ext cx="4908441" cy="954107"/>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VAE </a:t>
              </a:r>
              <a:r>
                <a:rPr lang="it-IT"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All</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6" name="CasellaDiTesto 15">
            <a:extLst>
              <a:ext uri="{FF2B5EF4-FFF2-40B4-BE49-F238E27FC236}">
                <a16:creationId xmlns:a16="http://schemas.microsoft.com/office/drawing/2014/main" id="{CBD5D4D5-2C6A-1A5D-D09D-F4320726F0F1}"/>
              </a:ext>
            </a:extLst>
          </p:cNvPr>
          <p:cNvSpPr txBox="1"/>
          <p:nvPr/>
        </p:nvSpPr>
        <p:spPr>
          <a:xfrm>
            <a:off x="4405058" y="2753729"/>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7" name="CasellaDiTesto 16">
            <a:extLst>
              <a:ext uri="{FF2B5EF4-FFF2-40B4-BE49-F238E27FC236}">
                <a16:creationId xmlns:a16="http://schemas.microsoft.com/office/drawing/2014/main" id="{C32DF3A5-0213-118F-CF75-8249A8B012E5}"/>
              </a:ext>
            </a:extLst>
          </p:cNvPr>
          <p:cNvSpPr txBox="1"/>
          <p:nvPr/>
        </p:nvSpPr>
        <p:spPr>
          <a:xfrm>
            <a:off x="5126142" y="2686637"/>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18" name="CasellaDiTesto 17">
            <a:extLst>
              <a:ext uri="{FF2B5EF4-FFF2-40B4-BE49-F238E27FC236}">
                <a16:creationId xmlns:a16="http://schemas.microsoft.com/office/drawing/2014/main" id="{24910F9C-CEB2-8D27-B566-AB4976ABBBCD}"/>
              </a:ext>
            </a:extLst>
          </p:cNvPr>
          <p:cNvSpPr txBox="1"/>
          <p:nvPr/>
        </p:nvSpPr>
        <p:spPr>
          <a:xfrm>
            <a:off x="6981831" y="3297633"/>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6</a:t>
            </a:r>
          </a:p>
        </p:txBody>
      </p:sp>
      <p:sp>
        <p:nvSpPr>
          <p:cNvPr id="19" name="CasellaDiTesto 18">
            <a:extLst>
              <a:ext uri="{FF2B5EF4-FFF2-40B4-BE49-F238E27FC236}">
                <a16:creationId xmlns:a16="http://schemas.microsoft.com/office/drawing/2014/main" id="{9AB21391-CAA1-333C-FEF4-18DE19E9C9F3}"/>
              </a:ext>
            </a:extLst>
          </p:cNvPr>
          <p:cNvSpPr txBox="1"/>
          <p:nvPr/>
        </p:nvSpPr>
        <p:spPr>
          <a:xfrm>
            <a:off x="5782459" y="3003706"/>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20" name="CasellaDiTesto 19">
            <a:extLst>
              <a:ext uri="{FF2B5EF4-FFF2-40B4-BE49-F238E27FC236}">
                <a16:creationId xmlns:a16="http://schemas.microsoft.com/office/drawing/2014/main" id="{8BD24711-16A5-E3D2-167B-CB43E937DB40}"/>
              </a:ext>
            </a:extLst>
          </p:cNvPr>
          <p:cNvSpPr txBox="1"/>
          <p:nvPr/>
        </p:nvSpPr>
        <p:spPr>
          <a:xfrm>
            <a:off x="6691275" y="2615229"/>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21" name="CasellaDiTesto 20">
            <a:extLst>
              <a:ext uri="{FF2B5EF4-FFF2-40B4-BE49-F238E27FC236}">
                <a16:creationId xmlns:a16="http://schemas.microsoft.com/office/drawing/2014/main" id="{EF14A826-C238-0924-B4F2-1EA9251B60BA}"/>
              </a:ext>
            </a:extLst>
          </p:cNvPr>
          <p:cNvSpPr txBox="1"/>
          <p:nvPr/>
        </p:nvSpPr>
        <p:spPr>
          <a:xfrm>
            <a:off x="7619949" y="2439404"/>
            <a:ext cx="565119"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5</a:t>
            </a:r>
          </a:p>
        </p:txBody>
      </p:sp>
      <p:sp>
        <p:nvSpPr>
          <p:cNvPr id="2" name="CasellaDiTesto 1">
            <a:extLst>
              <a:ext uri="{FF2B5EF4-FFF2-40B4-BE49-F238E27FC236}">
                <a16:creationId xmlns:a16="http://schemas.microsoft.com/office/drawing/2014/main" id="{5168E45C-755C-ED0E-7276-DF0F9E8FB68C}"/>
              </a:ext>
            </a:extLst>
          </p:cNvPr>
          <p:cNvSpPr txBox="1"/>
          <p:nvPr/>
        </p:nvSpPr>
        <p:spPr>
          <a:xfrm>
            <a:off x="9574800" y="1105287"/>
            <a:ext cx="2617200" cy="4647426"/>
          </a:xfrm>
          <a:prstGeom prst="rect">
            <a:avLst/>
          </a:prstGeom>
          <a:noFill/>
        </p:spPr>
        <p:txBody>
          <a:bodyPr wrap="square" rtlCol="0">
            <a:spAutoFit/>
          </a:bodyPr>
          <a:lstStyle/>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to moderately deep, moderately cold areas. Fair to moderate surface productivity, high bottom oxygen, and low salinity. Very high biomass. Moderate fishing activity and fair shipping traffic. Strong presence of military areas.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to deep, cold areas. Low to fair surface productivity, moderate bottom oxygen depletion, and low salinity. Very high biomass. Moderate fishing activity and fair shipping traffic. Strong presence of military areas.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Fairly deep, moderately cold areas. Moderate to high surface productivity, high bottom oxygen, and low salinity. High biomass. Intense fishing activity and moderate to high shipping traffic. Presence of military areas and wind farms.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and very cold areas. Very high biomass. Very low surface productivity, extremely low bottom oxygen, and moderate salinity. Low fishing activity and moderate to high shipping traffic. Presence of dumping sites.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waters, moderately cold. Moderate biomass. High surface productivity, high bottom oxygen, and low salinity. Low fishing activity and intense shipping traffic. Presence of military areas.</a:t>
            </a:r>
          </a:p>
          <a:p>
            <a:pPr marL="228600" indent="-228600" algn="jus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Fair to moderate biomass. Moderate to high surface productivity, extremely low bottom oxygen, and moderate salinity. Intense fishing activity and moderate to high shipping traffic.</a:t>
            </a:r>
          </a:p>
        </p:txBody>
      </p:sp>
    </p:spTree>
    <p:extLst>
      <p:ext uri="{BB962C8B-B14F-4D97-AF65-F5344CB8AC3E}">
        <p14:creationId xmlns:p14="http://schemas.microsoft.com/office/powerpoint/2010/main" val="3029371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uppo 7">
            <a:extLst>
              <a:ext uri="{FF2B5EF4-FFF2-40B4-BE49-F238E27FC236}">
                <a16:creationId xmlns:a16="http://schemas.microsoft.com/office/drawing/2014/main" id="{1A9A34CF-A057-9FB4-4C09-7F33D8BC46A0}"/>
              </a:ext>
            </a:extLst>
          </p:cNvPr>
          <p:cNvGrpSpPr/>
          <p:nvPr/>
        </p:nvGrpSpPr>
        <p:grpSpPr>
          <a:xfrm>
            <a:off x="0" y="0"/>
            <a:ext cx="9697986" cy="6858000"/>
            <a:chOff x="0" y="0"/>
            <a:chExt cx="9697986" cy="6858000"/>
          </a:xfrm>
        </p:grpSpPr>
        <p:pic>
          <p:nvPicPr>
            <p:cNvPr id="3" name="Immagine 2" descr="Immagine che contiene mappa, testo, diagramma, atlante&#10;&#10;Descrizione generata automaticamente">
              <a:extLst>
                <a:ext uri="{FF2B5EF4-FFF2-40B4-BE49-F238E27FC236}">
                  <a16:creationId xmlns:a16="http://schemas.microsoft.com/office/drawing/2014/main" id="{815862A8-0EC0-3593-8C1C-378AFB1F5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9" name="CasellaDiTesto 8">
              <a:extLst>
                <a:ext uri="{FF2B5EF4-FFF2-40B4-BE49-F238E27FC236}">
                  <a16:creationId xmlns:a16="http://schemas.microsoft.com/office/drawing/2014/main" id="{0A1FDFF8-6493-B097-3DF9-6E7C326995F0}"/>
                </a:ext>
              </a:extLst>
            </p:cNvPr>
            <p:cNvSpPr txBox="1"/>
            <p:nvPr/>
          </p:nvSpPr>
          <p:spPr>
            <a:xfrm>
              <a:off x="4228736" y="4641095"/>
              <a:ext cx="5429784" cy="1077218"/>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VAE </a:t>
              </a:r>
              <a:r>
                <a:rPr lang="it-IT"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i="1" dirty="0">
                  <a:latin typeface="MS Shell Dlg 2" panose="020B0604030504040204" pitchFamily="34" charset="0"/>
                  <a:ea typeface="MS Shell Dlg 2" panose="020B0604030504040204" pitchFamily="34" charset="0"/>
                  <a:cs typeface="MS Shell Dlg 2" panose="020B0604030504040204" pitchFamily="34" charset="0"/>
                </a:rPr>
                <a: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Five</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Limanda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limanda</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Merlangius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merlangus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Platichthys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flesus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Pleuronectes</a:t>
              </a:r>
              <a:r>
                <a:rPr lang="it-IT" sz="800" i="1" dirty="0">
                  <a:latin typeface="MS Shell Dlg 2" panose="020B0604030504040204" pitchFamily="34" charset="0"/>
                  <a:ea typeface="MS Shell Dlg 2" panose="020B0604030504040204" pitchFamily="34" charset="0"/>
                  <a:cs typeface="MS Shell Dlg 2" panose="020B0604030504040204" pitchFamily="34" charset="0"/>
                </a:rPr>
                <a:t> platessa</a:t>
              </a:r>
            </a:p>
          </p:txBody>
        </p:sp>
      </p:grpSp>
      <p:sp>
        <p:nvSpPr>
          <p:cNvPr id="4" name="CasellaDiTesto 3">
            <a:extLst>
              <a:ext uri="{FF2B5EF4-FFF2-40B4-BE49-F238E27FC236}">
                <a16:creationId xmlns:a16="http://schemas.microsoft.com/office/drawing/2014/main" id="{F225F658-5F13-3124-D001-CF7A98C6F58F}"/>
              </a:ext>
            </a:extLst>
          </p:cNvPr>
          <p:cNvSpPr txBox="1"/>
          <p:nvPr/>
        </p:nvSpPr>
        <p:spPr>
          <a:xfrm>
            <a:off x="4153902" y="299398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5" name="CasellaDiTesto 4">
            <a:extLst>
              <a:ext uri="{FF2B5EF4-FFF2-40B4-BE49-F238E27FC236}">
                <a16:creationId xmlns:a16="http://schemas.microsoft.com/office/drawing/2014/main" id="{11A3D605-F61B-4B31-C66A-3E928A34B391}"/>
              </a:ext>
            </a:extLst>
          </p:cNvPr>
          <p:cNvSpPr txBox="1"/>
          <p:nvPr/>
        </p:nvSpPr>
        <p:spPr>
          <a:xfrm>
            <a:off x="5987181" y="3132479"/>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6" name="CasellaDiTesto 5">
            <a:extLst>
              <a:ext uri="{FF2B5EF4-FFF2-40B4-BE49-F238E27FC236}">
                <a16:creationId xmlns:a16="http://schemas.microsoft.com/office/drawing/2014/main" id="{A4E9D876-8BD4-1AD3-64B5-8725D22C3A6A}"/>
              </a:ext>
            </a:extLst>
          </p:cNvPr>
          <p:cNvSpPr txBox="1"/>
          <p:nvPr/>
        </p:nvSpPr>
        <p:spPr>
          <a:xfrm>
            <a:off x="4905301" y="3194779"/>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7" name="CasellaDiTesto 6">
            <a:extLst>
              <a:ext uri="{FF2B5EF4-FFF2-40B4-BE49-F238E27FC236}">
                <a16:creationId xmlns:a16="http://schemas.microsoft.com/office/drawing/2014/main" id="{CF9C4FEB-2D14-2E2A-F783-D22285879739}"/>
              </a:ext>
            </a:extLst>
          </p:cNvPr>
          <p:cNvSpPr txBox="1"/>
          <p:nvPr/>
        </p:nvSpPr>
        <p:spPr>
          <a:xfrm>
            <a:off x="6593302" y="329050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2" name="CasellaDiTesto 1">
            <a:extLst>
              <a:ext uri="{FF2B5EF4-FFF2-40B4-BE49-F238E27FC236}">
                <a16:creationId xmlns:a16="http://schemas.microsoft.com/office/drawing/2014/main" id="{46114D47-C002-B767-6AB5-F7973CE9114F}"/>
              </a:ext>
            </a:extLst>
          </p:cNvPr>
          <p:cNvSpPr txBox="1"/>
          <p:nvPr/>
        </p:nvSpPr>
        <p:spPr>
          <a:xfrm>
            <a:off x="9574800" y="1105287"/>
            <a:ext cx="2617200" cy="3416320"/>
          </a:xfrm>
          <a:prstGeom prst="rect">
            <a:avLst/>
          </a:prstGeom>
          <a:noFill/>
        </p:spPr>
        <p:txBody>
          <a:bodyPr wrap="square" rtlCol="0">
            <a:spAutoFit/>
          </a:bodyPr>
          <a:lstStyle/>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Moderately deep waters, moderately cold. Very high biomass. Moderate surface productivity, moderate depletion of bottom oxygen, and moderate to high bottom salinity. Intense fishing activity and fair shipping traffic. Presence of military areas.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Very high biomass. Moderate surface productivity, very low bottom oxygen, and high salinity. Intense fishing activity and moderate shipping traffic. Strong presence of dumping sites and military areas. Minimal presence of wind farms.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 to deep, cold areas. Very high biomass. High surface productivity, moderate depletion of bottom oxygen, and moderate to high salinity. Intense fishing activity and moderate shipping traffic. Presence of wind farms. Partial presence of hard bottom.</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Very high biomass. High surface productivity, extremely low bottom oxygen, and moderate salinity. Intense fishing activity, moderate to high shipping traffic. Presence of military areas.</a:t>
            </a:r>
          </a:p>
        </p:txBody>
      </p:sp>
    </p:spTree>
    <p:extLst>
      <p:ext uri="{BB962C8B-B14F-4D97-AF65-F5344CB8AC3E}">
        <p14:creationId xmlns:p14="http://schemas.microsoft.com/office/powerpoint/2010/main" val="1740123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E4C26955-CE5E-6522-75F5-7954FC95DB99}"/>
              </a:ext>
            </a:extLst>
          </p:cNvPr>
          <p:cNvGrpSpPr/>
          <p:nvPr/>
        </p:nvGrpSpPr>
        <p:grpSpPr>
          <a:xfrm>
            <a:off x="0" y="0"/>
            <a:ext cx="9697986" cy="6858000"/>
            <a:chOff x="0" y="0"/>
            <a:chExt cx="9697986" cy="6858000"/>
          </a:xfrm>
        </p:grpSpPr>
        <p:pic>
          <p:nvPicPr>
            <p:cNvPr id="10" name="Immagine 9" descr="Immagine che contiene mappa, testo, diagramma, atlante&#10;&#10;Descrizione generata automaticamente">
              <a:extLst>
                <a:ext uri="{FF2B5EF4-FFF2-40B4-BE49-F238E27FC236}">
                  <a16:creationId xmlns:a16="http://schemas.microsoft.com/office/drawing/2014/main" id="{2B3868DB-A5DF-7180-8867-9F26E07ED0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13" name="CasellaDiTesto 12">
              <a:extLst>
                <a:ext uri="{FF2B5EF4-FFF2-40B4-BE49-F238E27FC236}">
                  <a16:creationId xmlns:a16="http://schemas.microsoft.com/office/drawing/2014/main" id="{F3D42F10-5F0D-945E-6C45-7644625071ED}"/>
                </a:ext>
              </a:extLst>
            </p:cNvPr>
            <p:cNvSpPr txBox="1"/>
            <p:nvPr/>
          </p:nvSpPr>
          <p:spPr>
            <a:xfrm>
              <a:off x="4346119" y="4515018"/>
              <a:ext cx="4840610" cy="954107"/>
            </a:xfrm>
            <a:prstGeom prst="rect">
              <a:avLst/>
            </a:prstGeom>
            <a:noFill/>
          </p:spPr>
          <p:txBody>
            <a:bodyPr wrap="square">
              <a:spAutoFit/>
            </a:bodyPr>
            <a:lstStyle/>
            <a:p>
              <a:pPr algn="ctr"/>
              <a:r>
                <a:rPr lang="it-IT" sz="20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20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20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20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VAE </a:t>
              </a:r>
              <a:r>
                <a:rPr lang="it-IT"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i="1" dirty="0">
                  <a:latin typeface="MS Shell Dlg 2" panose="020B0604030504040204" pitchFamily="34" charset="0"/>
                  <a:ea typeface="MS Shell Dlg 2" panose="020B0604030504040204" pitchFamily="34" charset="0"/>
                  <a:cs typeface="MS Shell Dlg 2" panose="020B0604030504040204" pitchFamily="34" charset="0"/>
                </a:rPr>
                <a:t> </a:t>
              </a:r>
              <a:r>
                <a:rPr lang="it-IT"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4" name="CasellaDiTesto 13">
            <a:extLst>
              <a:ext uri="{FF2B5EF4-FFF2-40B4-BE49-F238E27FC236}">
                <a16:creationId xmlns:a16="http://schemas.microsoft.com/office/drawing/2014/main" id="{B79B0DBD-B498-2B6A-79CF-825F837DF36D}"/>
              </a:ext>
            </a:extLst>
          </p:cNvPr>
          <p:cNvSpPr txBox="1"/>
          <p:nvPr/>
        </p:nvSpPr>
        <p:spPr>
          <a:xfrm>
            <a:off x="6602462" y="3290500"/>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3</a:t>
            </a:r>
          </a:p>
        </p:txBody>
      </p:sp>
      <p:sp>
        <p:nvSpPr>
          <p:cNvPr id="15" name="CasellaDiTesto 14">
            <a:extLst>
              <a:ext uri="{FF2B5EF4-FFF2-40B4-BE49-F238E27FC236}">
                <a16:creationId xmlns:a16="http://schemas.microsoft.com/office/drawing/2014/main" id="{6DB7BE91-2A84-20D3-71BA-9ACBC75B63D8}"/>
              </a:ext>
            </a:extLst>
          </p:cNvPr>
          <p:cNvSpPr txBox="1"/>
          <p:nvPr/>
        </p:nvSpPr>
        <p:spPr>
          <a:xfrm>
            <a:off x="4885727" y="3179907"/>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16" name="CasellaDiTesto 15">
            <a:extLst>
              <a:ext uri="{FF2B5EF4-FFF2-40B4-BE49-F238E27FC236}">
                <a16:creationId xmlns:a16="http://schemas.microsoft.com/office/drawing/2014/main" id="{E159CBBD-1511-9156-857E-D44D5C4C68E9}"/>
              </a:ext>
            </a:extLst>
          </p:cNvPr>
          <p:cNvSpPr txBox="1"/>
          <p:nvPr/>
        </p:nvSpPr>
        <p:spPr>
          <a:xfrm>
            <a:off x="6954501" y="3510669"/>
            <a:ext cx="290555"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4</a:t>
            </a:r>
          </a:p>
        </p:txBody>
      </p:sp>
      <p:sp>
        <p:nvSpPr>
          <p:cNvPr id="17" name="CasellaDiTesto 16">
            <a:extLst>
              <a:ext uri="{FF2B5EF4-FFF2-40B4-BE49-F238E27FC236}">
                <a16:creationId xmlns:a16="http://schemas.microsoft.com/office/drawing/2014/main" id="{462DF6AE-9DCE-5A73-EEA6-C313E26599EF}"/>
              </a:ext>
            </a:extLst>
          </p:cNvPr>
          <p:cNvSpPr txBox="1"/>
          <p:nvPr/>
        </p:nvSpPr>
        <p:spPr>
          <a:xfrm>
            <a:off x="5996482" y="3085241"/>
            <a:ext cx="290556" cy="276999"/>
          </a:xfrm>
          <a:prstGeom prst="rect">
            <a:avLst/>
          </a:prstGeom>
          <a:noFill/>
        </p:spPr>
        <p:txBody>
          <a:bodyPr wrap="square" rtlCol="0">
            <a:spAutoFit/>
          </a:bodyPr>
          <a:lstStyle/>
          <a:p>
            <a:pPr algn="ctr"/>
            <a:r>
              <a:rPr lang="it-IT" sz="1200" b="1" dirty="0">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8" name="CasellaDiTesto 7">
            <a:extLst>
              <a:ext uri="{FF2B5EF4-FFF2-40B4-BE49-F238E27FC236}">
                <a16:creationId xmlns:a16="http://schemas.microsoft.com/office/drawing/2014/main" id="{38FAC7E6-F0F8-6404-D2FE-899393123270}"/>
              </a:ext>
            </a:extLst>
          </p:cNvPr>
          <p:cNvSpPr txBox="1"/>
          <p:nvPr/>
        </p:nvSpPr>
        <p:spPr>
          <a:xfrm>
            <a:off x="9574800" y="1782396"/>
            <a:ext cx="2617200" cy="3293209"/>
          </a:xfrm>
          <a:prstGeom prst="rect">
            <a:avLst/>
          </a:prstGeom>
          <a:noFill/>
        </p:spPr>
        <p:txBody>
          <a:bodyPr wrap="square" rtlCol="0">
            <a:spAutoFit/>
          </a:bodyPr>
          <a:lstStyle/>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Very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surface productivity, very low bottom oxygen, and high salinity. Intense fishing activity and moderate shipping traffic. Strong presence of dumping sites and military areas. Minimal presence of wind farms.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Moderate to deep, cold areas. Very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surface productivity, moderate depletion of bottom oxygen, and moderate to high salinity. Intense fishing activity and moderate shipping traffic. Presence of wind farms. Partial presence of hard bottom.</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Very deep, cold areas. Very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surface productivity, extremely low bottom oxygen, and moderate salinity. Intense fishing activity, moderate to high shipping traffic. Presence of military areas.</a:t>
            </a:r>
          </a:p>
          <a:p>
            <a:pPr marL="228600" indent="-228600" algn="just">
              <a:buFont typeface="+mj-lt"/>
              <a:buAutoNum type="arabi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rabicPeriod"/>
            </a:pP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very low bottom oxygen, moderate salinity, and high surface productivity. High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Intense fishing activity, and fair shipping traffic. Strong anthropogenic influence with a marked presence of military areas.</a:t>
            </a:r>
          </a:p>
        </p:txBody>
      </p:sp>
    </p:spTree>
    <p:extLst>
      <p:ext uri="{BB962C8B-B14F-4D97-AF65-F5344CB8AC3E}">
        <p14:creationId xmlns:p14="http://schemas.microsoft.com/office/powerpoint/2010/main" val="2326158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po 3">
            <a:extLst>
              <a:ext uri="{FF2B5EF4-FFF2-40B4-BE49-F238E27FC236}">
                <a16:creationId xmlns:a16="http://schemas.microsoft.com/office/drawing/2014/main" id="{D11E73ED-9988-98CD-4A55-026D80D7ACE6}"/>
              </a:ext>
            </a:extLst>
          </p:cNvPr>
          <p:cNvGrpSpPr/>
          <p:nvPr/>
        </p:nvGrpSpPr>
        <p:grpSpPr>
          <a:xfrm>
            <a:off x="0" y="0"/>
            <a:ext cx="9697986" cy="6858000"/>
            <a:chOff x="0" y="0"/>
            <a:chExt cx="9697986" cy="6858000"/>
          </a:xfrm>
        </p:grpSpPr>
        <p:pic>
          <p:nvPicPr>
            <p:cNvPr id="11" name="Immagine 10" descr="Immagine che contiene mappa, testo, diagramma&#10;&#10;Descrizione generata automaticamente">
              <a:extLst>
                <a:ext uri="{FF2B5EF4-FFF2-40B4-BE49-F238E27FC236}">
                  <a16:creationId xmlns:a16="http://schemas.microsoft.com/office/drawing/2014/main" id="{318451DC-D5FD-D4DD-AE42-BD9471431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866FDD92-A9E5-2298-64E4-8CF31F4DF0C0}"/>
                </a:ext>
              </a:extLst>
            </p:cNvPr>
            <p:cNvSpPr txBox="1"/>
            <p:nvPr/>
          </p:nvSpPr>
          <p:spPr>
            <a:xfrm>
              <a:off x="5411576" y="4768505"/>
              <a:ext cx="3555999"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3" name="CasellaDiTesto 2">
            <a:extLst>
              <a:ext uri="{FF2B5EF4-FFF2-40B4-BE49-F238E27FC236}">
                <a16:creationId xmlns:a16="http://schemas.microsoft.com/office/drawing/2014/main" id="{F1BB58B4-93C9-2B43-1164-1A1F60A69D05}"/>
              </a:ext>
            </a:extLst>
          </p:cNvPr>
          <p:cNvSpPr txBox="1"/>
          <p:nvPr/>
        </p:nvSpPr>
        <p:spPr>
          <a:xfrm>
            <a:off x="4554948" y="3176241"/>
            <a:ext cx="774198"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7" name="CasellaDiTesto 6">
            <a:extLst>
              <a:ext uri="{FF2B5EF4-FFF2-40B4-BE49-F238E27FC236}">
                <a16:creationId xmlns:a16="http://schemas.microsoft.com/office/drawing/2014/main" id="{DDF4933E-9801-EA05-8F0F-7D815FD4D8E3}"/>
              </a:ext>
            </a:extLst>
          </p:cNvPr>
          <p:cNvSpPr txBox="1"/>
          <p:nvPr/>
        </p:nvSpPr>
        <p:spPr>
          <a:xfrm>
            <a:off x="2961296" y="2837379"/>
            <a:ext cx="762917"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8" name="CasellaDiTesto 7">
            <a:extLst>
              <a:ext uri="{FF2B5EF4-FFF2-40B4-BE49-F238E27FC236}">
                <a16:creationId xmlns:a16="http://schemas.microsoft.com/office/drawing/2014/main" id="{F82D33DA-1F57-7EC8-4D2A-9EFF4A725900}"/>
              </a:ext>
            </a:extLst>
          </p:cNvPr>
          <p:cNvSpPr txBox="1"/>
          <p:nvPr/>
        </p:nvSpPr>
        <p:spPr>
          <a:xfrm>
            <a:off x="5724915" y="2713842"/>
            <a:ext cx="925553"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9" name="CasellaDiTesto 8">
            <a:extLst>
              <a:ext uri="{FF2B5EF4-FFF2-40B4-BE49-F238E27FC236}">
                <a16:creationId xmlns:a16="http://schemas.microsoft.com/office/drawing/2014/main" id="{696839A1-9C22-CB6E-035A-3A59D94E6A51}"/>
              </a:ext>
            </a:extLst>
          </p:cNvPr>
          <p:cNvSpPr txBox="1"/>
          <p:nvPr/>
        </p:nvSpPr>
        <p:spPr>
          <a:xfrm>
            <a:off x="5181134" y="2733347"/>
            <a:ext cx="902047"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0" name="CasellaDiTesto 9">
            <a:extLst>
              <a:ext uri="{FF2B5EF4-FFF2-40B4-BE49-F238E27FC236}">
                <a16:creationId xmlns:a16="http://schemas.microsoft.com/office/drawing/2014/main" id="{5ED7BC07-7099-D5CE-6056-DB6276F39474}"/>
              </a:ext>
            </a:extLst>
          </p:cNvPr>
          <p:cNvSpPr txBox="1"/>
          <p:nvPr/>
        </p:nvSpPr>
        <p:spPr>
          <a:xfrm>
            <a:off x="6409983" y="2585095"/>
            <a:ext cx="902047"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0" name="CasellaDiTesto 19">
            <a:extLst>
              <a:ext uri="{FF2B5EF4-FFF2-40B4-BE49-F238E27FC236}">
                <a16:creationId xmlns:a16="http://schemas.microsoft.com/office/drawing/2014/main" id="{FED5DA61-81F8-BFED-6879-4DFFD3D20C2F}"/>
              </a:ext>
            </a:extLst>
          </p:cNvPr>
          <p:cNvSpPr txBox="1"/>
          <p:nvPr/>
        </p:nvSpPr>
        <p:spPr>
          <a:xfrm>
            <a:off x="5598834" y="3190458"/>
            <a:ext cx="968693"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1" name="CasellaDiTesto 20">
            <a:extLst>
              <a:ext uri="{FF2B5EF4-FFF2-40B4-BE49-F238E27FC236}">
                <a16:creationId xmlns:a16="http://schemas.microsoft.com/office/drawing/2014/main" id="{1DE4317F-17F2-E972-F0A9-B8F2B495103E}"/>
              </a:ext>
            </a:extLst>
          </p:cNvPr>
          <p:cNvSpPr txBox="1"/>
          <p:nvPr/>
        </p:nvSpPr>
        <p:spPr>
          <a:xfrm>
            <a:off x="6310567" y="3314371"/>
            <a:ext cx="866031"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2" name="CasellaDiTesto 21">
            <a:extLst>
              <a:ext uri="{FF2B5EF4-FFF2-40B4-BE49-F238E27FC236}">
                <a16:creationId xmlns:a16="http://schemas.microsoft.com/office/drawing/2014/main" id="{F4C02380-3DC3-5505-3F0F-515BD133AD99}"/>
              </a:ext>
            </a:extLst>
          </p:cNvPr>
          <p:cNvSpPr txBox="1"/>
          <p:nvPr/>
        </p:nvSpPr>
        <p:spPr>
          <a:xfrm>
            <a:off x="6627393" y="3499317"/>
            <a:ext cx="963796"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4" name="CasellaDiTesto 23">
            <a:extLst>
              <a:ext uri="{FF2B5EF4-FFF2-40B4-BE49-F238E27FC236}">
                <a16:creationId xmlns:a16="http://schemas.microsoft.com/office/drawing/2014/main" id="{537B4000-833C-881D-D056-9838032AF2A6}"/>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2"/>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26" name="CasellaDiTesto 25">
            <a:extLst>
              <a:ext uri="{FF2B5EF4-FFF2-40B4-BE49-F238E27FC236}">
                <a16:creationId xmlns:a16="http://schemas.microsoft.com/office/drawing/2014/main" id="{767BBCCC-A608-8A29-E54A-F27B3C50030F}"/>
              </a:ext>
            </a:extLst>
          </p:cNvPr>
          <p:cNvSpPr txBox="1"/>
          <p:nvPr/>
        </p:nvSpPr>
        <p:spPr>
          <a:xfrm>
            <a:off x="9576646" y="58847"/>
            <a:ext cx="2615354" cy="6740307"/>
          </a:xfrm>
          <a:prstGeom prst="rect">
            <a:avLst/>
          </a:prstGeom>
          <a:noFill/>
        </p:spPr>
        <p:txBody>
          <a:bodyPr wrap="square" rtlCol="0">
            <a:spAutoFit/>
          </a:bodyPr>
          <a:lstStyle/>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A.mkm</a:t>
            </a:r>
            <a:r>
              <a:rPr lang="en-US" sz="800" b="1" dirty="0">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warm areas with moderate bottom oxygen, very high salinity, and very high surface productivity. High biomass across the general biodiversity,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to high shipping traffic. Minor anthropogenic influence with minimal presence of wind farms, dumping sites, and military areas. Limited bedrock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B.mkm</a:t>
            </a:r>
            <a:r>
              <a:rPr lang="en-US" sz="800" dirty="0">
                <a:latin typeface="MS Shell Dlg 2" panose="020B0604030504040204" pitchFamily="34" charset="0"/>
                <a:ea typeface="MS Shell Dlg 2" panose="020B0604030504040204" pitchFamily="34" charset="0"/>
                <a:cs typeface="MS Shell Dlg 2" panose="020B0604030504040204" pitchFamily="34" charset="0"/>
              </a:rPr>
              <a:t>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C.mkm</a:t>
            </a:r>
            <a:r>
              <a:rPr lang="en-US" sz="800" dirty="0">
                <a:latin typeface="MS Shell Dlg 2" panose="020B0604030504040204" pitchFamily="34" charset="0"/>
                <a:ea typeface="MS Shell Dlg 2" panose="020B0604030504040204" pitchFamily="34" charset="0"/>
                <a:cs typeface="MS Shell Dlg 2" panose="020B0604030504040204" pitchFamily="34" charset="0"/>
              </a:rPr>
              <a:t>	Relatively shallow, very cold areas with moderately low bottom oxygen and very low bottom salinity, and low surface productivity. Biomass is generally very high, while the five commercially important species range from moderate to high. Fair fishing activity and moderate shipping traffic. Moderate to high anthropogenic influence, with dumping sites and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D.mkm</a:t>
            </a:r>
            <a:r>
              <a:rPr lang="en-US" sz="800" dirty="0">
                <a:latin typeface="MS Shell Dlg 2" panose="020B0604030504040204" pitchFamily="34" charset="0"/>
                <a:ea typeface="MS Shell Dlg 2" panose="020B0604030504040204" pitchFamily="34" charset="0"/>
                <a:cs typeface="MS Shell Dlg 2" panose="020B0604030504040204" pitchFamily="34" charset="0"/>
              </a:rPr>
              <a:t>	Very deep, very cold areas with extremely low bottom oxygen, low bottom salinity, and quite low surface productivity. Overall biomass is high, biomass of the five commercially important species is moderate,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ranges from fair to moderate, and shipping traffic is fair. Minor anthropogenic influence with the presence of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E.mkm</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cold areas with very low bottom oxygen, moderate to high salinity, and low surface productivity. Overall biomass is very high, while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a:t>
            </a:r>
          </a:p>
        </p:txBody>
      </p:sp>
    </p:spTree>
    <p:extLst>
      <p:ext uri="{BB962C8B-B14F-4D97-AF65-F5344CB8AC3E}">
        <p14:creationId xmlns:p14="http://schemas.microsoft.com/office/powerpoint/2010/main" val="3079948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uppo 18">
            <a:extLst>
              <a:ext uri="{FF2B5EF4-FFF2-40B4-BE49-F238E27FC236}">
                <a16:creationId xmlns:a16="http://schemas.microsoft.com/office/drawing/2014/main" id="{5639B7C1-B061-A6BE-0C15-DAA76281C8CB}"/>
              </a:ext>
            </a:extLst>
          </p:cNvPr>
          <p:cNvGrpSpPr/>
          <p:nvPr/>
        </p:nvGrpSpPr>
        <p:grpSpPr>
          <a:xfrm>
            <a:off x="0" y="0"/>
            <a:ext cx="9697986" cy="6858000"/>
            <a:chOff x="0" y="0"/>
            <a:chExt cx="9697986" cy="6858000"/>
          </a:xfrm>
        </p:grpSpPr>
        <p:pic>
          <p:nvPicPr>
            <p:cNvPr id="11" name="Immagine 10" descr="Immagine che contiene mappa, testo, diagramma&#10;&#10;Descrizione generata automaticamente">
              <a:extLst>
                <a:ext uri="{FF2B5EF4-FFF2-40B4-BE49-F238E27FC236}">
                  <a16:creationId xmlns:a16="http://schemas.microsoft.com/office/drawing/2014/main" id="{318451DC-D5FD-D4DD-AE42-BD9471431A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866FDD92-A9E5-2298-64E4-8CF31F4DF0C0}"/>
                </a:ext>
              </a:extLst>
            </p:cNvPr>
            <p:cNvSpPr txBox="1"/>
            <p:nvPr/>
          </p:nvSpPr>
          <p:spPr>
            <a:xfrm>
              <a:off x="5411576" y="4768505"/>
              <a:ext cx="3555999"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4" name="CasellaDiTesto 3">
            <a:extLst>
              <a:ext uri="{FF2B5EF4-FFF2-40B4-BE49-F238E27FC236}">
                <a16:creationId xmlns:a16="http://schemas.microsoft.com/office/drawing/2014/main" id="{1662114B-4EA8-36E8-83FE-90838B56A431}"/>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2"/>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5" name="CasellaDiTesto 4">
            <a:extLst>
              <a:ext uri="{FF2B5EF4-FFF2-40B4-BE49-F238E27FC236}">
                <a16:creationId xmlns:a16="http://schemas.microsoft.com/office/drawing/2014/main" id="{4CE4B6B9-3B02-798C-CDA5-E2ED0753F032}"/>
              </a:ext>
            </a:extLst>
          </p:cNvPr>
          <p:cNvSpPr txBox="1"/>
          <p:nvPr/>
        </p:nvSpPr>
        <p:spPr>
          <a:xfrm>
            <a:off x="9576646" y="1474619"/>
            <a:ext cx="2615354" cy="3908762"/>
          </a:xfrm>
          <a:prstGeom prst="rect">
            <a:avLst/>
          </a:prstGeom>
          <a:noFill/>
        </p:spPr>
        <p:txBody>
          <a:bodyPr wrap="square" rtlCol="0">
            <a:spAutoFit/>
          </a:bodyPr>
          <a:lstStyle/>
          <a:p>
            <a:pPr marL="228600" indent="-228600" algn="just">
              <a:buFont typeface="+mj-lt"/>
              <a:buAutoNum type="alphaUcPeriod" startAt="6"/>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F.mkm</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deep to deep, cold areas with moderately low bottom oxygen and fair to high salinity, and moderate to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G.mkm</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6"/>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6"/>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H.mkm</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cold areas with very low bottom oxygen, moderate salinity, and high surface productivity. Overall biomass is very high, biomass of the five commercially important species is moderate,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is very intense, and shipping traffic is fair. Strong anthropogenic influence with a marked presence of military areas.</a:t>
            </a:r>
          </a:p>
        </p:txBody>
      </p:sp>
      <p:sp>
        <p:nvSpPr>
          <p:cNvPr id="6" name="CasellaDiTesto 5">
            <a:extLst>
              <a:ext uri="{FF2B5EF4-FFF2-40B4-BE49-F238E27FC236}">
                <a16:creationId xmlns:a16="http://schemas.microsoft.com/office/drawing/2014/main" id="{64722CE6-181D-744C-CF59-00054310DD92}"/>
              </a:ext>
            </a:extLst>
          </p:cNvPr>
          <p:cNvSpPr txBox="1"/>
          <p:nvPr/>
        </p:nvSpPr>
        <p:spPr>
          <a:xfrm>
            <a:off x="4554948" y="3176241"/>
            <a:ext cx="774198"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2" name="CasellaDiTesto 11">
            <a:extLst>
              <a:ext uri="{FF2B5EF4-FFF2-40B4-BE49-F238E27FC236}">
                <a16:creationId xmlns:a16="http://schemas.microsoft.com/office/drawing/2014/main" id="{DB8E7838-F851-35E1-CAE4-DD8092ED206B}"/>
              </a:ext>
            </a:extLst>
          </p:cNvPr>
          <p:cNvSpPr txBox="1"/>
          <p:nvPr/>
        </p:nvSpPr>
        <p:spPr>
          <a:xfrm>
            <a:off x="2961296" y="2837379"/>
            <a:ext cx="762917"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3" name="CasellaDiTesto 12">
            <a:extLst>
              <a:ext uri="{FF2B5EF4-FFF2-40B4-BE49-F238E27FC236}">
                <a16:creationId xmlns:a16="http://schemas.microsoft.com/office/drawing/2014/main" id="{3A958D7B-026D-2F2E-63AD-B94EDFDA3714}"/>
              </a:ext>
            </a:extLst>
          </p:cNvPr>
          <p:cNvSpPr txBox="1"/>
          <p:nvPr/>
        </p:nvSpPr>
        <p:spPr>
          <a:xfrm>
            <a:off x="5724915" y="2713842"/>
            <a:ext cx="925553"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4" name="CasellaDiTesto 13">
            <a:extLst>
              <a:ext uri="{FF2B5EF4-FFF2-40B4-BE49-F238E27FC236}">
                <a16:creationId xmlns:a16="http://schemas.microsoft.com/office/drawing/2014/main" id="{C70E054D-3D7A-98EF-8CE4-85FCE2E23275}"/>
              </a:ext>
            </a:extLst>
          </p:cNvPr>
          <p:cNvSpPr txBox="1"/>
          <p:nvPr/>
        </p:nvSpPr>
        <p:spPr>
          <a:xfrm>
            <a:off x="5181134" y="2733347"/>
            <a:ext cx="902047"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5" name="CasellaDiTesto 14">
            <a:extLst>
              <a:ext uri="{FF2B5EF4-FFF2-40B4-BE49-F238E27FC236}">
                <a16:creationId xmlns:a16="http://schemas.microsoft.com/office/drawing/2014/main" id="{E5636665-75D6-A4E5-1732-F9D08082CC5C}"/>
              </a:ext>
            </a:extLst>
          </p:cNvPr>
          <p:cNvSpPr txBox="1"/>
          <p:nvPr/>
        </p:nvSpPr>
        <p:spPr>
          <a:xfrm>
            <a:off x="6409983" y="2585095"/>
            <a:ext cx="902047"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6" name="CasellaDiTesto 15">
            <a:extLst>
              <a:ext uri="{FF2B5EF4-FFF2-40B4-BE49-F238E27FC236}">
                <a16:creationId xmlns:a16="http://schemas.microsoft.com/office/drawing/2014/main" id="{3D3F47B9-98A5-A66F-6169-5A4F6CD809A0}"/>
              </a:ext>
            </a:extLst>
          </p:cNvPr>
          <p:cNvSpPr txBox="1"/>
          <p:nvPr/>
        </p:nvSpPr>
        <p:spPr>
          <a:xfrm>
            <a:off x="5598834" y="3190458"/>
            <a:ext cx="968693"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7" name="CasellaDiTesto 16">
            <a:extLst>
              <a:ext uri="{FF2B5EF4-FFF2-40B4-BE49-F238E27FC236}">
                <a16:creationId xmlns:a16="http://schemas.microsoft.com/office/drawing/2014/main" id="{909912C3-9FCD-E0E5-8FC7-1DD4D23A1961}"/>
              </a:ext>
            </a:extLst>
          </p:cNvPr>
          <p:cNvSpPr txBox="1"/>
          <p:nvPr/>
        </p:nvSpPr>
        <p:spPr>
          <a:xfrm>
            <a:off x="6310567" y="3314371"/>
            <a:ext cx="866031"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8" name="CasellaDiTesto 17">
            <a:extLst>
              <a:ext uri="{FF2B5EF4-FFF2-40B4-BE49-F238E27FC236}">
                <a16:creationId xmlns:a16="http://schemas.microsoft.com/office/drawing/2014/main" id="{EA2F4521-F67D-277E-99E8-705636020E7C}"/>
              </a:ext>
            </a:extLst>
          </p:cNvPr>
          <p:cNvSpPr txBox="1"/>
          <p:nvPr/>
        </p:nvSpPr>
        <p:spPr>
          <a:xfrm>
            <a:off x="6627393" y="3499317"/>
            <a:ext cx="963796" cy="230832"/>
          </a:xfrm>
          <a:prstGeom prst="rect">
            <a:avLst/>
          </a:prstGeom>
          <a:noFill/>
        </p:spPr>
        <p:txBody>
          <a:bodyPr wrap="square" rtlCol="0">
            <a:spAutoFit/>
          </a:bodyPr>
          <a:lstStyle/>
          <a:p>
            <a:pPr algn="ctr"/>
            <a:r>
              <a:rPr lang="it-IT" sz="900" b="1" dirty="0" err="1">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H.mkm</a:t>
            </a:r>
            <a:endParaRPr lang="it-IT" sz="9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3425905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po 3">
            <a:extLst>
              <a:ext uri="{FF2B5EF4-FFF2-40B4-BE49-F238E27FC236}">
                <a16:creationId xmlns:a16="http://schemas.microsoft.com/office/drawing/2014/main" id="{496C54E1-97F8-26D3-471A-1C78752469C2}"/>
              </a:ext>
            </a:extLst>
          </p:cNvPr>
          <p:cNvGrpSpPr/>
          <p:nvPr/>
        </p:nvGrpSpPr>
        <p:grpSpPr>
          <a:xfrm>
            <a:off x="0" y="0"/>
            <a:ext cx="9697986" cy="6858000"/>
            <a:chOff x="0" y="0"/>
            <a:chExt cx="9697986" cy="6858000"/>
          </a:xfrm>
        </p:grpSpPr>
        <p:pic>
          <p:nvPicPr>
            <p:cNvPr id="11" name="Immagine 10" descr="Immagine che contiene mappa, testo, diagramma&#10;&#10;Descrizione generata automaticamente">
              <a:extLst>
                <a:ext uri="{FF2B5EF4-FFF2-40B4-BE49-F238E27FC236}">
                  <a16:creationId xmlns:a16="http://schemas.microsoft.com/office/drawing/2014/main" id="{E0DBD1B4-7D7D-3242-1E76-F5DB3B0EF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96523605-196C-2B6D-0397-9A0FA6AF8A01}"/>
                </a:ext>
              </a:extLst>
            </p:cNvPr>
            <p:cNvSpPr txBox="1"/>
            <p:nvPr/>
          </p:nvSpPr>
          <p:spPr>
            <a:xfrm>
              <a:off x="5262271" y="4503303"/>
              <a:ext cx="3625018"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3" name="CasellaDiTesto 2">
            <a:extLst>
              <a:ext uri="{FF2B5EF4-FFF2-40B4-BE49-F238E27FC236}">
                <a16:creationId xmlns:a16="http://schemas.microsoft.com/office/drawing/2014/main" id="{B5B3E04E-E33D-0304-974A-9728031744C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3"/>
                </a:solidFill>
                <a:latin typeface="MS Shell Dlg 2" panose="020B0604030504040204" pitchFamily="34" charset="0"/>
                <a:ea typeface="MS Shell Dlg 2" panose="020B0604030504040204" pitchFamily="34" charset="0"/>
                <a:cs typeface="MS Shell Dlg 2" panose="020B0604030504040204" pitchFamily="34" charset="0"/>
              </a:rPr>
              <a:t>1</a:t>
            </a:r>
          </a:p>
        </p:txBody>
      </p:sp>
      <p:sp>
        <p:nvSpPr>
          <p:cNvPr id="24" name="CasellaDiTesto 23">
            <a:extLst>
              <a:ext uri="{FF2B5EF4-FFF2-40B4-BE49-F238E27FC236}">
                <a16:creationId xmlns:a16="http://schemas.microsoft.com/office/drawing/2014/main" id="{10B4AF2B-37D6-9273-11E5-FBE60E82C0CC}"/>
              </a:ext>
            </a:extLst>
          </p:cNvPr>
          <p:cNvSpPr txBox="1"/>
          <p:nvPr/>
        </p:nvSpPr>
        <p:spPr>
          <a:xfrm>
            <a:off x="4273687" y="2755791"/>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A.vae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6" name="CasellaDiTesto 25">
            <a:extLst>
              <a:ext uri="{FF2B5EF4-FFF2-40B4-BE49-F238E27FC236}">
                <a16:creationId xmlns:a16="http://schemas.microsoft.com/office/drawing/2014/main" id="{56C1464F-3787-AE67-C0E6-909AB56FDE32}"/>
              </a:ext>
            </a:extLst>
          </p:cNvPr>
          <p:cNvSpPr txBox="1"/>
          <p:nvPr/>
        </p:nvSpPr>
        <p:spPr>
          <a:xfrm>
            <a:off x="4746455" y="3208331"/>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E.vae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7" name="CasellaDiTesto 26">
            <a:extLst>
              <a:ext uri="{FF2B5EF4-FFF2-40B4-BE49-F238E27FC236}">
                <a16:creationId xmlns:a16="http://schemas.microsoft.com/office/drawing/2014/main" id="{686ABE71-85FE-A3CF-8168-8DCE84F920F3}"/>
              </a:ext>
            </a:extLst>
          </p:cNvPr>
          <p:cNvSpPr txBox="1"/>
          <p:nvPr/>
        </p:nvSpPr>
        <p:spPr>
          <a:xfrm>
            <a:off x="5795078" y="3092915"/>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F.vae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8" name="CasellaDiTesto 27">
            <a:extLst>
              <a:ext uri="{FF2B5EF4-FFF2-40B4-BE49-F238E27FC236}">
                <a16:creationId xmlns:a16="http://schemas.microsoft.com/office/drawing/2014/main" id="{85CB7770-60CA-775E-7829-3C58F4F3244F}"/>
              </a:ext>
            </a:extLst>
          </p:cNvPr>
          <p:cNvSpPr txBox="1"/>
          <p:nvPr/>
        </p:nvSpPr>
        <p:spPr>
          <a:xfrm>
            <a:off x="6530806" y="2613289"/>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C.vae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9" name="CasellaDiTesto 28">
            <a:extLst>
              <a:ext uri="{FF2B5EF4-FFF2-40B4-BE49-F238E27FC236}">
                <a16:creationId xmlns:a16="http://schemas.microsoft.com/office/drawing/2014/main" id="{32D210F1-A830-31B9-38C2-F2C85294A110}"/>
              </a:ext>
            </a:extLst>
          </p:cNvPr>
          <p:cNvSpPr txBox="1"/>
          <p:nvPr/>
        </p:nvSpPr>
        <p:spPr>
          <a:xfrm>
            <a:off x="6396923" y="3281551"/>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G.vae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30" name="CasellaDiTesto 29">
            <a:extLst>
              <a:ext uri="{FF2B5EF4-FFF2-40B4-BE49-F238E27FC236}">
                <a16:creationId xmlns:a16="http://schemas.microsoft.com/office/drawing/2014/main" id="{F3DB69C9-8341-1E94-29E5-48CE74B655A5}"/>
              </a:ext>
            </a:extLst>
          </p:cNvPr>
          <p:cNvSpPr txBox="1"/>
          <p:nvPr/>
        </p:nvSpPr>
        <p:spPr>
          <a:xfrm>
            <a:off x="6851198" y="3273169"/>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H.vae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31" name="CasellaDiTesto 30">
            <a:extLst>
              <a:ext uri="{FF2B5EF4-FFF2-40B4-BE49-F238E27FC236}">
                <a16:creationId xmlns:a16="http://schemas.microsoft.com/office/drawing/2014/main" id="{9455D5EC-FF1C-0CC9-2AEF-B052185B1AD7}"/>
              </a:ext>
            </a:extLst>
          </p:cNvPr>
          <p:cNvSpPr txBox="1"/>
          <p:nvPr/>
        </p:nvSpPr>
        <p:spPr>
          <a:xfrm>
            <a:off x="7532569" y="2474789"/>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D.vae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33" name="CasellaDiTesto 32">
            <a:extLst>
              <a:ext uri="{FF2B5EF4-FFF2-40B4-BE49-F238E27FC236}">
                <a16:creationId xmlns:a16="http://schemas.microsoft.com/office/drawing/2014/main" id="{4C5A5069-E28A-0517-8F55-6247E4B4B04C}"/>
              </a:ext>
            </a:extLst>
          </p:cNvPr>
          <p:cNvSpPr txBox="1"/>
          <p:nvPr/>
        </p:nvSpPr>
        <p:spPr>
          <a:xfrm>
            <a:off x="4966197" y="2713826"/>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B.vae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44" name="CasellaDiTesto 43">
            <a:extLst>
              <a:ext uri="{FF2B5EF4-FFF2-40B4-BE49-F238E27FC236}">
                <a16:creationId xmlns:a16="http://schemas.microsoft.com/office/drawing/2014/main" id="{A583B5CE-4F70-3B8D-C41A-A279CBF82547}"/>
              </a:ext>
            </a:extLst>
          </p:cNvPr>
          <p:cNvSpPr txBox="1"/>
          <p:nvPr/>
        </p:nvSpPr>
        <p:spPr>
          <a:xfrm>
            <a:off x="9576646" y="674400"/>
            <a:ext cx="2615354" cy="5509200"/>
          </a:xfrm>
          <a:prstGeom prst="rect">
            <a:avLst/>
          </a:prstGeom>
          <a:noFill/>
        </p:spPr>
        <p:txBody>
          <a:bodyPr wrap="square" rtlCol="0">
            <a:spAutoFit/>
          </a:bodyPr>
          <a:lstStyle/>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A.vae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deep areas with cool to moderately cold bottom temperatures, low bottom salinity, and fair to moderate surface productivity. High bottom oxygen levels. Very high overall biomass, with high biomass of the five commercially important species. Moderate to high fishing activity and fair to moderate shipping traffic. Strong anthropogenic influence, with a marked presence of military areas. Partly hard-rock seafloor.</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B.vae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deep areas with cold bottom temperatures, low salinity, and low to fairly moderate surface productivity. High bottom oxygen levels. Very high overall biomass, low biomass of the five commercially important species, and moderate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ranges from fair to high, and shipping traffic from fair to high. Strong anthropogenic influence with a marked presence of military areas. Presence of hard-bottom seafloor.</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C.vae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cold areas with very low bottom oxygen, moderate to high salinity, and low surface productivity. Overall biomass is very high, while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 </a:t>
            </a:r>
            <a:r>
              <a:rPr lang="en-US" sz="800" dirty="0">
                <a:latin typeface="MS Shell Dlg 2" panose="020B0604030504040204" pitchFamily="34" charset="0"/>
                <a:ea typeface="MS Shell Dlg 2" panose="020B0604030504040204" pitchFamily="34" charset="0"/>
                <a:cs typeface="MS Shell Dlg 2" panose="020B0604030504040204" pitchFamily="34" charset="0"/>
              </a:rPr>
              <a:t>is low. Fishing activity is low to fair, and shipping traffic is moderate. Strong anthropogenic influence with a marked presence of dumping sites and very few wind farms.</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D.vae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Shallow areas with moderately cold temperatures, moderate to high surface productivity, low salinity, and very high bottom oxygen levels. Overall biomass ranges from moderate to high, with moderate biomass of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low, while shipping traffic is very intense. Strong anthropogenic influence with a marked presence of military areas. Partly hard-bottom seafloor.</a:t>
            </a:r>
          </a:p>
          <a:p>
            <a:pPr marL="228600" indent="-228600" algn="just">
              <a:buFont typeface="+mj-lt"/>
              <a:buAutoNum type="alphaUcPeriod"/>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2493968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po 3">
            <a:extLst>
              <a:ext uri="{FF2B5EF4-FFF2-40B4-BE49-F238E27FC236}">
                <a16:creationId xmlns:a16="http://schemas.microsoft.com/office/drawing/2014/main" id="{49B6E393-3A96-E298-4F9B-594FB1E35352}"/>
              </a:ext>
            </a:extLst>
          </p:cNvPr>
          <p:cNvGrpSpPr/>
          <p:nvPr/>
        </p:nvGrpSpPr>
        <p:grpSpPr>
          <a:xfrm>
            <a:off x="0" y="0"/>
            <a:ext cx="9697986" cy="6858000"/>
            <a:chOff x="0" y="0"/>
            <a:chExt cx="9697986" cy="6858000"/>
          </a:xfrm>
        </p:grpSpPr>
        <p:pic>
          <p:nvPicPr>
            <p:cNvPr id="11" name="Immagine 10" descr="Immagine che contiene mappa, testo, diagramma&#10;&#10;Descrizione generata automaticamente">
              <a:extLst>
                <a:ext uri="{FF2B5EF4-FFF2-40B4-BE49-F238E27FC236}">
                  <a16:creationId xmlns:a16="http://schemas.microsoft.com/office/drawing/2014/main" id="{E0DBD1B4-7D7D-3242-1E76-F5DB3B0EF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 name="CasellaDiTesto 1">
              <a:extLst>
                <a:ext uri="{FF2B5EF4-FFF2-40B4-BE49-F238E27FC236}">
                  <a16:creationId xmlns:a16="http://schemas.microsoft.com/office/drawing/2014/main" id="{96523605-196C-2B6D-0397-9A0FA6AF8A01}"/>
                </a:ext>
              </a:extLst>
            </p:cNvPr>
            <p:cNvSpPr txBox="1"/>
            <p:nvPr/>
          </p:nvSpPr>
          <p:spPr>
            <a:xfrm>
              <a:off x="5262271" y="4503303"/>
              <a:ext cx="3625018" cy="861774"/>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3" name="CasellaDiTesto 2">
            <a:extLst>
              <a:ext uri="{FF2B5EF4-FFF2-40B4-BE49-F238E27FC236}">
                <a16:creationId xmlns:a16="http://schemas.microsoft.com/office/drawing/2014/main" id="{722B5D7A-ED4E-4646-3B4E-C763F9D2A40E}"/>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3"/>
                </a:solidFill>
                <a:latin typeface="MS Shell Dlg 2" panose="020B0604030504040204" pitchFamily="34" charset="0"/>
                <a:ea typeface="MS Shell Dlg 2" panose="020B0604030504040204" pitchFamily="34" charset="0"/>
                <a:cs typeface="MS Shell Dlg 2" panose="020B0604030504040204" pitchFamily="34" charset="0"/>
              </a:rPr>
              <a:t>2</a:t>
            </a:r>
          </a:p>
        </p:txBody>
      </p:sp>
      <p:sp>
        <p:nvSpPr>
          <p:cNvPr id="41" name="CasellaDiTesto 40">
            <a:extLst>
              <a:ext uri="{FF2B5EF4-FFF2-40B4-BE49-F238E27FC236}">
                <a16:creationId xmlns:a16="http://schemas.microsoft.com/office/drawing/2014/main" id="{0E3E77AC-56DF-A69B-5720-562B61FDF488}"/>
              </a:ext>
            </a:extLst>
          </p:cNvPr>
          <p:cNvSpPr txBox="1"/>
          <p:nvPr/>
        </p:nvSpPr>
        <p:spPr>
          <a:xfrm>
            <a:off x="9576646" y="489734"/>
            <a:ext cx="2615354" cy="5878532"/>
          </a:xfrm>
          <a:prstGeom prst="rect">
            <a:avLst/>
          </a:prstGeom>
          <a:noFill/>
        </p:spPr>
        <p:txBody>
          <a:bodyPr wrap="square" rtlCol="0">
            <a:spAutoFit/>
          </a:bodyPr>
          <a:lstStyle/>
          <a:p>
            <a:pPr marL="228600" indent="-228600" algn="just">
              <a:buFont typeface="+mj-lt"/>
              <a:buAutoNum type="alphaUcPeriod" startAt="5"/>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E.vae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a:t>
            </a:r>
          </a:p>
          <a:p>
            <a:pPr marL="228600" indent="-228600" algn="just">
              <a:buFont typeface="+mj-lt"/>
              <a:buAutoNum type="alphaUcPeriod" startAt="5"/>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5"/>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F.vae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deep to deep, cold areas with moderately low bottom oxygen and fair to high salinity, and moderate to high surface productivity. Overall biomass is high, with high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a:t>
            </a:r>
          </a:p>
          <a:p>
            <a:pPr marL="228600" indent="-228600" algn="just">
              <a:buFont typeface="+mj-lt"/>
              <a:buAutoNum type="alphaUcPeriod" startAt="5"/>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5"/>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G.vae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cold areas with moderate to high bottom oxygen depletion and fair to moderate salinity, and high surface productivity. Overall biomass is high, with high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a:t>
            </a:r>
          </a:p>
          <a:p>
            <a:pPr marL="228600" indent="-228600" algn="just">
              <a:buFont typeface="+mj-lt"/>
              <a:buAutoNum type="alphaUcPeriod" startAt="5"/>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5"/>
            </a:pPr>
            <a:r>
              <a:rPr lang="en-US" sz="800" b="1" dirty="0" err="1">
                <a:solidFill>
                  <a:srgbClr val="FF0000"/>
                </a:solidFill>
                <a:latin typeface="MS Shell Dlg 2" panose="020B0604030504040204" pitchFamily="34" charset="0"/>
                <a:ea typeface="MS Shell Dlg 2" panose="020B0604030504040204" pitchFamily="34" charset="0"/>
                <a:cs typeface="MS Shell Dlg 2" panose="020B0604030504040204" pitchFamily="34" charset="0"/>
              </a:rPr>
              <a:t>H.vae</a:t>
            </a:r>
            <a:r>
              <a:rPr lang="en-US" sz="800" dirty="0">
                <a:latin typeface="MS Shell Dlg 2" panose="020B0604030504040204" pitchFamily="34" charset="0"/>
                <a:ea typeface="MS Shell Dlg 2" panose="020B0604030504040204" pitchFamily="34" charset="0"/>
                <a:cs typeface="MS Shell Dlg 2" panose="020B0604030504040204" pitchFamily="34" charset="0"/>
              </a:rPr>
              <a:t>	Very deep, cold areas with extremely low bottom oxygen, moderate salinity, and moderate to high surface productivity. Overall biomass is fairly moderate, with fair to low biomass of the five commercially important species and moderate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intense, and shipping traffic is high.</a:t>
            </a:r>
          </a:p>
          <a:p>
            <a:pPr marL="228600" indent="-228600" algn="just">
              <a:buFont typeface="+mj-lt"/>
              <a:buAutoNum type="alphaUcPeriod" startAt="5"/>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marL="228600" indent="-228600" algn="just">
              <a:buFont typeface="+mj-lt"/>
              <a:buAutoNum type="alphaUcPeriod" startAt="5"/>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4" name="CasellaDiTesto 13">
            <a:extLst>
              <a:ext uri="{FF2B5EF4-FFF2-40B4-BE49-F238E27FC236}">
                <a16:creationId xmlns:a16="http://schemas.microsoft.com/office/drawing/2014/main" id="{B218C20B-3B80-3C17-B66C-CC87EE998431}"/>
              </a:ext>
            </a:extLst>
          </p:cNvPr>
          <p:cNvSpPr txBox="1"/>
          <p:nvPr/>
        </p:nvSpPr>
        <p:spPr>
          <a:xfrm>
            <a:off x="4273687" y="2755791"/>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A.vae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5" name="CasellaDiTesto 14">
            <a:extLst>
              <a:ext uri="{FF2B5EF4-FFF2-40B4-BE49-F238E27FC236}">
                <a16:creationId xmlns:a16="http://schemas.microsoft.com/office/drawing/2014/main" id="{07EF9F63-60BD-426B-824A-54440DB8EE02}"/>
              </a:ext>
            </a:extLst>
          </p:cNvPr>
          <p:cNvSpPr txBox="1"/>
          <p:nvPr/>
        </p:nvSpPr>
        <p:spPr>
          <a:xfrm>
            <a:off x="4746455" y="3208331"/>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E.vae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6" name="CasellaDiTesto 15">
            <a:extLst>
              <a:ext uri="{FF2B5EF4-FFF2-40B4-BE49-F238E27FC236}">
                <a16:creationId xmlns:a16="http://schemas.microsoft.com/office/drawing/2014/main" id="{1A81CC62-032A-3D75-11C8-531F426A5CC5}"/>
              </a:ext>
            </a:extLst>
          </p:cNvPr>
          <p:cNvSpPr txBox="1"/>
          <p:nvPr/>
        </p:nvSpPr>
        <p:spPr>
          <a:xfrm>
            <a:off x="5795078" y="3092915"/>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F.vae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7" name="CasellaDiTesto 16">
            <a:extLst>
              <a:ext uri="{FF2B5EF4-FFF2-40B4-BE49-F238E27FC236}">
                <a16:creationId xmlns:a16="http://schemas.microsoft.com/office/drawing/2014/main" id="{01FE5991-0C6D-EB8C-C235-7503F1796AEB}"/>
              </a:ext>
            </a:extLst>
          </p:cNvPr>
          <p:cNvSpPr txBox="1"/>
          <p:nvPr/>
        </p:nvSpPr>
        <p:spPr>
          <a:xfrm>
            <a:off x="6530806" y="2613289"/>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C.vae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8" name="CasellaDiTesto 17">
            <a:extLst>
              <a:ext uri="{FF2B5EF4-FFF2-40B4-BE49-F238E27FC236}">
                <a16:creationId xmlns:a16="http://schemas.microsoft.com/office/drawing/2014/main" id="{CBF9687F-04B5-4911-013D-2023AC16ED3C}"/>
              </a:ext>
            </a:extLst>
          </p:cNvPr>
          <p:cNvSpPr txBox="1"/>
          <p:nvPr/>
        </p:nvSpPr>
        <p:spPr>
          <a:xfrm>
            <a:off x="6396923" y="3281551"/>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G.vae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19" name="CasellaDiTesto 18">
            <a:extLst>
              <a:ext uri="{FF2B5EF4-FFF2-40B4-BE49-F238E27FC236}">
                <a16:creationId xmlns:a16="http://schemas.microsoft.com/office/drawing/2014/main" id="{76A595D8-90D2-D4F1-7C4C-18BDFDC1FCAE}"/>
              </a:ext>
            </a:extLst>
          </p:cNvPr>
          <p:cNvSpPr txBox="1"/>
          <p:nvPr/>
        </p:nvSpPr>
        <p:spPr>
          <a:xfrm>
            <a:off x="6851198" y="3273169"/>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H.vae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20" name="CasellaDiTesto 19">
            <a:extLst>
              <a:ext uri="{FF2B5EF4-FFF2-40B4-BE49-F238E27FC236}">
                <a16:creationId xmlns:a16="http://schemas.microsoft.com/office/drawing/2014/main" id="{B5CE68E0-CD72-FD51-B05A-E2F10CF35C81}"/>
              </a:ext>
            </a:extLst>
          </p:cNvPr>
          <p:cNvSpPr txBox="1"/>
          <p:nvPr/>
        </p:nvSpPr>
        <p:spPr>
          <a:xfrm>
            <a:off x="7532569" y="2474789"/>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D.vae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
        <p:nvSpPr>
          <p:cNvPr id="36" name="CasellaDiTesto 35">
            <a:extLst>
              <a:ext uri="{FF2B5EF4-FFF2-40B4-BE49-F238E27FC236}">
                <a16:creationId xmlns:a16="http://schemas.microsoft.com/office/drawing/2014/main" id="{2AE42FB2-B375-D827-3D25-D4D6705CB87E}"/>
              </a:ext>
            </a:extLst>
          </p:cNvPr>
          <p:cNvSpPr txBox="1"/>
          <p:nvPr/>
        </p:nvSpPr>
        <p:spPr>
          <a:xfrm>
            <a:off x="4966197" y="2713826"/>
            <a:ext cx="659056" cy="230832"/>
          </a:xfrm>
          <a:prstGeom prst="rect">
            <a:avLst/>
          </a:prstGeom>
          <a:noFill/>
        </p:spPr>
        <p:txBody>
          <a:bodyPr wrap="square" rtlCol="0">
            <a:spAutoFit/>
          </a:bodyPr>
          <a:lstStyle/>
          <a:p>
            <a:pPr algn="ctr"/>
            <a:r>
              <a:rPr lang="it-IT" sz="900" b="1" dirty="0" err="1">
                <a:latin typeface="MS Shell Dlg 2" panose="020B0604030504040204" pitchFamily="34" charset="0"/>
                <a:ea typeface="MS Shell Dlg 2" panose="020B0604030504040204" pitchFamily="34" charset="0"/>
                <a:cs typeface="MS Shell Dlg 2" panose="020B0604030504040204" pitchFamily="34" charset="0"/>
              </a:rPr>
              <a:t>B.vae</a:t>
            </a:r>
            <a:endParaRPr lang="it-IT" sz="900" b="1" dirty="0">
              <a:latin typeface="MS Shell Dlg 2" panose="020B0604030504040204" pitchFamily="34" charset="0"/>
              <a:ea typeface="MS Shell Dlg 2" panose="020B0604030504040204" pitchFamily="34" charset="0"/>
              <a:cs typeface="MS Shell Dlg 2" panose="020B0604030504040204" pitchFamily="34" charset="0"/>
            </a:endParaRPr>
          </a:p>
        </p:txBody>
      </p:sp>
    </p:spTree>
    <p:extLst>
      <p:ext uri="{BB962C8B-B14F-4D97-AF65-F5344CB8AC3E}">
        <p14:creationId xmlns:p14="http://schemas.microsoft.com/office/powerpoint/2010/main" val="4036424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AEB21A37-5A73-BD4F-308C-B4DF8610B22C}"/>
              </a:ext>
            </a:extLst>
          </p:cNvPr>
          <p:cNvSpPr txBox="1"/>
          <p:nvPr/>
        </p:nvSpPr>
        <p:spPr>
          <a:xfrm>
            <a:off x="11901445" y="6577096"/>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1</a:t>
            </a:r>
          </a:p>
        </p:txBody>
      </p:sp>
      <p:grpSp>
        <p:nvGrpSpPr>
          <p:cNvPr id="18" name="Gruppo 17">
            <a:extLst>
              <a:ext uri="{FF2B5EF4-FFF2-40B4-BE49-F238E27FC236}">
                <a16:creationId xmlns:a16="http://schemas.microsoft.com/office/drawing/2014/main" id="{E635BA56-E4FA-A25B-103A-DF07C7C0C285}"/>
              </a:ext>
            </a:extLst>
          </p:cNvPr>
          <p:cNvGrpSpPr/>
          <p:nvPr/>
        </p:nvGrpSpPr>
        <p:grpSpPr>
          <a:xfrm>
            <a:off x="0" y="0"/>
            <a:ext cx="9697986" cy="6858000"/>
            <a:chOff x="0" y="0"/>
            <a:chExt cx="9697986" cy="6858000"/>
          </a:xfrm>
        </p:grpSpPr>
        <p:grpSp>
          <p:nvGrpSpPr>
            <p:cNvPr id="4" name="Gruppo 3">
              <a:extLst>
                <a:ext uri="{FF2B5EF4-FFF2-40B4-BE49-F238E27FC236}">
                  <a16:creationId xmlns:a16="http://schemas.microsoft.com/office/drawing/2014/main" id="{E03943D9-BAFC-8090-A679-30D4D9D23FC0}"/>
                </a:ext>
              </a:extLst>
            </p:cNvPr>
            <p:cNvGrpSpPr/>
            <p:nvPr/>
          </p:nvGrpSpPr>
          <p:grpSpPr>
            <a:xfrm>
              <a:off x="0" y="0"/>
              <a:ext cx="9697986" cy="6858000"/>
              <a:chOff x="0" y="0"/>
              <a:chExt cx="9697986" cy="6858000"/>
            </a:xfrm>
          </p:grpSpPr>
          <p:pic>
            <p:nvPicPr>
              <p:cNvPr id="13" name="Immagine 12" descr="Immagine che contiene mappa, testo, diagramma&#10;&#10;Descrizione generata automaticamente">
                <a:extLst>
                  <a:ext uri="{FF2B5EF4-FFF2-40B4-BE49-F238E27FC236}">
                    <a16:creationId xmlns:a16="http://schemas.microsoft.com/office/drawing/2014/main" id="{14752B7B-CE35-B1A3-768B-EC78DBC46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3" name="CasellaDiTesto 2">
                <a:extLst>
                  <a:ext uri="{FF2B5EF4-FFF2-40B4-BE49-F238E27FC236}">
                    <a16:creationId xmlns:a16="http://schemas.microsoft.com/office/drawing/2014/main" id="{05A9E515-B4BC-19BB-E3CD-6F0CA75ECB87}"/>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58" name="CasellaDiTesto 57">
              <a:extLst>
                <a:ext uri="{FF2B5EF4-FFF2-40B4-BE49-F238E27FC236}">
                  <a16:creationId xmlns:a16="http://schemas.microsoft.com/office/drawing/2014/main" id="{09FA1F4D-2BDB-C783-1BF2-B82C87487436}"/>
                </a:ext>
              </a:extLst>
            </p:cNvPr>
            <p:cNvSpPr txBox="1"/>
            <p:nvPr/>
          </p:nvSpPr>
          <p:spPr>
            <a:xfrm>
              <a:off x="3100837" y="290998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5" name="CasellaDiTesto 4">
              <a:extLst>
                <a:ext uri="{FF2B5EF4-FFF2-40B4-BE49-F238E27FC236}">
                  <a16:creationId xmlns:a16="http://schemas.microsoft.com/office/drawing/2014/main" id="{970D4E58-716A-F943-938F-F38318522396}"/>
                </a:ext>
              </a:extLst>
            </p:cNvPr>
            <p:cNvSpPr txBox="1"/>
            <p:nvPr/>
          </p:nvSpPr>
          <p:spPr>
            <a:xfrm>
              <a:off x="4514771" y="280203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6" name="CasellaDiTesto 5">
              <a:extLst>
                <a:ext uri="{FF2B5EF4-FFF2-40B4-BE49-F238E27FC236}">
                  <a16:creationId xmlns:a16="http://schemas.microsoft.com/office/drawing/2014/main" id="{08E0EE2F-A489-E240-B470-48BA6269835E}"/>
                </a:ext>
              </a:extLst>
            </p:cNvPr>
            <p:cNvSpPr txBox="1"/>
            <p:nvPr/>
          </p:nvSpPr>
          <p:spPr>
            <a:xfrm>
              <a:off x="5069274" y="2691963"/>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9" name="CasellaDiTesto 8">
              <a:extLst>
                <a:ext uri="{FF2B5EF4-FFF2-40B4-BE49-F238E27FC236}">
                  <a16:creationId xmlns:a16="http://schemas.microsoft.com/office/drawing/2014/main" id="{5346DBC6-A4CB-2360-774D-3E0680A73DEC}"/>
                </a:ext>
              </a:extLst>
            </p:cNvPr>
            <p:cNvSpPr txBox="1"/>
            <p:nvPr/>
          </p:nvSpPr>
          <p:spPr>
            <a:xfrm>
              <a:off x="6092969" y="2676709"/>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10" name="CasellaDiTesto 9">
              <a:extLst>
                <a:ext uri="{FF2B5EF4-FFF2-40B4-BE49-F238E27FC236}">
                  <a16:creationId xmlns:a16="http://schemas.microsoft.com/office/drawing/2014/main" id="{1B6C54DE-318D-0B66-B479-AE931217F1B7}"/>
                </a:ext>
              </a:extLst>
            </p:cNvPr>
            <p:cNvSpPr txBox="1"/>
            <p:nvPr/>
          </p:nvSpPr>
          <p:spPr>
            <a:xfrm>
              <a:off x="6668583" y="2584493"/>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11" name="CasellaDiTesto 10">
              <a:extLst>
                <a:ext uri="{FF2B5EF4-FFF2-40B4-BE49-F238E27FC236}">
                  <a16:creationId xmlns:a16="http://schemas.microsoft.com/office/drawing/2014/main" id="{136B3655-E632-C417-0731-9D87F048A97F}"/>
                </a:ext>
              </a:extLst>
            </p:cNvPr>
            <p:cNvSpPr txBox="1"/>
            <p:nvPr/>
          </p:nvSpPr>
          <p:spPr>
            <a:xfrm>
              <a:off x="5431917" y="2717601"/>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12" name="CasellaDiTesto 11">
              <a:extLst>
                <a:ext uri="{FF2B5EF4-FFF2-40B4-BE49-F238E27FC236}">
                  <a16:creationId xmlns:a16="http://schemas.microsoft.com/office/drawing/2014/main" id="{AFF2202D-E26D-752D-EC2D-BCB5968B0D2E}"/>
                </a:ext>
              </a:extLst>
            </p:cNvPr>
            <p:cNvSpPr txBox="1"/>
            <p:nvPr/>
          </p:nvSpPr>
          <p:spPr>
            <a:xfrm>
              <a:off x="7716477" y="2445993"/>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14" name="CasellaDiTesto 13">
              <a:extLst>
                <a:ext uri="{FF2B5EF4-FFF2-40B4-BE49-F238E27FC236}">
                  <a16:creationId xmlns:a16="http://schemas.microsoft.com/office/drawing/2014/main" id="{E86D3C14-A317-0286-4B71-262B10F09605}"/>
                </a:ext>
              </a:extLst>
            </p:cNvPr>
            <p:cNvSpPr txBox="1"/>
            <p:nvPr/>
          </p:nvSpPr>
          <p:spPr>
            <a:xfrm>
              <a:off x="4866137" y="3186979"/>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15" name="CasellaDiTesto 14">
              <a:extLst>
                <a:ext uri="{FF2B5EF4-FFF2-40B4-BE49-F238E27FC236}">
                  <a16:creationId xmlns:a16="http://schemas.microsoft.com/office/drawing/2014/main" id="{E5FBA812-E4AA-99AE-B580-FBE16A7E855D}"/>
                </a:ext>
              </a:extLst>
            </p:cNvPr>
            <p:cNvSpPr txBox="1"/>
            <p:nvPr/>
          </p:nvSpPr>
          <p:spPr>
            <a:xfrm>
              <a:off x="5967523" y="3105719"/>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I</a:t>
              </a:r>
            </a:p>
          </p:txBody>
        </p:sp>
        <p:sp>
          <p:nvSpPr>
            <p:cNvPr id="16" name="CasellaDiTesto 15">
              <a:extLst>
                <a:ext uri="{FF2B5EF4-FFF2-40B4-BE49-F238E27FC236}">
                  <a16:creationId xmlns:a16="http://schemas.microsoft.com/office/drawing/2014/main" id="{930357F8-6500-4F89-F1FE-0D566F82505D}"/>
                </a:ext>
              </a:extLst>
            </p:cNvPr>
            <p:cNvSpPr txBox="1"/>
            <p:nvPr/>
          </p:nvSpPr>
          <p:spPr>
            <a:xfrm>
              <a:off x="6585860" y="330227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17" name="CasellaDiTesto 16">
              <a:extLst>
                <a:ext uri="{FF2B5EF4-FFF2-40B4-BE49-F238E27FC236}">
                  <a16:creationId xmlns:a16="http://schemas.microsoft.com/office/drawing/2014/main" id="{023619AF-898F-5788-C32E-395339B18F2E}"/>
                </a:ext>
              </a:extLst>
            </p:cNvPr>
            <p:cNvSpPr txBox="1"/>
            <p:nvPr/>
          </p:nvSpPr>
          <p:spPr>
            <a:xfrm>
              <a:off x="6979450" y="32905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M</a:t>
              </a:r>
            </a:p>
          </p:txBody>
        </p:sp>
      </p:grpSp>
      <p:sp>
        <p:nvSpPr>
          <p:cNvPr id="23" name="CasellaDiTesto 22">
            <a:extLst>
              <a:ext uri="{FF2B5EF4-FFF2-40B4-BE49-F238E27FC236}">
                <a16:creationId xmlns:a16="http://schemas.microsoft.com/office/drawing/2014/main" id="{091FC683-6D47-D583-993F-D8CAB900DD63}"/>
              </a:ext>
            </a:extLst>
          </p:cNvPr>
          <p:cNvSpPr txBox="1"/>
          <p:nvPr/>
        </p:nvSpPr>
        <p:spPr>
          <a:xfrm>
            <a:off x="9601200" y="4986"/>
            <a:ext cx="2590832" cy="6848029"/>
          </a:xfrm>
          <a:prstGeom prst="rect">
            <a:avLst/>
          </a:prstGeom>
          <a:noFill/>
        </p:spPr>
        <p:txBody>
          <a:bodyPr wrap="square" rtlCol="0">
            <a:spAutoFit/>
          </a:bodyPr>
          <a:lstStyle/>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A.</a:t>
            </a:r>
            <a:r>
              <a:rPr lang="en-US" sz="800" dirty="0">
                <a:latin typeface="MS Shell Dlg 2" panose="020B0604030504040204" pitchFamily="34" charset="0"/>
                <a:ea typeface="MS Shell Dlg 2" panose="020B0604030504040204" pitchFamily="34" charset="0"/>
                <a:cs typeface="MS Shell Dlg 2" panose="020B0604030504040204" pitchFamily="34" charset="0"/>
              </a:rPr>
              <a:t>	Shallow, warm areas with moderate bottom oxygen, very high salinity, and very high surface productivity. High biomass across the general biodiversity,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moderate to high shipping traffic. Minor anthropogenic influence with minimal presence of wind farms, dumping sites, and military areas. Limited bedrock seabed.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A.mkm</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B.</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deep areas with cool to moderately cold bottom temperatures, low bottom salinity, and fair to moderate surface productivity. High bottom oxygen levels. Very high overall biomass, with high biomass of the five commercially important species. Moderate to high fishing activity and fair to moderate shipping traffic. Strong anthropogenic influence, with a marked presence of military areas. Partly hard-rock seafloor.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A.vae</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C.</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deep areas with cold bottom temperatures, low salinity, and low to fairly moderate surface productivity. High bottom oxygen levels. Very high overall biomass, low biomass of the five commercially important species, and moderate biomass of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ranges from fair to high, and shipping traffic from fair to high. Strong anthropogenic influence with a marked presence of military areas. Presence of hard-bottom seafloor.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B.vae</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D.</a:t>
            </a:r>
            <a:r>
              <a:rPr lang="en-US" sz="800" dirty="0">
                <a:latin typeface="MS Shell Dlg 2" panose="020B0604030504040204" pitchFamily="34" charset="0"/>
                <a:ea typeface="MS Shell Dlg 2" panose="020B0604030504040204" pitchFamily="34" charset="0"/>
                <a:cs typeface="MS Shell Dlg 2" panose="020B0604030504040204" pitchFamily="34" charset="0"/>
              </a:rPr>
              <a:t>	Relatively shallow, very cold areas with moderately low bottom oxygen and very low bottom salinity, and low surface productivity. Biomass is generally very high, while the five commercially important species range from moderate to high. Fair fishing activity and moderate shipping traffic. Moderate to high anthropogenic influence, with dumping sites and wind farms.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C.mkm</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E.</a:t>
            </a:r>
            <a:r>
              <a:rPr lang="en-US" sz="800" dirty="0">
                <a:latin typeface="MS Shell Dlg 2" panose="020B0604030504040204" pitchFamily="34" charset="0"/>
                <a:ea typeface="MS Shell Dlg 2" panose="020B0604030504040204" pitchFamily="34" charset="0"/>
                <a:cs typeface="MS Shell Dlg 2" panose="020B0604030504040204" pitchFamily="34" charset="0"/>
              </a:rPr>
              <a:t>	Very deep, very cold areas with extremely low bottom oxygen, low bottom salinity, and quite low surface productivity. Overall biomass is high, biomass of the five commercially important species is moderate,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biomass is high. Fishing activity ranges from fair to moderate, and shipping traffic is fair. Minor anthropogenic influence with the presence of wind farms.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D.mkm</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p>
        </p:txBody>
      </p:sp>
    </p:spTree>
    <p:extLst>
      <p:ext uri="{BB962C8B-B14F-4D97-AF65-F5344CB8AC3E}">
        <p14:creationId xmlns:p14="http://schemas.microsoft.com/office/powerpoint/2010/main" val="250655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AEB21A37-5A73-BD4F-308C-B4DF8610B22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2</a:t>
            </a:r>
          </a:p>
        </p:txBody>
      </p:sp>
      <p:grpSp>
        <p:nvGrpSpPr>
          <p:cNvPr id="8" name="Gruppo 7">
            <a:extLst>
              <a:ext uri="{FF2B5EF4-FFF2-40B4-BE49-F238E27FC236}">
                <a16:creationId xmlns:a16="http://schemas.microsoft.com/office/drawing/2014/main" id="{C2276953-D089-6237-54F5-028D3D8DECDF}"/>
              </a:ext>
            </a:extLst>
          </p:cNvPr>
          <p:cNvGrpSpPr/>
          <p:nvPr/>
        </p:nvGrpSpPr>
        <p:grpSpPr>
          <a:xfrm>
            <a:off x="0" y="0"/>
            <a:ext cx="9697986" cy="6858000"/>
            <a:chOff x="0" y="0"/>
            <a:chExt cx="9697986" cy="6858000"/>
          </a:xfrm>
        </p:grpSpPr>
        <p:grpSp>
          <p:nvGrpSpPr>
            <p:cNvPr id="9" name="Gruppo 8">
              <a:extLst>
                <a:ext uri="{FF2B5EF4-FFF2-40B4-BE49-F238E27FC236}">
                  <a16:creationId xmlns:a16="http://schemas.microsoft.com/office/drawing/2014/main" id="{E92F1B35-7E26-8E52-1DB8-A95AF27BF0AB}"/>
                </a:ext>
              </a:extLst>
            </p:cNvPr>
            <p:cNvGrpSpPr/>
            <p:nvPr/>
          </p:nvGrpSpPr>
          <p:grpSpPr>
            <a:xfrm>
              <a:off x="0" y="0"/>
              <a:ext cx="9697986" cy="6858000"/>
              <a:chOff x="0" y="0"/>
              <a:chExt cx="9697986" cy="6858000"/>
            </a:xfrm>
          </p:grpSpPr>
          <p:pic>
            <p:nvPicPr>
              <p:cNvPr id="22" name="Immagine 21" descr="Immagine che contiene mappa, testo, diagramma&#10;&#10;Descrizione generata automaticamente">
                <a:extLst>
                  <a:ext uri="{FF2B5EF4-FFF2-40B4-BE49-F238E27FC236}">
                    <a16:creationId xmlns:a16="http://schemas.microsoft.com/office/drawing/2014/main" id="{A682C379-CF64-9023-F310-A94DF528EF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3" name="CasellaDiTesto 22">
                <a:extLst>
                  <a:ext uri="{FF2B5EF4-FFF2-40B4-BE49-F238E27FC236}">
                    <a16:creationId xmlns:a16="http://schemas.microsoft.com/office/drawing/2014/main" id="{53EF469D-6648-D941-B1F9-21CE66356B3A}"/>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0" name="CasellaDiTesto 9">
              <a:extLst>
                <a:ext uri="{FF2B5EF4-FFF2-40B4-BE49-F238E27FC236}">
                  <a16:creationId xmlns:a16="http://schemas.microsoft.com/office/drawing/2014/main" id="{E28A3ED0-D0D0-84F3-A7E2-908A916B4419}"/>
                </a:ext>
              </a:extLst>
            </p:cNvPr>
            <p:cNvSpPr txBox="1"/>
            <p:nvPr/>
          </p:nvSpPr>
          <p:spPr>
            <a:xfrm>
              <a:off x="3100837" y="290998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11" name="CasellaDiTesto 10">
              <a:extLst>
                <a:ext uri="{FF2B5EF4-FFF2-40B4-BE49-F238E27FC236}">
                  <a16:creationId xmlns:a16="http://schemas.microsoft.com/office/drawing/2014/main" id="{D9585EC3-549D-73A4-3B9F-6B0D0B3F3D56}"/>
                </a:ext>
              </a:extLst>
            </p:cNvPr>
            <p:cNvSpPr txBox="1"/>
            <p:nvPr/>
          </p:nvSpPr>
          <p:spPr>
            <a:xfrm>
              <a:off x="4514771" y="280203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12" name="CasellaDiTesto 11">
              <a:extLst>
                <a:ext uri="{FF2B5EF4-FFF2-40B4-BE49-F238E27FC236}">
                  <a16:creationId xmlns:a16="http://schemas.microsoft.com/office/drawing/2014/main" id="{3834F630-03C2-00B7-63FF-23027DF385F4}"/>
                </a:ext>
              </a:extLst>
            </p:cNvPr>
            <p:cNvSpPr txBox="1"/>
            <p:nvPr/>
          </p:nvSpPr>
          <p:spPr>
            <a:xfrm>
              <a:off x="5069274" y="2691963"/>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14" name="CasellaDiTesto 13">
              <a:extLst>
                <a:ext uri="{FF2B5EF4-FFF2-40B4-BE49-F238E27FC236}">
                  <a16:creationId xmlns:a16="http://schemas.microsoft.com/office/drawing/2014/main" id="{1116A05E-15B3-1EE0-A998-E8A41C5D227C}"/>
                </a:ext>
              </a:extLst>
            </p:cNvPr>
            <p:cNvSpPr txBox="1"/>
            <p:nvPr/>
          </p:nvSpPr>
          <p:spPr>
            <a:xfrm>
              <a:off x="6092969" y="2676709"/>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15" name="CasellaDiTesto 14">
              <a:extLst>
                <a:ext uri="{FF2B5EF4-FFF2-40B4-BE49-F238E27FC236}">
                  <a16:creationId xmlns:a16="http://schemas.microsoft.com/office/drawing/2014/main" id="{FC6E48B2-DD95-0E2E-79DB-25B52469793F}"/>
                </a:ext>
              </a:extLst>
            </p:cNvPr>
            <p:cNvSpPr txBox="1"/>
            <p:nvPr/>
          </p:nvSpPr>
          <p:spPr>
            <a:xfrm>
              <a:off x="6668583" y="2584493"/>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16" name="CasellaDiTesto 15">
              <a:extLst>
                <a:ext uri="{FF2B5EF4-FFF2-40B4-BE49-F238E27FC236}">
                  <a16:creationId xmlns:a16="http://schemas.microsoft.com/office/drawing/2014/main" id="{5613E292-3B04-10AC-6EFA-92660DDE51B4}"/>
                </a:ext>
              </a:extLst>
            </p:cNvPr>
            <p:cNvSpPr txBox="1"/>
            <p:nvPr/>
          </p:nvSpPr>
          <p:spPr>
            <a:xfrm>
              <a:off x="5431917" y="2717601"/>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17" name="CasellaDiTesto 16">
              <a:extLst>
                <a:ext uri="{FF2B5EF4-FFF2-40B4-BE49-F238E27FC236}">
                  <a16:creationId xmlns:a16="http://schemas.microsoft.com/office/drawing/2014/main" id="{7E5E5E7E-444C-3247-B226-D26652C843B9}"/>
                </a:ext>
              </a:extLst>
            </p:cNvPr>
            <p:cNvSpPr txBox="1"/>
            <p:nvPr/>
          </p:nvSpPr>
          <p:spPr>
            <a:xfrm>
              <a:off x="7716477" y="2445993"/>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18" name="CasellaDiTesto 17">
              <a:extLst>
                <a:ext uri="{FF2B5EF4-FFF2-40B4-BE49-F238E27FC236}">
                  <a16:creationId xmlns:a16="http://schemas.microsoft.com/office/drawing/2014/main" id="{753F0192-F467-544B-D030-A0EDBBBE5526}"/>
                </a:ext>
              </a:extLst>
            </p:cNvPr>
            <p:cNvSpPr txBox="1"/>
            <p:nvPr/>
          </p:nvSpPr>
          <p:spPr>
            <a:xfrm>
              <a:off x="4866137" y="3186979"/>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19" name="CasellaDiTesto 18">
              <a:extLst>
                <a:ext uri="{FF2B5EF4-FFF2-40B4-BE49-F238E27FC236}">
                  <a16:creationId xmlns:a16="http://schemas.microsoft.com/office/drawing/2014/main" id="{62A5953C-8137-B7A5-1E33-6DCE9F906183}"/>
                </a:ext>
              </a:extLst>
            </p:cNvPr>
            <p:cNvSpPr txBox="1"/>
            <p:nvPr/>
          </p:nvSpPr>
          <p:spPr>
            <a:xfrm>
              <a:off x="5967523" y="3105719"/>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I</a:t>
              </a:r>
            </a:p>
          </p:txBody>
        </p:sp>
        <p:sp>
          <p:nvSpPr>
            <p:cNvPr id="20" name="CasellaDiTesto 19">
              <a:extLst>
                <a:ext uri="{FF2B5EF4-FFF2-40B4-BE49-F238E27FC236}">
                  <a16:creationId xmlns:a16="http://schemas.microsoft.com/office/drawing/2014/main" id="{206C4B03-1083-E8D6-B9A8-EA0EAC402AAF}"/>
                </a:ext>
              </a:extLst>
            </p:cNvPr>
            <p:cNvSpPr txBox="1"/>
            <p:nvPr/>
          </p:nvSpPr>
          <p:spPr>
            <a:xfrm>
              <a:off x="6585860" y="330227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21" name="CasellaDiTesto 20">
              <a:extLst>
                <a:ext uri="{FF2B5EF4-FFF2-40B4-BE49-F238E27FC236}">
                  <a16:creationId xmlns:a16="http://schemas.microsoft.com/office/drawing/2014/main" id="{AE445EBD-BAA0-D821-5BFE-5565CEAFF3DC}"/>
                </a:ext>
              </a:extLst>
            </p:cNvPr>
            <p:cNvSpPr txBox="1"/>
            <p:nvPr/>
          </p:nvSpPr>
          <p:spPr>
            <a:xfrm>
              <a:off x="6979450" y="32905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M</a:t>
              </a:r>
            </a:p>
          </p:txBody>
        </p:sp>
      </p:grpSp>
      <p:sp>
        <p:nvSpPr>
          <p:cNvPr id="6" name="CasellaDiTesto 5">
            <a:extLst>
              <a:ext uri="{FF2B5EF4-FFF2-40B4-BE49-F238E27FC236}">
                <a16:creationId xmlns:a16="http://schemas.microsoft.com/office/drawing/2014/main" id="{98A39E68-AAE2-0440-2194-28FFB1834A20}"/>
              </a:ext>
            </a:extLst>
          </p:cNvPr>
          <p:cNvSpPr txBox="1"/>
          <p:nvPr/>
        </p:nvSpPr>
        <p:spPr>
          <a:xfrm>
            <a:off x="9671463" y="482040"/>
            <a:ext cx="2543261" cy="5893921"/>
          </a:xfrm>
          <a:prstGeom prst="rect">
            <a:avLst/>
          </a:prstGeom>
          <a:noFill/>
        </p:spPr>
        <p:txBody>
          <a:bodyPr wrap="square" rtlCol="0">
            <a:spAutoFit/>
          </a:bodyPr>
          <a:lstStyle/>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F.	</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cold areas with very low bottom oxygen, moderate to high salinity, and low surface productivity. Overall biomass is very high, while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is low. Fishing activity is low to fair, and shipping traffic is moderate. Strong anthropogenic influence with a marked presence of dumping sites and very few wind farms.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E.mkm</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C.vae</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G. </a:t>
            </a:r>
            <a:r>
              <a:rPr lang="en-US" sz="8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	</a:t>
            </a:r>
            <a:r>
              <a:rPr lang="en-US" sz="800" dirty="0">
                <a:latin typeface="MS Shell Dlg 2" panose="020B0604030504040204" pitchFamily="34" charset="0"/>
                <a:ea typeface="MS Shell Dlg 2" panose="020B0604030504040204" pitchFamily="34" charset="0"/>
                <a:cs typeface="MS Shell Dlg 2" panose="020B0604030504040204" pitchFamily="34" charset="0"/>
              </a:rPr>
              <a:t>Shallow areas with moderately cold temperatures, moderate to high surface productivity, low salinity, and very high bottom oxygen levels. Overall biomass ranges from moderate to high, with moderate biomass of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low, while shipping traffic is very intense. Strong anthropogenic influence with a marked presence of military areas. Partly hard-bottom seafloor.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D.vae</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H.</a:t>
            </a:r>
            <a:r>
              <a:rPr lang="en-US" sz="800" dirty="0">
                <a:latin typeface="MS Shell Dlg 2" panose="020B0604030504040204" pitchFamily="34" charset="0"/>
                <a:ea typeface="MS Shell Dlg 2" panose="020B0604030504040204" pitchFamily="34" charset="0"/>
                <a:cs typeface="MS Shell Dlg 2" panose="020B0604030504040204" pitchFamily="34" charset="0"/>
              </a:rPr>
              <a:t>	Very deep areas that become shallower toward the southern coast, moderately cold areas, moderate surface productivity, and extremely low bottom oxygen in the central zone, with less severe depletion near the Southern coast. Moderately high salinity. Biomass is generally moderate, high for the five commercially important species, including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a:t>
            </a:r>
            <a:r>
              <a:rPr lang="en-US" sz="800"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High to very high fishing activity, and shipping traffic from moderate to fairly high. Strong anthropogenic influence with a marked presence of dumping sites and military areas. Limited hard-rock seabed.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B.mkm</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E.vae</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I.</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Moderately deep to deep, cold areas with moderately low bottom oxygen and fair to high salinity, and moderate to high surface productivity. Overall biomass is high, with high biomass of the five commercially important species and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Gadus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Moderate fishing activity, and fair to moderate shipping traffic. Minor anthropogenic influence with the presence of wind farms. Partly hardbottom seafloor.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F.mkm</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F.vae</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p>
        </p:txBody>
      </p:sp>
    </p:spTree>
    <p:extLst>
      <p:ext uri="{BB962C8B-B14F-4D97-AF65-F5344CB8AC3E}">
        <p14:creationId xmlns:p14="http://schemas.microsoft.com/office/powerpoint/2010/main" val="2719606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AEB21A37-5A73-BD4F-308C-B4DF8610B22C}"/>
              </a:ext>
            </a:extLst>
          </p:cNvPr>
          <p:cNvSpPr txBox="1"/>
          <p:nvPr/>
        </p:nvSpPr>
        <p:spPr>
          <a:xfrm>
            <a:off x="11901445" y="6577097"/>
            <a:ext cx="290555" cy="276999"/>
          </a:xfrm>
          <a:prstGeom prst="rect">
            <a:avLst/>
          </a:prstGeom>
          <a:noFill/>
        </p:spPr>
        <p:txBody>
          <a:bodyPr wrap="square" rtlCol="0">
            <a:spAutoFit/>
          </a:bodyPr>
          <a:lstStyle/>
          <a:p>
            <a:pPr algn="ctr"/>
            <a:r>
              <a:rPr lang="it-IT" sz="1200" b="1" dirty="0">
                <a:solidFill>
                  <a:schemeClr val="accent1"/>
                </a:solidFill>
                <a:latin typeface="MS Shell Dlg 2" panose="020B0604030504040204" pitchFamily="34" charset="0"/>
                <a:ea typeface="MS Shell Dlg 2" panose="020B0604030504040204" pitchFamily="34" charset="0"/>
                <a:cs typeface="MS Shell Dlg 2" panose="020B0604030504040204" pitchFamily="34" charset="0"/>
              </a:rPr>
              <a:t>3</a:t>
            </a:r>
          </a:p>
        </p:txBody>
      </p:sp>
      <p:grpSp>
        <p:nvGrpSpPr>
          <p:cNvPr id="8" name="Gruppo 7">
            <a:extLst>
              <a:ext uri="{FF2B5EF4-FFF2-40B4-BE49-F238E27FC236}">
                <a16:creationId xmlns:a16="http://schemas.microsoft.com/office/drawing/2014/main" id="{9D431E6C-E271-9C37-7646-C2B343464F33}"/>
              </a:ext>
            </a:extLst>
          </p:cNvPr>
          <p:cNvGrpSpPr/>
          <p:nvPr/>
        </p:nvGrpSpPr>
        <p:grpSpPr>
          <a:xfrm>
            <a:off x="0" y="0"/>
            <a:ext cx="9697986" cy="6858000"/>
            <a:chOff x="0" y="0"/>
            <a:chExt cx="9697986" cy="6858000"/>
          </a:xfrm>
        </p:grpSpPr>
        <p:grpSp>
          <p:nvGrpSpPr>
            <p:cNvPr id="9" name="Gruppo 8">
              <a:extLst>
                <a:ext uri="{FF2B5EF4-FFF2-40B4-BE49-F238E27FC236}">
                  <a16:creationId xmlns:a16="http://schemas.microsoft.com/office/drawing/2014/main" id="{D50B42D6-61BC-6852-7040-053953AD1142}"/>
                </a:ext>
              </a:extLst>
            </p:cNvPr>
            <p:cNvGrpSpPr/>
            <p:nvPr/>
          </p:nvGrpSpPr>
          <p:grpSpPr>
            <a:xfrm>
              <a:off x="0" y="0"/>
              <a:ext cx="9697986" cy="6858000"/>
              <a:chOff x="0" y="0"/>
              <a:chExt cx="9697986" cy="6858000"/>
            </a:xfrm>
          </p:grpSpPr>
          <p:pic>
            <p:nvPicPr>
              <p:cNvPr id="22" name="Immagine 21" descr="Immagine che contiene mappa, testo, diagramma&#10;&#10;Descrizione generata automaticamente">
                <a:extLst>
                  <a:ext uri="{FF2B5EF4-FFF2-40B4-BE49-F238E27FC236}">
                    <a16:creationId xmlns:a16="http://schemas.microsoft.com/office/drawing/2014/main" id="{1A91CD56-EED0-367E-6C4B-6ABDC73595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697986" cy="6858000"/>
              </a:xfrm>
              <a:prstGeom prst="rect">
                <a:avLst/>
              </a:prstGeom>
            </p:spPr>
          </p:pic>
          <p:sp>
            <p:nvSpPr>
              <p:cNvPr id="23" name="CasellaDiTesto 22">
                <a:extLst>
                  <a:ext uri="{FF2B5EF4-FFF2-40B4-BE49-F238E27FC236}">
                    <a16:creationId xmlns:a16="http://schemas.microsoft.com/office/drawing/2014/main" id="{E9FCCA65-F2B5-F5CF-F514-C48D017AEA88}"/>
                  </a:ext>
                </a:extLst>
              </p:cNvPr>
              <p:cNvSpPr txBox="1"/>
              <p:nvPr/>
            </p:nvSpPr>
            <p:spPr>
              <a:xfrm>
                <a:off x="5480526" y="4297057"/>
                <a:ext cx="3172091" cy="1508105"/>
              </a:xfrm>
              <a:prstGeom prst="rect">
                <a:avLst/>
              </a:prstGeom>
              <a:noFill/>
            </p:spPr>
            <p:txBody>
              <a:bodyPr wrap="square">
                <a:spAutoFit/>
              </a:bodyPr>
              <a:lstStyle/>
              <a:p>
                <a:pPr algn="ctr"/>
                <a:r>
                  <a:rPr lang="it-IT"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dirty="0">
                    <a:latin typeface="MS Shell Dlg 2" panose="020B0604030504040204" pitchFamily="34" charset="0"/>
                    <a:ea typeface="MS Shell Dlg 2" panose="020B0604030504040204" pitchFamily="34" charset="0"/>
                    <a:cs typeface="MS Shell Dlg 2" panose="020B0604030504040204" pitchFamily="34" charset="0"/>
                  </a:rPr>
                  <a:t> Risk </a:t>
                </a:r>
                <a:r>
                  <a:rPr lang="it-IT"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dirty="0">
                  <a:latin typeface="MS Shell Dlg 2" panose="020B0604030504040204" pitchFamily="34" charset="0"/>
                  <a:ea typeface="MS Shell Dlg 2" panose="020B0604030504040204" pitchFamily="34" charset="0"/>
                  <a:cs typeface="MS Shell Dlg 2" panose="020B0604030504040204" pitchFamily="34" charset="0"/>
                </a:endParaRPr>
              </a:p>
              <a:p>
                <a:pPr algn="ct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6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&amp; </a:t>
                </a: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endParaRPr lang="it-IT" sz="5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600"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6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6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sp>
          <p:nvSpPr>
            <p:cNvPr id="10" name="CasellaDiTesto 9">
              <a:extLst>
                <a:ext uri="{FF2B5EF4-FFF2-40B4-BE49-F238E27FC236}">
                  <a16:creationId xmlns:a16="http://schemas.microsoft.com/office/drawing/2014/main" id="{B1571F9A-5C51-7DE7-0F00-12D19B6B82A2}"/>
                </a:ext>
              </a:extLst>
            </p:cNvPr>
            <p:cNvSpPr txBox="1"/>
            <p:nvPr/>
          </p:nvSpPr>
          <p:spPr>
            <a:xfrm>
              <a:off x="3100837" y="290998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A</a:t>
              </a:r>
            </a:p>
          </p:txBody>
        </p:sp>
        <p:sp>
          <p:nvSpPr>
            <p:cNvPr id="11" name="CasellaDiTesto 10">
              <a:extLst>
                <a:ext uri="{FF2B5EF4-FFF2-40B4-BE49-F238E27FC236}">
                  <a16:creationId xmlns:a16="http://schemas.microsoft.com/office/drawing/2014/main" id="{68D176B8-A3A6-C464-959B-35579CE8BAD2}"/>
                </a:ext>
              </a:extLst>
            </p:cNvPr>
            <p:cNvSpPr txBox="1"/>
            <p:nvPr/>
          </p:nvSpPr>
          <p:spPr>
            <a:xfrm>
              <a:off x="4514771" y="280203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B</a:t>
              </a:r>
            </a:p>
          </p:txBody>
        </p:sp>
        <p:sp>
          <p:nvSpPr>
            <p:cNvPr id="12" name="CasellaDiTesto 11">
              <a:extLst>
                <a:ext uri="{FF2B5EF4-FFF2-40B4-BE49-F238E27FC236}">
                  <a16:creationId xmlns:a16="http://schemas.microsoft.com/office/drawing/2014/main" id="{3AAA3B03-ADDA-78A0-FDA8-D0932CC2A2EB}"/>
                </a:ext>
              </a:extLst>
            </p:cNvPr>
            <p:cNvSpPr txBox="1"/>
            <p:nvPr/>
          </p:nvSpPr>
          <p:spPr>
            <a:xfrm>
              <a:off x="5069274" y="2691963"/>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C</a:t>
              </a:r>
            </a:p>
          </p:txBody>
        </p:sp>
        <p:sp>
          <p:nvSpPr>
            <p:cNvPr id="14" name="CasellaDiTesto 13">
              <a:extLst>
                <a:ext uri="{FF2B5EF4-FFF2-40B4-BE49-F238E27FC236}">
                  <a16:creationId xmlns:a16="http://schemas.microsoft.com/office/drawing/2014/main" id="{BC3A24FC-A17F-7B6E-2881-403D9197E4A2}"/>
                </a:ext>
              </a:extLst>
            </p:cNvPr>
            <p:cNvSpPr txBox="1"/>
            <p:nvPr/>
          </p:nvSpPr>
          <p:spPr>
            <a:xfrm>
              <a:off x="6092969" y="2676709"/>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E</a:t>
              </a:r>
            </a:p>
          </p:txBody>
        </p:sp>
        <p:sp>
          <p:nvSpPr>
            <p:cNvPr id="15" name="CasellaDiTesto 14">
              <a:extLst>
                <a:ext uri="{FF2B5EF4-FFF2-40B4-BE49-F238E27FC236}">
                  <a16:creationId xmlns:a16="http://schemas.microsoft.com/office/drawing/2014/main" id="{AAE324EC-3924-C716-3E17-03777DFC53B3}"/>
                </a:ext>
              </a:extLst>
            </p:cNvPr>
            <p:cNvSpPr txBox="1"/>
            <p:nvPr/>
          </p:nvSpPr>
          <p:spPr>
            <a:xfrm>
              <a:off x="6668583" y="2584493"/>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F</a:t>
              </a:r>
            </a:p>
          </p:txBody>
        </p:sp>
        <p:sp>
          <p:nvSpPr>
            <p:cNvPr id="16" name="CasellaDiTesto 15">
              <a:extLst>
                <a:ext uri="{FF2B5EF4-FFF2-40B4-BE49-F238E27FC236}">
                  <a16:creationId xmlns:a16="http://schemas.microsoft.com/office/drawing/2014/main" id="{D4BE1AF8-7880-4A17-21AF-D4EBC7929A12}"/>
                </a:ext>
              </a:extLst>
            </p:cNvPr>
            <p:cNvSpPr txBox="1"/>
            <p:nvPr/>
          </p:nvSpPr>
          <p:spPr>
            <a:xfrm>
              <a:off x="5431917" y="2717601"/>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D</a:t>
              </a:r>
            </a:p>
          </p:txBody>
        </p:sp>
        <p:sp>
          <p:nvSpPr>
            <p:cNvPr id="17" name="CasellaDiTesto 16">
              <a:extLst>
                <a:ext uri="{FF2B5EF4-FFF2-40B4-BE49-F238E27FC236}">
                  <a16:creationId xmlns:a16="http://schemas.microsoft.com/office/drawing/2014/main" id="{1130A861-983D-C21D-7562-FA6CF5AF1EF9}"/>
                </a:ext>
              </a:extLst>
            </p:cNvPr>
            <p:cNvSpPr txBox="1"/>
            <p:nvPr/>
          </p:nvSpPr>
          <p:spPr>
            <a:xfrm>
              <a:off x="7716477" y="2445993"/>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G</a:t>
              </a:r>
            </a:p>
          </p:txBody>
        </p:sp>
        <p:sp>
          <p:nvSpPr>
            <p:cNvPr id="18" name="CasellaDiTesto 17">
              <a:extLst>
                <a:ext uri="{FF2B5EF4-FFF2-40B4-BE49-F238E27FC236}">
                  <a16:creationId xmlns:a16="http://schemas.microsoft.com/office/drawing/2014/main" id="{361E0752-6230-E6E5-EBFB-B76B4BC73EAB}"/>
                </a:ext>
              </a:extLst>
            </p:cNvPr>
            <p:cNvSpPr txBox="1"/>
            <p:nvPr/>
          </p:nvSpPr>
          <p:spPr>
            <a:xfrm>
              <a:off x="4866137" y="3186979"/>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H</a:t>
              </a:r>
            </a:p>
          </p:txBody>
        </p:sp>
        <p:sp>
          <p:nvSpPr>
            <p:cNvPr id="19" name="CasellaDiTesto 18">
              <a:extLst>
                <a:ext uri="{FF2B5EF4-FFF2-40B4-BE49-F238E27FC236}">
                  <a16:creationId xmlns:a16="http://schemas.microsoft.com/office/drawing/2014/main" id="{968CCCBC-0C09-C7EF-E828-F931878A7268}"/>
                </a:ext>
              </a:extLst>
            </p:cNvPr>
            <p:cNvSpPr txBox="1"/>
            <p:nvPr/>
          </p:nvSpPr>
          <p:spPr>
            <a:xfrm>
              <a:off x="5967523" y="3105719"/>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I</a:t>
              </a:r>
            </a:p>
          </p:txBody>
        </p:sp>
        <p:sp>
          <p:nvSpPr>
            <p:cNvPr id="20" name="CasellaDiTesto 19">
              <a:extLst>
                <a:ext uri="{FF2B5EF4-FFF2-40B4-BE49-F238E27FC236}">
                  <a16:creationId xmlns:a16="http://schemas.microsoft.com/office/drawing/2014/main" id="{3EDADFA2-C96A-7AA3-FFA5-DC9D8BB5605C}"/>
                </a:ext>
              </a:extLst>
            </p:cNvPr>
            <p:cNvSpPr txBox="1"/>
            <p:nvPr/>
          </p:nvSpPr>
          <p:spPr>
            <a:xfrm>
              <a:off x="6585860" y="3302275"/>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L</a:t>
              </a:r>
            </a:p>
          </p:txBody>
        </p:sp>
        <p:sp>
          <p:nvSpPr>
            <p:cNvPr id="21" name="CasellaDiTesto 20">
              <a:extLst>
                <a:ext uri="{FF2B5EF4-FFF2-40B4-BE49-F238E27FC236}">
                  <a16:creationId xmlns:a16="http://schemas.microsoft.com/office/drawing/2014/main" id="{6860A4CD-8591-2482-015C-D3AC84C3A886}"/>
                </a:ext>
              </a:extLst>
            </p:cNvPr>
            <p:cNvSpPr txBox="1"/>
            <p:nvPr/>
          </p:nvSpPr>
          <p:spPr>
            <a:xfrm>
              <a:off x="6979450" y="3290500"/>
              <a:ext cx="290556" cy="276999"/>
            </a:xfrm>
            <a:prstGeom prst="rect">
              <a:avLst/>
            </a:prstGeom>
            <a:noFill/>
          </p:spPr>
          <p:txBody>
            <a:bodyPr wrap="square" rtlCol="0">
              <a:spAutoFit/>
            </a:bodyPr>
            <a:lstStyle/>
            <a:p>
              <a:pPr algn="ctr"/>
              <a:r>
                <a:rPr lang="it-IT" sz="1200" b="1" dirty="0">
                  <a:solidFill>
                    <a:schemeClr val="tx1">
                      <a:lumMod val="95000"/>
                      <a:lumOff val="5000"/>
                    </a:schemeClr>
                  </a:solidFill>
                  <a:latin typeface="MS Shell Dlg 2" panose="020B0604030504040204" pitchFamily="34" charset="0"/>
                  <a:ea typeface="MS Shell Dlg 2" panose="020B0604030504040204" pitchFamily="34" charset="0"/>
                  <a:cs typeface="MS Shell Dlg 2" panose="020B0604030504040204" pitchFamily="34" charset="0"/>
                </a:rPr>
                <a:t>M</a:t>
              </a:r>
            </a:p>
          </p:txBody>
        </p:sp>
      </p:grpSp>
      <p:sp>
        <p:nvSpPr>
          <p:cNvPr id="6" name="CasellaDiTesto 5">
            <a:extLst>
              <a:ext uri="{FF2B5EF4-FFF2-40B4-BE49-F238E27FC236}">
                <a16:creationId xmlns:a16="http://schemas.microsoft.com/office/drawing/2014/main" id="{C6B4AAF5-CA8D-2E34-6D31-89D788EC79FE}"/>
              </a:ext>
            </a:extLst>
          </p:cNvPr>
          <p:cNvSpPr txBox="1"/>
          <p:nvPr/>
        </p:nvSpPr>
        <p:spPr>
          <a:xfrm>
            <a:off x="9671464" y="2044006"/>
            <a:ext cx="2523132" cy="2893100"/>
          </a:xfrm>
          <a:prstGeom prst="rect">
            <a:avLst/>
          </a:prstGeom>
          <a:noFill/>
        </p:spPr>
        <p:txBody>
          <a:bodyPr wrap="square" rtlCol="0">
            <a:spAutoFit/>
          </a:bodyPr>
          <a:lstStyle/>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L.	</a:t>
            </a:r>
            <a:r>
              <a:rPr lang="en-US" sz="800" dirty="0">
                <a:latin typeface="MS Shell Dlg 2" panose="020B0604030504040204" pitchFamily="34" charset="0"/>
                <a:ea typeface="MS Shell Dlg 2" panose="020B0604030504040204" pitchFamily="34" charset="0"/>
                <a:cs typeface="MS Shell Dlg 2" panose="020B0604030504040204" pitchFamily="34" charset="0"/>
              </a:rPr>
              <a:t>Deep, cold areas with moderate to high bottom oxygen depletion and fair to moderate salinity, and high surface productivity. Overall biomass is high, with high biomass of the five commercially important species and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Fishing activity is high, and shipping traffic ranges from moderate to high. Strong anthropogenic influence with a marked presence of military areas. Minimal hard-bottom seafloor.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G.mkm</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G.vae</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endParaRPr lang="en-US" sz="800" dirty="0">
              <a:latin typeface="MS Shell Dlg 2" panose="020B0604030504040204" pitchFamily="34" charset="0"/>
              <a:ea typeface="MS Shell Dlg 2" panose="020B0604030504040204" pitchFamily="34" charset="0"/>
              <a:cs typeface="MS Shell Dlg 2" panose="020B0604030504040204" pitchFamily="34" charset="0"/>
            </a:endParaRPr>
          </a:p>
          <a:p>
            <a:pPr algn="just">
              <a:buSzPct val="100000"/>
            </a:pPr>
            <a:r>
              <a:rPr lang="en-US" sz="1100" b="1" dirty="0">
                <a:solidFill>
                  <a:schemeClr val="accent5"/>
                </a:solidFill>
                <a:latin typeface="MS Shell Dlg 2" panose="020B0604030504040204" pitchFamily="34" charset="0"/>
                <a:ea typeface="MS Shell Dlg 2" panose="020B0604030504040204" pitchFamily="34" charset="0"/>
                <a:cs typeface="MS Shell Dlg 2" panose="020B0604030504040204" pitchFamily="34" charset="0"/>
              </a:rPr>
              <a:t>M.</a:t>
            </a:r>
            <a:r>
              <a:rPr lang="en-US" sz="800" dirty="0">
                <a:latin typeface="MS Shell Dlg 2" panose="020B0604030504040204" pitchFamily="34" charset="0"/>
                <a:ea typeface="MS Shell Dlg 2" panose="020B0604030504040204" pitchFamily="34" charset="0"/>
                <a:cs typeface="MS Shell Dlg 2" panose="020B0604030504040204" pitchFamily="34" charset="0"/>
              </a:rPr>
              <a:t>	 Deep areas with cold bottom temperatures, moderate salinity, and moderate to very high surface productivity. Extremely low bottom oxygen. Overall biomass ranges from moderate to very high, with fair to moderate biomass of the five commercial species and moderate to moderately high biomass of Gadus </a:t>
            </a:r>
            <a:r>
              <a:rPr lang="en-US" sz="800" dirty="0" err="1">
                <a:latin typeface="MS Shell Dlg 2" panose="020B0604030504040204" pitchFamily="34" charset="0"/>
                <a:ea typeface="MS Shell Dlg 2" panose="020B0604030504040204" pitchFamily="34" charset="0"/>
                <a:cs typeface="MS Shell Dlg 2" panose="020B0604030504040204" pitchFamily="34" charset="0"/>
              </a:rPr>
              <a:t>morhua</a:t>
            </a:r>
            <a:r>
              <a:rPr lang="en-US" sz="800" dirty="0">
                <a:latin typeface="MS Shell Dlg 2" panose="020B0604030504040204" pitchFamily="34" charset="0"/>
                <a:ea typeface="MS Shell Dlg 2" panose="020B0604030504040204" pitchFamily="34" charset="0"/>
                <a:cs typeface="MS Shell Dlg 2" panose="020B0604030504040204" pitchFamily="34" charset="0"/>
              </a:rPr>
              <a:t>. Intense fishing activity, moderate to high shipping traffic. Minor anthropogenic influence with limited presence of military areas. </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H.mkm</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 (</a:t>
            </a:r>
            <a:r>
              <a:rPr lang="en-US" sz="800" i="1" dirty="0" err="1">
                <a:latin typeface="MS Shell Dlg 2" panose="020B0604030504040204" pitchFamily="34" charset="0"/>
                <a:ea typeface="MS Shell Dlg 2" panose="020B0604030504040204" pitchFamily="34" charset="0"/>
                <a:cs typeface="MS Shell Dlg 2" panose="020B0604030504040204" pitchFamily="34" charset="0"/>
              </a:rPr>
              <a:t>H.vae</a:t>
            </a:r>
            <a:r>
              <a:rPr lang="en-US" sz="800" i="1" dirty="0">
                <a:latin typeface="MS Shell Dlg 2" panose="020B0604030504040204" pitchFamily="34" charset="0"/>
                <a:ea typeface="MS Shell Dlg 2" panose="020B0604030504040204" pitchFamily="34" charset="0"/>
                <a:cs typeface="MS Shell Dlg 2" panose="020B0604030504040204" pitchFamily="34" charset="0"/>
              </a:rPr>
              <a:t>)</a:t>
            </a:r>
          </a:p>
        </p:txBody>
      </p:sp>
    </p:spTree>
    <p:extLst>
      <p:ext uri="{BB962C8B-B14F-4D97-AF65-F5344CB8AC3E}">
        <p14:creationId xmlns:p14="http://schemas.microsoft.com/office/powerpoint/2010/main" val="3369345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uppo 56">
            <a:extLst>
              <a:ext uri="{FF2B5EF4-FFF2-40B4-BE49-F238E27FC236}">
                <a16:creationId xmlns:a16="http://schemas.microsoft.com/office/drawing/2014/main" id="{56F7B688-32A2-4C66-566C-22A49AD8464B}"/>
              </a:ext>
            </a:extLst>
          </p:cNvPr>
          <p:cNvGrpSpPr/>
          <p:nvPr/>
        </p:nvGrpSpPr>
        <p:grpSpPr>
          <a:xfrm>
            <a:off x="156957" y="70452"/>
            <a:ext cx="1800000" cy="1272883"/>
            <a:chOff x="3909527" y="-6032203"/>
            <a:chExt cx="1800000" cy="1272883"/>
          </a:xfrm>
        </p:grpSpPr>
        <p:pic>
          <p:nvPicPr>
            <p:cNvPr id="23" name="Immagine 22" descr="Immagine che contiene mappa, testo, diagramma&#10;&#10;Descrizione generata automaticamente">
              <a:extLst>
                <a:ext uri="{FF2B5EF4-FFF2-40B4-BE49-F238E27FC236}">
                  <a16:creationId xmlns:a16="http://schemas.microsoft.com/office/drawing/2014/main" id="{09263001-3A62-74CD-ADEC-3C6756AC52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9527" y="-6032203"/>
              <a:ext cx="1800000" cy="1272883"/>
            </a:xfrm>
            <a:prstGeom prst="rect">
              <a:avLst/>
            </a:prstGeom>
          </p:spPr>
        </p:pic>
        <p:sp>
          <p:nvSpPr>
            <p:cNvPr id="24" name="CasellaDiTesto 23">
              <a:extLst>
                <a:ext uri="{FF2B5EF4-FFF2-40B4-BE49-F238E27FC236}">
                  <a16:creationId xmlns:a16="http://schemas.microsoft.com/office/drawing/2014/main" id="{63C77DC2-A8C1-40ED-85CF-5040B78202BC}"/>
                </a:ext>
              </a:extLst>
            </p:cNvPr>
            <p:cNvSpPr txBox="1"/>
            <p:nvPr/>
          </p:nvSpPr>
          <p:spPr>
            <a:xfrm>
              <a:off x="3909527" y="-5288763"/>
              <a:ext cx="1800000" cy="384721"/>
            </a:xfrm>
            <a:prstGeom prst="rect">
              <a:avLst/>
            </a:prstGeom>
            <a:noFill/>
          </p:spPr>
          <p:txBody>
            <a:bodyPr wrap="square">
              <a:spAutoFit/>
            </a:bodyPr>
            <a:lstStyle/>
            <a:p>
              <a:pPr algn="ctr"/>
              <a:r>
                <a:rPr lang="it-IT" sz="5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5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5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7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7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All</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grpSp>
        <p:nvGrpSpPr>
          <p:cNvPr id="58" name="Gruppo 57">
            <a:extLst>
              <a:ext uri="{FF2B5EF4-FFF2-40B4-BE49-F238E27FC236}">
                <a16:creationId xmlns:a16="http://schemas.microsoft.com/office/drawing/2014/main" id="{1ADB7CDE-672F-4EB9-3769-EF83BF2C1B62}"/>
              </a:ext>
            </a:extLst>
          </p:cNvPr>
          <p:cNvGrpSpPr/>
          <p:nvPr/>
        </p:nvGrpSpPr>
        <p:grpSpPr>
          <a:xfrm>
            <a:off x="3988357" y="70452"/>
            <a:ext cx="1800000" cy="1272883"/>
            <a:chOff x="2394062" y="9245131"/>
            <a:chExt cx="1800000" cy="1272883"/>
          </a:xfrm>
        </p:grpSpPr>
        <p:pic>
          <p:nvPicPr>
            <p:cNvPr id="29" name="Immagine 28" descr="Immagine che contiene mappa, testo, diagramma, atlante&#10;&#10;Descrizione generata automaticamente">
              <a:extLst>
                <a:ext uri="{FF2B5EF4-FFF2-40B4-BE49-F238E27FC236}">
                  <a16:creationId xmlns:a16="http://schemas.microsoft.com/office/drawing/2014/main" id="{CF19E9D3-521A-27B6-8D2D-62CD202481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4062" y="9245131"/>
              <a:ext cx="1800000" cy="1272883"/>
            </a:xfrm>
            <a:prstGeom prst="rect">
              <a:avLst/>
            </a:prstGeom>
          </p:spPr>
        </p:pic>
        <p:sp>
          <p:nvSpPr>
            <p:cNvPr id="30" name="CasellaDiTesto 29">
              <a:extLst>
                <a:ext uri="{FF2B5EF4-FFF2-40B4-BE49-F238E27FC236}">
                  <a16:creationId xmlns:a16="http://schemas.microsoft.com/office/drawing/2014/main" id="{210367DD-6FE8-93DA-676B-66DED5C93D5B}"/>
                </a:ext>
              </a:extLst>
            </p:cNvPr>
            <p:cNvSpPr txBox="1"/>
            <p:nvPr/>
          </p:nvSpPr>
          <p:spPr>
            <a:xfrm>
              <a:off x="2394062" y="10024999"/>
              <a:ext cx="1800000" cy="384721"/>
            </a:xfrm>
            <a:prstGeom prst="rect">
              <a:avLst/>
            </a:prstGeom>
            <a:noFill/>
          </p:spPr>
          <p:txBody>
            <a:bodyPr wrap="square">
              <a:spAutoFit/>
            </a:bodyPr>
            <a:lstStyle/>
            <a:p>
              <a:pPr algn="ctr"/>
              <a:r>
                <a:rPr lang="it-IT" sz="5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5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5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7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7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p>
          </p:txBody>
        </p:sp>
      </p:grpSp>
      <p:grpSp>
        <p:nvGrpSpPr>
          <p:cNvPr id="59" name="Gruppo 58">
            <a:extLst>
              <a:ext uri="{FF2B5EF4-FFF2-40B4-BE49-F238E27FC236}">
                <a16:creationId xmlns:a16="http://schemas.microsoft.com/office/drawing/2014/main" id="{857B17C9-147D-2AB0-079B-A78F52070291}"/>
              </a:ext>
            </a:extLst>
          </p:cNvPr>
          <p:cNvGrpSpPr/>
          <p:nvPr/>
        </p:nvGrpSpPr>
        <p:grpSpPr>
          <a:xfrm>
            <a:off x="6360917" y="70452"/>
            <a:ext cx="1800000" cy="1272883"/>
            <a:chOff x="-5204354" y="7458918"/>
            <a:chExt cx="1800000" cy="1272883"/>
          </a:xfrm>
        </p:grpSpPr>
        <p:pic>
          <p:nvPicPr>
            <p:cNvPr id="37" name="Immagine 36" descr="Immagine che contiene mappa, testo, diagramma&#10;&#10;Descrizione generata automaticamente">
              <a:extLst>
                <a:ext uri="{FF2B5EF4-FFF2-40B4-BE49-F238E27FC236}">
                  <a16:creationId xmlns:a16="http://schemas.microsoft.com/office/drawing/2014/main" id="{46D2A259-095F-EC63-6E23-FBE4DD8775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04354" y="7458918"/>
              <a:ext cx="1800000" cy="1272883"/>
            </a:xfrm>
            <a:prstGeom prst="rect">
              <a:avLst/>
            </a:prstGeom>
          </p:spPr>
        </p:pic>
        <p:sp>
          <p:nvSpPr>
            <p:cNvPr id="38" name="CasellaDiTesto 37">
              <a:extLst>
                <a:ext uri="{FF2B5EF4-FFF2-40B4-BE49-F238E27FC236}">
                  <a16:creationId xmlns:a16="http://schemas.microsoft.com/office/drawing/2014/main" id="{D934229C-754E-6865-358A-48D08F599B53}"/>
                </a:ext>
              </a:extLst>
            </p:cNvPr>
            <p:cNvSpPr txBox="1"/>
            <p:nvPr/>
          </p:nvSpPr>
          <p:spPr>
            <a:xfrm>
              <a:off x="-5204354" y="8226352"/>
              <a:ext cx="1800000" cy="384721"/>
            </a:xfrm>
            <a:prstGeom prst="rect">
              <a:avLst/>
            </a:prstGeom>
            <a:noFill/>
          </p:spPr>
          <p:txBody>
            <a:bodyPr wrap="square">
              <a:spAutoFit/>
            </a:bodyPr>
            <a:lstStyle/>
            <a:p>
              <a:pPr algn="ctr"/>
              <a:r>
                <a:rPr lang="it-IT" sz="5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5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5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All</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grpSp>
        <p:nvGrpSpPr>
          <p:cNvPr id="56" name="Gruppo 55">
            <a:extLst>
              <a:ext uri="{FF2B5EF4-FFF2-40B4-BE49-F238E27FC236}">
                <a16:creationId xmlns:a16="http://schemas.microsoft.com/office/drawing/2014/main" id="{A59A9FA3-D992-CB01-C353-34825F4A94EF}"/>
              </a:ext>
            </a:extLst>
          </p:cNvPr>
          <p:cNvGrpSpPr/>
          <p:nvPr/>
        </p:nvGrpSpPr>
        <p:grpSpPr>
          <a:xfrm>
            <a:off x="8276617" y="70452"/>
            <a:ext cx="1800000" cy="1272883"/>
            <a:chOff x="294635" y="-3464939"/>
            <a:chExt cx="1800000" cy="1272883"/>
          </a:xfrm>
        </p:grpSpPr>
        <p:pic>
          <p:nvPicPr>
            <p:cNvPr id="40" name="Immagine 39" descr="Immagine che contiene mappa, testo, diagramma, atlante&#10;&#10;Descrizione generata automaticamente">
              <a:extLst>
                <a:ext uri="{FF2B5EF4-FFF2-40B4-BE49-F238E27FC236}">
                  <a16:creationId xmlns:a16="http://schemas.microsoft.com/office/drawing/2014/main" id="{FB10087C-BAB8-F869-1FE7-DCB4CD564E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4635" y="-3464939"/>
              <a:ext cx="1800000" cy="1272883"/>
            </a:xfrm>
            <a:prstGeom prst="rect">
              <a:avLst/>
            </a:prstGeom>
          </p:spPr>
        </p:pic>
        <p:sp>
          <p:nvSpPr>
            <p:cNvPr id="41" name="CasellaDiTesto 40">
              <a:extLst>
                <a:ext uri="{FF2B5EF4-FFF2-40B4-BE49-F238E27FC236}">
                  <a16:creationId xmlns:a16="http://schemas.microsoft.com/office/drawing/2014/main" id="{6AD6BE30-A75A-B5FA-38A3-F96B5FB441AB}"/>
                </a:ext>
              </a:extLst>
            </p:cNvPr>
            <p:cNvSpPr txBox="1"/>
            <p:nvPr/>
          </p:nvSpPr>
          <p:spPr>
            <a:xfrm>
              <a:off x="294635" y="-2726832"/>
              <a:ext cx="1800000" cy="415498"/>
            </a:xfrm>
            <a:prstGeom prst="rect">
              <a:avLst/>
            </a:prstGeom>
            <a:noFill/>
          </p:spPr>
          <p:txBody>
            <a:bodyPr wrap="square">
              <a:spAutoFit/>
            </a:bodyPr>
            <a:lstStyle/>
            <a:p>
              <a:pPr algn="ctr"/>
              <a:r>
                <a:rPr lang="it-IT" sz="5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5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5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a:t>
              </a:r>
              <a:endParaRPr lang="it-IT" sz="7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Five</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Limanda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limanda</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Merlangius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merlangus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Platichthys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flesus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Pleuronectes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platessa</a:t>
              </a:r>
            </a:p>
          </p:txBody>
        </p:sp>
      </p:grpSp>
      <p:grpSp>
        <p:nvGrpSpPr>
          <p:cNvPr id="60" name="Gruppo 59">
            <a:extLst>
              <a:ext uri="{FF2B5EF4-FFF2-40B4-BE49-F238E27FC236}">
                <a16:creationId xmlns:a16="http://schemas.microsoft.com/office/drawing/2014/main" id="{7C8BC896-A5DD-DD0E-EE4F-F1730357059D}"/>
              </a:ext>
            </a:extLst>
          </p:cNvPr>
          <p:cNvGrpSpPr/>
          <p:nvPr/>
        </p:nvGrpSpPr>
        <p:grpSpPr>
          <a:xfrm>
            <a:off x="10192317" y="70452"/>
            <a:ext cx="1800000" cy="1272883"/>
            <a:chOff x="13837194" y="7384356"/>
            <a:chExt cx="1800000" cy="1272883"/>
          </a:xfrm>
        </p:grpSpPr>
        <p:pic>
          <p:nvPicPr>
            <p:cNvPr id="43" name="Immagine 42" descr="Immagine che contiene mappa, testo, diagramma, atlante&#10;&#10;Descrizione generata automaticamente">
              <a:extLst>
                <a:ext uri="{FF2B5EF4-FFF2-40B4-BE49-F238E27FC236}">
                  <a16:creationId xmlns:a16="http://schemas.microsoft.com/office/drawing/2014/main" id="{173D87A1-190A-DD20-7F22-D002B98CDE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837194" y="7384356"/>
              <a:ext cx="1800000" cy="1272883"/>
            </a:xfrm>
            <a:prstGeom prst="rect">
              <a:avLst/>
            </a:prstGeom>
          </p:spPr>
        </p:pic>
        <p:sp>
          <p:nvSpPr>
            <p:cNvPr id="44" name="CasellaDiTesto 43">
              <a:extLst>
                <a:ext uri="{FF2B5EF4-FFF2-40B4-BE49-F238E27FC236}">
                  <a16:creationId xmlns:a16="http://schemas.microsoft.com/office/drawing/2014/main" id="{9923E0D8-5816-461F-5679-0FE7759C63E9}"/>
                </a:ext>
              </a:extLst>
            </p:cNvPr>
            <p:cNvSpPr txBox="1"/>
            <p:nvPr/>
          </p:nvSpPr>
          <p:spPr>
            <a:xfrm>
              <a:off x="13837194" y="8097013"/>
              <a:ext cx="1800000" cy="384721"/>
            </a:xfrm>
            <a:prstGeom prst="rect">
              <a:avLst/>
            </a:prstGeom>
            <a:noFill/>
          </p:spPr>
          <p:txBody>
            <a:bodyPr wrap="square">
              <a:spAutoFit/>
            </a:bodyPr>
            <a:lstStyle/>
            <a:p>
              <a:pPr algn="ctr"/>
              <a:r>
                <a:rPr lang="it-IT" sz="5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5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5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5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grpSp>
        <p:nvGrpSpPr>
          <p:cNvPr id="61" name="Gruppo 60">
            <a:extLst>
              <a:ext uri="{FF2B5EF4-FFF2-40B4-BE49-F238E27FC236}">
                <a16:creationId xmlns:a16="http://schemas.microsoft.com/office/drawing/2014/main" id="{F2742A75-E71A-A6F1-2C59-14BC57B5FA9E}"/>
              </a:ext>
            </a:extLst>
          </p:cNvPr>
          <p:cNvGrpSpPr/>
          <p:nvPr/>
        </p:nvGrpSpPr>
        <p:grpSpPr>
          <a:xfrm>
            <a:off x="1425045" y="1969092"/>
            <a:ext cx="3095224" cy="2188809"/>
            <a:chOff x="1446409" y="2140016"/>
            <a:chExt cx="3095224" cy="2188809"/>
          </a:xfrm>
        </p:grpSpPr>
        <p:pic>
          <p:nvPicPr>
            <p:cNvPr id="46" name="Immagine 45" descr="Immagine che contiene mappa, testo, diagramma&#10;&#10;Descrizione generata automaticamente">
              <a:extLst>
                <a:ext uri="{FF2B5EF4-FFF2-40B4-BE49-F238E27FC236}">
                  <a16:creationId xmlns:a16="http://schemas.microsoft.com/office/drawing/2014/main" id="{C63F648D-4F14-9221-3A45-60ABAED5B52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46409" y="2140016"/>
              <a:ext cx="3095223" cy="2188809"/>
            </a:xfrm>
            <a:prstGeom prst="rect">
              <a:avLst/>
            </a:prstGeom>
          </p:spPr>
        </p:pic>
        <p:sp>
          <p:nvSpPr>
            <p:cNvPr id="47" name="CasellaDiTesto 46">
              <a:extLst>
                <a:ext uri="{FF2B5EF4-FFF2-40B4-BE49-F238E27FC236}">
                  <a16:creationId xmlns:a16="http://schemas.microsoft.com/office/drawing/2014/main" id="{E1116041-1CEC-291D-9B3F-7280B83C59B1}"/>
                </a:ext>
              </a:extLst>
            </p:cNvPr>
            <p:cNvSpPr txBox="1"/>
            <p:nvPr/>
          </p:nvSpPr>
          <p:spPr>
            <a:xfrm>
              <a:off x="1446409" y="3453717"/>
              <a:ext cx="3095224" cy="692497"/>
            </a:xfrm>
            <a:prstGeom prst="rect">
              <a:avLst/>
            </a:prstGeom>
            <a:noFill/>
          </p:spPr>
          <p:txBody>
            <a:bodyPr wrap="square">
              <a:spAutoFit/>
            </a:bodyPr>
            <a:lstStyle/>
            <a:p>
              <a:pPr algn="ctr"/>
              <a:r>
                <a:rPr lang="it-IT" sz="11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11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11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4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4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14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400" dirty="0">
                  <a:latin typeface="MS Shell Dlg 2" panose="020B0604030504040204" pitchFamily="34" charset="0"/>
                  <a:ea typeface="MS Shell Dlg 2" panose="020B0604030504040204" pitchFamily="34" charset="0"/>
                  <a:cs typeface="MS Shell Dlg 2" panose="020B0604030504040204" pitchFamily="34" charset="0"/>
                </a:rPr>
                <a:t>- </a:t>
              </a:r>
              <a:r>
                <a:rPr lang="it-IT" sz="14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4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4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grpSp>
        <p:nvGrpSpPr>
          <p:cNvPr id="62" name="Gruppo 61">
            <a:extLst>
              <a:ext uri="{FF2B5EF4-FFF2-40B4-BE49-F238E27FC236}">
                <a16:creationId xmlns:a16="http://schemas.microsoft.com/office/drawing/2014/main" id="{0BE5E0FE-3BAA-1796-7473-5452DA50F9E3}"/>
              </a:ext>
            </a:extLst>
          </p:cNvPr>
          <p:cNvGrpSpPr/>
          <p:nvPr/>
        </p:nvGrpSpPr>
        <p:grpSpPr>
          <a:xfrm>
            <a:off x="7627316" y="1969092"/>
            <a:ext cx="3098602" cy="2188809"/>
            <a:chOff x="7693110" y="2140015"/>
            <a:chExt cx="3098602" cy="2188809"/>
          </a:xfrm>
        </p:grpSpPr>
        <p:pic>
          <p:nvPicPr>
            <p:cNvPr id="49" name="Immagine 48" descr="Immagine che contiene mappa, testo, diagramma&#10;&#10;Descrizione generata automaticamente">
              <a:extLst>
                <a:ext uri="{FF2B5EF4-FFF2-40B4-BE49-F238E27FC236}">
                  <a16:creationId xmlns:a16="http://schemas.microsoft.com/office/drawing/2014/main" id="{62489EB5-FD6B-4B76-6B3D-16CCA66A3C3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96489" y="2140015"/>
              <a:ext cx="3095223" cy="2188809"/>
            </a:xfrm>
            <a:prstGeom prst="rect">
              <a:avLst/>
            </a:prstGeom>
          </p:spPr>
        </p:pic>
        <p:sp>
          <p:nvSpPr>
            <p:cNvPr id="50" name="CasellaDiTesto 49">
              <a:extLst>
                <a:ext uri="{FF2B5EF4-FFF2-40B4-BE49-F238E27FC236}">
                  <a16:creationId xmlns:a16="http://schemas.microsoft.com/office/drawing/2014/main" id="{3E6892BC-57A3-306C-DCD8-DBAF3F2CB3CB}"/>
                </a:ext>
              </a:extLst>
            </p:cNvPr>
            <p:cNvSpPr txBox="1"/>
            <p:nvPr/>
          </p:nvSpPr>
          <p:spPr>
            <a:xfrm>
              <a:off x="7693110" y="3456752"/>
              <a:ext cx="3095225" cy="692497"/>
            </a:xfrm>
            <a:prstGeom prst="rect">
              <a:avLst/>
            </a:prstGeom>
            <a:noFill/>
          </p:spPr>
          <p:txBody>
            <a:bodyPr wrap="square">
              <a:spAutoFit/>
            </a:bodyPr>
            <a:lstStyle/>
            <a:p>
              <a:pPr algn="ctr"/>
              <a:r>
                <a:rPr lang="it-IT" sz="11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11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11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11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400" dirty="0">
                  <a:latin typeface="MS Shell Dlg 2" panose="020B0604030504040204" pitchFamily="34" charset="0"/>
                  <a:ea typeface="MS Shell Dlg 2" panose="020B0604030504040204" pitchFamily="34" charset="0"/>
                  <a:cs typeface="MS Shell Dlg 2" panose="020B0604030504040204" pitchFamily="34" charset="0"/>
                </a:rPr>
                <a:t>VAE </a:t>
              </a:r>
              <a:r>
                <a:rPr lang="it-IT" sz="14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4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400" i="1"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1400" dirty="0">
                  <a:latin typeface="MS Shell Dlg 2" panose="020B0604030504040204" pitchFamily="34" charset="0"/>
                  <a:ea typeface="MS Shell Dlg 2" panose="020B0604030504040204" pitchFamily="34" charset="0"/>
                  <a:cs typeface="MS Shell Dlg 2" panose="020B0604030504040204" pitchFamily="34" charset="0"/>
                </a:rPr>
                <a:t>- </a:t>
              </a:r>
              <a:r>
                <a:rPr lang="it-IT" sz="14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4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4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grpSp>
        <p:nvGrpSpPr>
          <p:cNvPr id="63" name="Gruppo 62">
            <a:extLst>
              <a:ext uri="{FF2B5EF4-FFF2-40B4-BE49-F238E27FC236}">
                <a16:creationId xmlns:a16="http://schemas.microsoft.com/office/drawing/2014/main" id="{74DCF7EF-6E33-A72E-72DD-36669898F5BE}"/>
              </a:ext>
            </a:extLst>
          </p:cNvPr>
          <p:cNvGrpSpPr/>
          <p:nvPr/>
        </p:nvGrpSpPr>
        <p:grpSpPr>
          <a:xfrm>
            <a:off x="4361282" y="4287946"/>
            <a:ext cx="3469436" cy="2453437"/>
            <a:chOff x="4356453" y="4376964"/>
            <a:chExt cx="3469436" cy="2453437"/>
          </a:xfrm>
        </p:grpSpPr>
        <p:pic>
          <p:nvPicPr>
            <p:cNvPr id="52" name="Immagine 51" descr="Immagine che contiene mappa, testo, diagramma&#10;&#10;Descrizione generata automaticamente">
              <a:extLst>
                <a:ext uri="{FF2B5EF4-FFF2-40B4-BE49-F238E27FC236}">
                  <a16:creationId xmlns:a16="http://schemas.microsoft.com/office/drawing/2014/main" id="{7BA95D57-0422-177F-AB5C-7AF283229A0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356453" y="4376964"/>
              <a:ext cx="3469436" cy="2453437"/>
            </a:xfrm>
            <a:prstGeom prst="rect">
              <a:avLst/>
            </a:prstGeom>
          </p:spPr>
        </p:pic>
        <p:sp>
          <p:nvSpPr>
            <p:cNvPr id="53" name="CasellaDiTesto 52">
              <a:extLst>
                <a:ext uri="{FF2B5EF4-FFF2-40B4-BE49-F238E27FC236}">
                  <a16:creationId xmlns:a16="http://schemas.microsoft.com/office/drawing/2014/main" id="{2B6CEBF0-15B4-12B2-75BE-2604B78E4FC9}"/>
                </a:ext>
              </a:extLst>
            </p:cNvPr>
            <p:cNvSpPr txBox="1"/>
            <p:nvPr/>
          </p:nvSpPr>
          <p:spPr>
            <a:xfrm>
              <a:off x="4356453" y="5919048"/>
              <a:ext cx="3469436" cy="692497"/>
            </a:xfrm>
            <a:prstGeom prst="rect">
              <a:avLst/>
            </a:prstGeom>
            <a:noFill/>
          </p:spPr>
          <p:txBody>
            <a:bodyPr wrap="square">
              <a:spAutoFit/>
            </a:bodyPr>
            <a:lstStyle/>
            <a:p>
              <a:pPr algn="ctr"/>
              <a:r>
                <a:rPr lang="it-IT" sz="11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11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11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4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4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1400"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400" dirty="0">
                  <a:latin typeface="MS Shell Dlg 2" panose="020B0604030504040204" pitchFamily="34" charset="0"/>
                  <a:ea typeface="MS Shell Dlg 2" panose="020B0604030504040204" pitchFamily="34" charset="0"/>
                  <a:cs typeface="MS Shell Dlg 2" panose="020B0604030504040204" pitchFamily="34" charset="0"/>
                </a:rPr>
                <a:t> </a:t>
              </a:r>
              <a:r>
                <a:rPr lang="it-IT" sz="1050" i="1" dirty="0">
                  <a:latin typeface="MS Shell Dlg 2" panose="020B0604030504040204" pitchFamily="34" charset="0"/>
                  <a:ea typeface="MS Shell Dlg 2" panose="020B0604030504040204" pitchFamily="34" charset="0"/>
                  <a:cs typeface="MS Shell Dlg 2" panose="020B0604030504040204" pitchFamily="34" charset="0"/>
                </a:rPr>
                <a:t>&amp;</a:t>
              </a:r>
              <a:r>
                <a:rPr lang="it-IT" sz="1400" dirty="0">
                  <a:latin typeface="MS Shell Dlg 2" panose="020B0604030504040204" pitchFamily="34" charset="0"/>
                  <a:ea typeface="MS Shell Dlg 2" panose="020B0604030504040204" pitchFamily="34" charset="0"/>
                  <a:cs typeface="MS Shell Dlg 2" panose="020B0604030504040204" pitchFamily="34" charset="0"/>
                </a:rPr>
                <a:t> VAE </a:t>
              </a:r>
              <a:r>
                <a:rPr lang="it-IT" sz="1400" i="1" dirty="0">
                  <a:latin typeface="MS Shell Dlg 2" panose="020B0604030504040204" pitchFamily="34" charset="0"/>
                  <a:ea typeface="MS Shell Dlg 2" panose="020B0604030504040204" pitchFamily="34" charset="0"/>
                  <a:cs typeface="MS Shell Dlg 2" panose="020B0604030504040204" pitchFamily="34" charset="0"/>
                </a:rPr>
                <a:t>(+ Multi K-</a:t>
              </a:r>
              <a:r>
                <a:rPr lang="it-IT" sz="1400" i="1" dirty="0" err="1">
                  <a:latin typeface="MS Shell Dlg 2" panose="020B0604030504040204" pitchFamily="34" charset="0"/>
                  <a:ea typeface="MS Shell Dlg 2" panose="020B0604030504040204" pitchFamily="34" charset="0"/>
                  <a:cs typeface="MS Shell Dlg 2" panose="020B0604030504040204" pitchFamily="34" charset="0"/>
                </a:rPr>
                <a:t>means</a:t>
              </a:r>
              <a:r>
                <a:rPr lang="it-IT" sz="1400" i="1" dirty="0">
                  <a:latin typeface="MS Shell Dlg 2" panose="020B0604030504040204" pitchFamily="34" charset="0"/>
                  <a:ea typeface="MS Shell Dlg 2" panose="020B0604030504040204" pitchFamily="34" charset="0"/>
                  <a:cs typeface="MS Shell Dlg 2" panose="020B0604030504040204" pitchFamily="34" charset="0"/>
                </a:rPr>
                <a:t>)</a:t>
              </a:r>
              <a:endParaRPr lang="it-IT" sz="400" i="1"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1400" dirty="0">
                  <a:latin typeface="MS Shell Dlg 2" panose="020B0604030504040204" pitchFamily="34" charset="0"/>
                  <a:ea typeface="MS Shell Dlg 2" panose="020B0604030504040204" pitchFamily="34" charset="0"/>
                  <a:cs typeface="MS Shell Dlg 2" panose="020B0604030504040204" pitchFamily="34" charset="0"/>
                </a:rPr>
                <a:t>- </a:t>
              </a:r>
              <a:r>
                <a:rPr lang="it-IT" sz="1400" i="1" dirty="0" err="1">
                  <a:latin typeface="MS Shell Dlg 2" panose="020B0604030504040204" pitchFamily="34" charset="0"/>
                  <a:ea typeface="MS Shell Dlg 2" panose="020B0604030504040204" pitchFamily="34" charset="0"/>
                  <a:cs typeface="MS Shell Dlg 2" panose="020B0604030504040204" pitchFamily="34" charset="0"/>
                </a:rPr>
                <a:t>Ensamble</a:t>
              </a:r>
              <a:r>
                <a:rPr lang="it-IT" sz="14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1400" dirty="0">
                  <a:latin typeface="MS Shell Dlg 2" panose="020B0604030504040204" pitchFamily="34" charset="0"/>
                  <a:ea typeface="MS Shell Dlg 2" panose="020B0604030504040204" pitchFamily="34" charset="0"/>
                  <a:cs typeface="MS Shell Dlg 2" panose="020B0604030504040204" pitchFamily="34" charset="0"/>
                </a:rPr>
                <a:t>-</a:t>
              </a:r>
            </a:p>
          </p:txBody>
        </p:sp>
      </p:grpSp>
      <p:grpSp>
        <p:nvGrpSpPr>
          <p:cNvPr id="55" name="Gruppo 54">
            <a:extLst>
              <a:ext uri="{FF2B5EF4-FFF2-40B4-BE49-F238E27FC236}">
                <a16:creationId xmlns:a16="http://schemas.microsoft.com/office/drawing/2014/main" id="{0B1B05D1-27B9-D334-BE16-2D5FA1D8F64E}"/>
              </a:ext>
            </a:extLst>
          </p:cNvPr>
          <p:cNvGrpSpPr/>
          <p:nvPr/>
        </p:nvGrpSpPr>
        <p:grpSpPr>
          <a:xfrm>
            <a:off x="2072657" y="70452"/>
            <a:ext cx="1800000" cy="1272883"/>
            <a:chOff x="-4581995" y="1635293"/>
            <a:chExt cx="1800000" cy="1272883"/>
          </a:xfrm>
        </p:grpSpPr>
        <p:pic>
          <p:nvPicPr>
            <p:cNvPr id="35" name="Immagine 34" descr="Immagine che contiene mappa, testo, diagramma, atlante&#10;&#10;Descrizione generata automaticamente">
              <a:extLst>
                <a:ext uri="{FF2B5EF4-FFF2-40B4-BE49-F238E27FC236}">
                  <a16:creationId xmlns:a16="http://schemas.microsoft.com/office/drawing/2014/main" id="{F364701E-281B-0B7B-2700-BEF59E4D655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581995" y="1635293"/>
              <a:ext cx="1800000" cy="1272883"/>
            </a:xfrm>
            <a:prstGeom prst="rect">
              <a:avLst/>
            </a:prstGeom>
          </p:spPr>
        </p:pic>
        <p:sp>
          <p:nvSpPr>
            <p:cNvPr id="34" name="CasellaDiTesto 33">
              <a:extLst>
                <a:ext uri="{FF2B5EF4-FFF2-40B4-BE49-F238E27FC236}">
                  <a16:creationId xmlns:a16="http://schemas.microsoft.com/office/drawing/2014/main" id="{42F506B4-BA33-BF04-4CEE-694419B34ACB}"/>
                </a:ext>
              </a:extLst>
            </p:cNvPr>
            <p:cNvSpPr txBox="1"/>
            <p:nvPr/>
          </p:nvSpPr>
          <p:spPr>
            <a:xfrm>
              <a:off x="-4581995" y="2372260"/>
              <a:ext cx="1800000" cy="415498"/>
            </a:xfrm>
            <a:prstGeom prst="rect">
              <a:avLst/>
            </a:prstGeom>
            <a:noFill/>
          </p:spPr>
          <p:txBody>
            <a:bodyPr wrap="square">
              <a:spAutoFit/>
            </a:bodyPr>
            <a:lstStyle/>
            <a:p>
              <a:pPr algn="ctr"/>
              <a:r>
                <a:rPr lang="it-IT" sz="500" dirty="0" err="1">
                  <a:latin typeface="MS Shell Dlg 2" panose="020B0604030504040204" pitchFamily="34" charset="0"/>
                  <a:ea typeface="MS Shell Dlg 2" panose="020B0604030504040204" pitchFamily="34" charset="0"/>
                  <a:cs typeface="MS Shell Dlg 2" panose="020B0604030504040204" pitchFamily="34" charset="0"/>
                </a:rPr>
                <a:t>Ecosystem</a:t>
              </a:r>
              <a:r>
                <a:rPr lang="it-IT" sz="500" dirty="0">
                  <a:latin typeface="MS Shell Dlg 2" panose="020B0604030504040204" pitchFamily="34" charset="0"/>
                  <a:ea typeface="MS Shell Dlg 2" panose="020B0604030504040204" pitchFamily="34" charset="0"/>
                  <a:cs typeface="MS Shell Dlg 2" panose="020B0604030504040204" pitchFamily="34" charset="0"/>
                </a:rPr>
                <a:t> Risk </a:t>
              </a:r>
              <a:r>
                <a:rPr lang="it-IT" sz="500" dirty="0" err="1">
                  <a:latin typeface="MS Shell Dlg 2" panose="020B0604030504040204" pitchFamily="34" charset="0"/>
                  <a:ea typeface="MS Shell Dlg 2" panose="020B0604030504040204" pitchFamily="34" charset="0"/>
                  <a:cs typeface="MS Shell Dlg 2" panose="020B0604030504040204" pitchFamily="34" charset="0"/>
                </a:rPr>
                <a:t>Assessment</a:t>
              </a:r>
              <a:endParaRPr lang="it-IT" sz="8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Multi K-</a:t>
              </a:r>
              <a:r>
                <a:rPr lang="it-IT" sz="700" dirty="0" err="1">
                  <a:latin typeface="MS Shell Dlg 2" panose="020B0604030504040204" pitchFamily="34" charset="0"/>
                  <a:ea typeface="MS Shell Dlg 2" panose="020B0604030504040204" pitchFamily="34" charset="0"/>
                  <a:cs typeface="MS Shell Dlg 2" panose="020B0604030504040204" pitchFamily="34" charset="0"/>
                </a:rPr>
                <a:t>means</a:t>
              </a:r>
              <a:endParaRPr lang="it-IT" sz="700" dirty="0">
                <a:latin typeface="MS Shell Dlg 2" panose="020B0604030504040204" pitchFamily="34" charset="0"/>
                <a:ea typeface="MS Shell Dlg 2" panose="020B0604030504040204" pitchFamily="34" charset="0"/>
                <a:cs typeface="MS Shell Dlg 2" panose="020B0604030504040204" pitchFamily="34" charset="0"/>
              </a:endParaRPr>
            </a:p>
            <a:p>
              <a:pPr algn="ctr"/>
              <a:r>
                <a:rPr lang="it-IT" sz="700"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Five</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i="1"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sz="7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700" dirty="0">
                  <a:latin typeface="MS Shell Dlg 2" panose="020B0604030504040204" pitchFamily="34" charset="0"/>
                  <a:ea typeface="MS Shell Dlg 2" panose="020B0604030504040204" pitchFamily="34" charset="0"/>
                  <a:cs typeface="MS Shell Dlg 2" panose="020B0604030504040204" pitchFamily="34" charset="0"/>
                </a:rPr>
                <a:t>–</a:t>
              </a:r>
            </a:p>
            <a:p>
              <a:pPr algn="ct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Limanda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limanda</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Merlangius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merlangus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Platichthys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flesus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200" i="1" dirty="0" err="1">
                  <a:latin typeface="MS Shell Dlg 2" panose="020B0604030504040204" pitchFamily="34" charset="0"/>
                  <a:ea typeface="MS Shell Dlg 2" panose="020B0604030504040204" pitchFamily="34" charset="0"/>
                  <a:cs typeface="MS Shell Dlg 2" panose="020B0604030504040204" pitchFamily="34" charset="0"/>
                </a:rPr>
                <a:t>Pleuronectes</a:t>
              </a:r>
              <a:r>
                <a:rPr lang="it-IT" sz="200" i="1" dirty="0">
                  <a:latin typeface="MS Shell Dlg 2" panose="020B0604030504040204" pitchFamily="34" charset="0"/>
                  <a:ea typeface="MS Shell Dlg 2" panose="020B0604030504040204" pitchFamily="34" charset="0"/>
                  <a:cs typeface="MS Shell Dlg 2" panose="020B0604030504040204" pitchFamily="34" charset="0"/>
                </a:rPr>
                <a:t> platessa</a:t>
              </a:r>
              <a:endParaRPr lang="it-IT" sz="1600" dirty="0">
                <a:latin typeface="MS Shell Dlg 2" panose="020B0604030504040204" pitchFamily="34" charset="0"/>
                <a:ea typeface="MS Shell Dlg 2" panose="020B0604030504040204" pitchFamily="34" charset="0"/>
                <a:cs typeface="MS Shell Dlg 2" panose="020B0604030504040204" pitchFamily="34" charset="0"/>
              </a:endParaRPr>
            </a:p>
          </p:txBody>
        </p:sp>
      </p:grpSp>
      <p:sp>
        <p:nvSpPr>
          <p:cNvPr id="70" name="Rettangolo 69">
            <a:extLst>
              <a:ext uri="{FF2B5EF4-FFF2-40B4-BE49-F238E27FC236}">
                <a16:creationId xmlns:a16="http://schemas.microsoft.com/office/drawing/2014/main" id="{C7DD44C2-20DD-FB06-67DF-555E6C01D40A}"/>
              </a:ext>
            </a:extLst>
          </p:cNvPr>
          <p:cNvSpPr/>
          <p:nvPr/>
        </p:nvSpPr>
        <p:spPr>
          <a:xfrm>
            <a:off x="128215" y="5603682"/>
            <a:ext cx="288000" cy="288000"/>
          </a:xfrm>
          <a:prstGeom prst="rect">
            <a:avLst/>
          </a:prstGeom>
          <a:solidFill>
            <a:srgbClr val="FF00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600"/>
          </a:p>
        </p:txBody>
      </p:sp>
      <p:sp>
        <p:nvSpPr>
          <p:cNvPr id="71" name="Rettangolo 70">
            <a:extLst>
              <a:ext uri="{FF2B5EF4-FFF2-40B4-BE49-F238E27FC236}">
                <a16:creationId xmlns:a16="http://schemas.microsoft.com/office/drawing/2014/main" id="{108F587A-A949-2C8A-FDAB-CF0A3CA824F2}"/>
              </a:ext>
            </a:extLst>
          </p:cNvPr>
          <p:cNvSpPr/>
          <p:nvPr/>
        </p:nvSpPr>
        <p:spPr>
          <a:xfrm>
            <a:off x="128215" y="6012261"/>
            <a:ext cx="288000" cy="288000"/>
          </a:xfrm>
          <a:prstGeom prst="rect">
            <a:avLst/>
          </a:prstGeom>
          <a:solidFill>
            <a:srgbClr val="FF64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600"/>
          </a:p>
        </p:txBody>
      </p:sp>
      <p:sp>
        <p:nvSpPr>
          <p:cNvPr id="72" name="Rettangolo 71">
            <a:extLst>
              <a:ext uri="{FF2B5EF4-FFF2-40B4-BE49-F238E27FC236}">
                <a16:creationId xmlns:a16="http://schemas.microsoft.com/office/drawing/2014/main" id="{3EF29BE7-2E5B-691B-93A5-26ED6100C25C}"/>
              </a:ext>
            </a:extLst>
          </p:cNvPr>
          <p:cNvSpPr/>
          <p:nvPr/>
        </p:nvSpPr>
        <p:spPr>
          <a:xfrm>
            <a:off x="128215" y="6420840"/>
            <a:ext cx="288000" cy="288000"/>
          </a:xfrm>
          <a:prstGeom prst="rect">
            <a:avLst/>
          </a:prstGeom>
          <a:solidFill>
            <a:srgbClr val="FFFF00"/>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600"/>
          </a:p>
        </p:txBody>
      </p:sp>
      <p:sp>
        <p:nvSpPr>
          <p:cNvPr id="73" name="CasellaDiTesto 72">
            <a:extLst>
              <a:ext uri="{FF2B5EF4-FFF2-40B4-BE49-F238E27FC236}">
                <a16:creationId xmlns:a16="http://schemas.microsoft.com/office/drawing/2014/main" id="{C2CBA103-16DE-3F58-81AD-EB31DCEA726C}"/>
              </a:ext>
            </a:extLst>
          </p:cNvPr>
          <p:cNvSpPr txBox="1"/>
          <p:nvPr/>
        </p:nvSpPr>
        <p:spPr>
          <a:xfrm>
            <a:off x="416215" y="5639960"/>
            <a:ext cx="3063668" cy="215444"/>
          </a:xfrm>
          <a:prstGeom prst="rect">
            <a:avLst/>
          </a:prstGeom>
          <a:noFill/>
        </p:spPr>
        <p:txBody>
          <a:bodyPr wrap="square" rtlCol="0">
            <a:spAutoFit/>
          </a:bodyPr>
          <a:lstStyle/>
          <a:p>
            <a:r>
              <a:rPr lang="it-IT" sz="800" dirty="0" err="1">
                <a:latin typeface="MS Shell Dlg 2" panose="020B0604030504040204" pitchFamily="34" charset="0"/>
                <a:ea typeface="MS Shell Dlg 2" panose="020B0604030504040204" pitchFamily="34" charset="0"/>
                <a:cs typeface="MS Shell Dlg 2" panose="020B0604030504040204" pitchFamily="34" charset="0"/>
              </a:rPr>
              <a:t>All</a:t>
            </a:r>
            <a:r>
              <a:rPr lang="it-IT" sz="800" dirty="0">
                <a:latin typeface="MS Shell Dlg 2" panose="020B0604030504040204" pitchFamily="34" charset="0"/>
                <a:ea typeface="MS Shell Dlg 2" panose="020B0604030504040204" pitchFamily="34" charset="0"/>
                <a:cs typeface="MS Shell Dlg 2" panose="020B0604030504040204" pitchFamily="34" charset="0"/>
              </a:rPr>
              <a:t> 145 </a:t>
            </a:r>
            <a:r>
              <a:rPr lang="it-IT" sz="800"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sz="800" dirty="0">
                <a:latin typeface="MS Shell Dlg 2" panose="020B0604030504040204" pitchFamily="34" charset="0"/>
                <a:ea typeface="MS Shell Dlg 2" panose="020B0604030504040204" pitchFamily="34" charset="0"/>
                <a:cs typeface="MS Shell Dlg 2" panose="020B0604030504040204" pitchFamily="34" charset="0"/>
              </a:rPr>
              <a:t> (from BITS 2020)</a:t>
            </a:r>
          </a:p>
        </p:txBody>
      </p:sp>
      <p:sp>
        <p:nvSpPr>
          <p:cNvPr id="74" name="CasellaDiTesto 73">
            <a:extLst>
              <a:ext uri="{FF2B5EF4-FFF2-40B4-BE49-F238E27FC236}">
                <a16:creationId xmlns:a16="http://schemas.microsoft.com/office/drawing/2014/main" id="{F533B605-7770-33A0-8B30-8A6E13A353AC}"/>
              </a:ext>
            </a:extLst>
          </p:cNvPr>
          <p:cNvSpPr txBox="1"/>
          <p:nvPr/>
        </p:nvSpPr>
        <p:spPr>
          <a:xfrm>
            <a:off x="416215" y="6012261"/>
            <a:ext cx="2972145" cy="292388"/>
          </a:xfrm>
          <a:prstGeom prst="rect">
            <a:avLst/>
          </a:prstGeom>
          <a:noFill/>
        </p:spPr>
        <p:txBody>
          <a:bodyPr wrap="square" rtlCol="0">
            <a:spAutoFit/>
          </a:bodyPr>
          <a:lstStyle/>
          <a:p>
            <a:r>
              <a:rPr lang="it-IT" sz="800" dirty="0" err="1">
                <a:latin typeface="MS Shell Dlg 2" panose="020B0604030504040204" pitchFamily="34" charset="0"/>
                <a:ea typeface="MS Shell Dlg 2" panose="020B0604030504040204" pitchFamily="34" charset="0"/>
                <a:cs typeface="MS Shell Dlg 2" panose="020B0604030504040204" pitchFamily="34" charset="0"/>
              </a:rPr>
              <a:t>Five</a:t>
            </a:r>
            <a:r>
              <a:rPr lang="it-IT" sz="800" dirty="0">
                <a:latin typeface="MS Shell Dlg 2" panose="020B0604030504040204" pitchFamily="34" charset="0"/>
                <a:ea typeface="MS Shell Dlg 2" panose="020B0604030504040204" pitchFamily="34" charset="0"/>
                <a:cs typeface="MS Shell Dlg 2" panose="020B0604030504040204" pitchFamily="34" charset="0"/>
              </a:rPr>
              <a:t> commercial </a:t>
            </a:r>
            <a:r>
              <a:rPr lang="it-IT" sz="800" dirty="0" err="1">
                <a:latin typeface="MS Shell Dlg 2" panose="020B0604030504040204" pitchFamily="34" charset="0"/>
                <a:ea typeface="MS Shell Dlg 2" panose="020B0604030504040204" pitchFamily="34" charset="0"/>
                <a:cs typeface="MS Shell Dlg 2" panose="020B0604030504040204" pitchFamily="34" charset="0"/>
              </a:rPr>
              <a:t>species</a:t>
            </a:r>
            <a:r>
              <a:rPr lang="it-IT" sz="800" dirty="0">
                <a:latin typeface="MS Shell Dlg 2" panose="020B0604030504040204" pitchFamily="34" charset="0"/>
                <a:ea typeface="MS Shell Dlg 2" panose="020B0604030504040204" pitchFamily="34" charset="0"/>
                <a:cs typeface="MS Shell Dlg 2" panose="020B0604030504040204" pitchFamily="34" charset="0"/>
              </a:rPr>
              <a:t> (from BITS 2020)</a:t>
            </a:r>
          </a:p>
          <a:p>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Limanda </a:t>
            </a:r>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limanda</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Merlangius</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merlangus</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Platichthys</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flesus</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a:t>
            </a:r>
            <a:r>
              <a:rPr lang="it-IT" sz="500" i="1" dirty="0" err="1">
                <a:latin typeface="MS Shell Dlg 2" panose="020B0604030504040204" pitchFamily="34" charset="0"/>
                <a:ea typeface="MS Shell Dlg 2" panose="020B0604030504040204" pitchFamily="34" charset="0"/>
                <a:cs typeface="MS Shell Dlg 2" panose="020B0604030504040204" pitchFamily="34" charset="0"/>
              </a:rPr>
              <a:t>Pleuronectes</a:t>
            </a:r>
            <a:r>
              <a:rPr lang="it-IT" sz="500" i="1" dirty="0">
                <a:latin typeface="MS Shell Dlg 2" panose="020B0604030504040204" pitchFamily="34" charset="0"/>
                <a:ea typeface="MS Shell Dlg 2" panose="020B0604030504040204" pitchFamily="34" charset="0"/>
                <a:cs typeface="MS Shell Dlg 2" panose="020B0604030504040204" pitchFamily="34" charset="0"/>
              </a:rPr>
              <a:t> platessa</a:t>
            </a:r>
            <a:endParaRPr lang="it-IT" sz="500" dirty="0"/>
          </a:p>
        </p:txBody>
      </p:sp>
      <p:sp>
        <p:nvSpPr>
          <p:cNvPr id="75" name="CasellaDiTesto 74">
            <a:extLst>
              <a:ext uri="{FF2B5EF4-FFF2-40B4-BE49-F238E27FC236}">
                <a16:creationId xmlns:a16="http://schemas.microsoft.com/office/drawing/2014/main" id="{E0369804-7F92-BCF4-C361-66EF88C2F120}"/>
              </a:ext>
            </a:extLst>
          </p:cNvPr>
          <p:cNvSpPr txBox="1"/>
          <p:nvPr/>
        </p:nvSpPr>
        <p:spPr>
          <a:xfrm>
            <a:off x="416215" y="6457118"/>
            <a:ext cx="3063668" cy="215444"/>
          </a:xfrm>
          <a:prstGeom prst="rect">
            <a:avLst/>
          </a:prstGeom>
          <a:noFill/>
        </p:spPr>
        <p:txBody>
          <a:bodyPr wrap="square" rtlCol="0">
            <a:spAutoFit/>
          </a:bodyPr>
          <a:lstStyle/>
          <a:p>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Gadus</a:t>
            </a:r>
            <a:r>
              <a:rPr lang="it-IT" sz="800" dirty="0">
                <a:latin typeface="MS Shell Dlg 2" panose="020B0604030504040204" pitchFamily="34" charset="0"/>
                <a:ea typeface="MS Shell Dlg 2" panose="020B0604030504040204" pitchFamily="34" charset="0"/>
                <a:cs typeface="MS Shell Dlg 2" panose="020B0604030504040204" pitchFamily="34" charset="0"/>
              </a:rPr>
              <a:t> </a:t>
            </a:r>
            <a:r>
              <a:rPr lang="it-IT" sz="800" i="1" dirty="0" err="1">
                <a:latin typeface="MS Shell Dlg 2" panose="020B0604030504040204" pitchFamily="34" charset="0"/>
                <a:ea typeface="MS Shell Dlg 2" panose="020B0604030504040204" pitchFamily="34" charset="0"/>
                <a:cs typeface="MS Shell Dlg 2" panose="020B0604030504040204" pitchFamily="34" charset="0"/>
              </a:rPr>
              <a:t>morhua</a:t>
            </a:r>
            <a:r>
              <a:rPr lang="it-IT" sz="800" dirty="0">
                <a:latin typeface="MS Shell Dlg 2" panose="020B0604030504040204" pitchFamily="34" charset="0"/>
                <a:ea typeface="MS Shell Dlg 2" panose="020B0604030504040204" pitchFamily="34" charset="0"/>
                <a:cs typeface="MS Shell Dlg 2" panose="020B0604030504040204" pitchFamily="34" charset="0"/>
              </a:rPr>
              <a:t> (from BITS 2020)</a:t>
            </a:r>
          </a:p>
        </p:txBody>
      </p:sp>
      <p:cxnSp>
        <p:nvCxnSpPr>
          <p:cNvPr id="77" name="Connettore 2 76">
            <a:extLst>
              <a:ext uri="{FF2B5EF4-FFF2-40B4-BE49-F238E27FC236}">
                <a16:creationId xmlns:a16="http://schemas.microsoft.com/office/drawing/2014/main" id="{8C0160F5-4C49-0569-E585-69B9BE98F30D}"/>
              </a:ext>
            </a:extLst>
          </p:cNvPr>
          <p:cNvCxnSpPr>
            <a:cxnSpLocks/>
            <a:stCxn id="23" idx="2"/>
            <a:endCxn id="46" idx="0"/>
          </p:cNvCxnSpPr>
          <p:nvPr/>
        </p:nvCxnSpPr>
        <p:spPr>
          <a:xfrm>
            <a:off x="1056957" y="1343335"/>
            <a:ext cx="1915700" cy="62575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80" name="Connettore 2 79">
            <a:extLst>
              <a:ext uri="{FF2B5EF4-FFF2-40B4-BE49-F238E27FC236}">
                <a16:creationId xmlns:a16="http://schemas.microsoft.com/office/drawing/2014/main" id="{1015F48D-8FF4-C21C-F560-8AA0D7A87BB8}"/>
              </a:ext>
            </a:extLst>
          </p:cNvPr>
          <p:cNvCxnSpPr>
            <a:cxnSpLocks/>
            <a:stCxn id="35" idx="2"/>
            <a:endCxn id="46" idx="0"/>
          </p:cNvCxnSpPr>
          <p:nvPr/>
        </p:nvCxnSpPr>
        <p:spPr>
          <a:xfrm>
            <a:off x="2972657" y="1343335"/>
            <a:ext cx="0" cy="62575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83" name="Connettore 2 82">
            <a:extLst>
              <a:ext uri="{FF2B5EF4-FFF2-40B4-BE49-F238E27FC236}">
                <a16:creationId xmlns:a16="http://schemas.microsoft.com/office/drawing/2014/main" id="{ED6F75EE-7DD7-44BA-6700-014AEEE711BC}"/>
              </a:ext>
            </a:extLst>
          </p:cNvPr>
          <p:cNvCxnSpPr>
            <a:stCxn id="29" idx="2"/>
            <a:endCxn id="46" idx="0"/>
          </p:cNvCxnSpPr>
          <p:nvPr/>
        </p:nvCxnSpPr>
        <p:spPr>
          <a:xfrm flipH="1">
            <a:off x="2972657" y="1343335"/>
            <a:ext cx="1915700" cy="62575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85" name="Connettore 2 84">
            <a:extLst>
              <a:ext uri="{FF2B5EF4-FFF2-40B4-BE49-F238E27FC236}">
                <a16:creationId xmlns:a16="http://schemas.microsoft.com/office/drawing/2014/main" id="{2B279BD8-A6E0-4153-61DA-7F06359911D7}"/>
              </a:ext>
            </a:extLst>
          </p:cNvPr>
          <p:cNvCxnSpPr>
            <a:stCxn id="40" idx="2"/>
            <a:endCxn id="49" idx="0"/>
          </p:cNvCxnSpPr>
          <p:nvPr/>
        </p:nvCxnSpPr>
        <p:spPr>
          <a:xfrm>
            <a:off x="9176617" y="1343335"/>
            <a:ext cx="1690" cy="62575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87" name="Connettore 2 86">
            <a:extLst>
              <a:ext uri="{FF2B5EF4-FFF2-40B4-BE49-F238E27FC236}">
                <a16:creationId xmlns:a16="http://schemas.microsoft.com/office/drawing/2014/main" id="{2EEDB505-6ABC-83FB-58DB-298152534008}"/>
              </a:ext>
            </a:extLst>
          </p:cNvPr>
          <p:cNvCxnSpPr>
            <a:stCxn id="37" idx="2"/>
            <a:endCxn id="49" idx="0"/>
          </p:cNvCxnSpPr>
          <p:nvPr/>
        </p:nvCxnSpPr>
        <p:spPr>
          <a:xfrm>
            <a:off x="7260917" y="1343335"/>
            <a:ext cx="1917390" cy="62575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89" name="Connettore 2 88">
            <a:extLst>
              <a:ext uri="{FF2B5EF4-FFF2-40B4-BE49-F238E27FC236}">
                <a16:creationId xmlns:a16="http://schemas.microsoft.com/office/drawing/2014/main" id="{36B6AFE1-07DD-BC37-A5B0-4359F252A256}"/>
              </a:ext>
            </a:extLst>
          </p:cNvPr>
          <p:cNvCxnSpPr>
            <a:stCxn id="43" idx="2"/>
            <a:endCxn id="49" idx="0"/>
          </p:cNvCxnSpPr>
          <p:nvPr/>
        </p:nvCxnSpPr>
        <p:spPr>
          <a:xfrm flipH="1">
            <a:off x="9178307" y="1343335"/>
            <a:ext cx="1914010" cy="625757"/>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91" name="Connettore 2 90">
            <a:extLst>
              <a:ext uri="{FF2B5EF4-FFF2-40B4-BE49-F238E27FC236}">
                <a16:creationId xmlns:a16="http://schemas.microsoft.com/office/drawing/2014/main" id="{620D0AD4-1BCA-1D5E-AB16-CA3DCCF055E7}"/>
              </a:ext>
            </a:extLst>
          </p:cNvPr>
          <p:cNvCxnSpPr>
            <a:stCxn id="46" idx="2"/>
            <a:endCxn id="52" idx="1"/>
          </p:cNvCxnSpPr>
          <p:nvPr/>
        </p:nvCxnSpPr>
        <p:spPr>
          <a:xfrm>
            <a:off x="2972657" y="4157901"/>
            <a:ext cx="1388625" cy="135676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93" name="Connettore 2 92">
            <a:extLst>
              <a:ext uri="{FF2B5EF4-FFF2-40B4-BE49-F238E27FC236}">
                <a16:creationId xmlns:a16="http://schemas.microsoft.com/office/drawing/2014/main" id="{13A45A39-4DFD-32D0-D8D6-255766350F73}"/>
              </a:ext>
            </a:extLst>
          </p:cNvPr>
          <p:cNvCxnSpPr>
            <a:stCxn id="49" idx="2"/>
            <a:endCxn id="52" idx="3"/>
          </p:cNvCxnSpPr>
          <p:nvPr/>
        </p:nvCxnSpPr>
        <p:spPr>
          <a:xfrm flipH="1">
            <a:off x="7830718" y="4157901"/>
            <a:ext cx="1347589" cy="1356764"/>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54481370"/>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2039</TotalTime>
  <Words>3717</Words>
  <Application>Microsoft Office PowerPoint</Application>
  <PresentationFormat>Widescreen</PresentationFormat>
  <Paragraphs>287</Paragraphs>
  <Slides>14</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14</vt:i4>
      </vt:variant>
    </vt:vector>
  </HeadingPairs>
  <TitlesOfParts>
    <vt:vector size="19" baseType="lpstr">
      <vt:lpstr>Aptos</vt:lpstr>
      <vt:lpstr>Aptos Display</vt:lpstr>
      <vt:lpstr>Arial</vt:lpstr>
      <vt:lpstr>MS Shell Dlg 2</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Laura Pavirani</dc:creator>
  <cp:lastModifiedBy>Laura Pavirani</cp:lastModifiedBy>
  <cp:revision>86</cp:revision>
  <cp:lastPrinted>2025-12-12T09:13:38Z</cp:lastPrinted>
  <dcterms:created xsi:type="dcterms:W3CDTF">2025-12-10T09:17:21Z</dcterms:created>
  <dcterms:modified xsi:type="dcterms:W3CDTF">2025-12-18T11:31:50Z</dcterms:modified>
</cp:coreProperties>
</file>