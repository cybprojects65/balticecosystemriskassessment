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0" r:id="rId3"/>
    <p:sldId id="258" r:id="rId4"/>
    <p:sldId id="261" r:id="rId5"/>
    <p:sldId id="259"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Lst>
  <p:sldSz cx="12192000" cy="6858000"/>
  <p:notesSz cx="6735763" cy="98663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km - all spp" id="{A805E225-AFCB-41F4-A93F-3547F6EC7C98}">
          <p14:sldIdLst>
            <p14:sldId id="257"/>
            <p14:sldId id="260"/>
          </p14:sldIdLst>
        </p14:section>
        <p14:section name="mkm - five spp" id="{1C7B0101-1060-4B33-913A-3F9859A7BEEF}">
          <p14:sldIdLst>
            <p14:sldId id="258"/>
            <p14:sldId id="261"/>
          </p14:sldIdLst>
        </p14:section>
        <p14:section name="mkm - gadus morhua" id="{BA4EB1F9-6F98-45B7-A895-24E26D34C2F4}">
          <p14:sldIdLst>
            <p14:sldId id="259"/>
            <p14:sldId id="262"/>
          </p14:sldIdLst>
        </p14:section>
        <p14:section name="vae - all spp" id="{8F148BFE-7AEE-4126-AEA0-C8072BE307A7}">
          <p14:sldIdLst>
            <p14:sldId id="263"/>
            <p14:sldId id="264"/>
          </p14:sldIdLst>
        </p14:section>
        <p14:section name="vae - five spp" id="{4F13373D-6E6A-42A3-B29F-E1B6BDBCFFAA}">
          <p14:sldIdLst>
            <p14:sldId id="265"/>
            <p14:sldId id="266"/>
          </p14:sldIdLst>
        </p14:section>
        <p14:section name="vae - gadus morhua" id="{3962C957-CEA9-4734-88F2-4E7248CD5DDD}">
          <p14:sldIdLst>
            <p14:sldId id="267"/>
            <p14:sldId id="268"/>
          </p14:sldIdLst>
        </p14:section>
        <p14:section name="mkm - ensamble" id="{9ED4AFFB-662D-4003-AD23-FD99C1B60F6B}">
          <p14:sldIdLst>
            <p14:sldId id="269"/>
            <p14:sldId id="270"/>
          </p14:sldIdLst>
        </p14:section>
        <p14:section name="vae - ensamble" id="{1B3F18D0-6634-444B-9379-EA1D8A76E847}">
          <p14:sldIdLst>
            <p14:sldId id="271"/>
            <p14:sldId id="272"/>
          </p14:sldIdLst>
        </p14:section>
        <p14:section name="mkm + vae" id="{D7789E8E-696D-4013-9505-A8637F0CD33D}">
          <p14:sldIdLst>
            <p14:sldId id="273"/>
            <p14:sldId id="27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showGuides="1">
      <p:cViewPr varScale="1">
        <p:scale>
          <a:sx n="149" d="100"/>
          <a:sy n="149" d="100"/>
        </p:scale>
        <p:origin x="692"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6BBE0A0-CBF8-A0EF-66AB-8F89817A127C}"/>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33F7040D-11A4-CF1D-1272-84DEAD34FA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FBDB4F6-4B81-794F-22B5-CD4866E68B8E}"/>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5" name="Segnaposto piè di pagina 4">
            <a:extLst>
              <a:ext uri="{FF2B5EF4-FFF2-40B4-BE49-F238E27FC236}">
                <a16:creationId xmlns:a16="http://schemas.microsoft.com/office/drawing/2014/main" id="{C9427516-1345-33C4-E15E-2299256B318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94DDD7A-F440-879C-102E-DB95AB317D07}"/>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32304978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5A818FA-C53D-C5AE-6199-26C5AA2E216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140B71BD-9098-04F8-D81D-BEBE134F9D46}"/>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AA05D9CD-BF74-F0E4-4AAE-9F430399EAB6}"/>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5" name="Segnaposto piè di pagina 4">
            <a:extLst>
              <a:ext uri="{FF2B5EF4-FFF2-40B4-BE49-F238E27FC236}">
                <a16:creationId xmlns:a16="http://schemas.microsoft.com/office/drawing/2014/main" id="{31C888C0-7D7E-D22E-B2C0-7DE2F644E335}"/>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344CB40-9140-63AB-2615-8CA794AF999E}"/>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4162935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4382034-B89E-9573-3B68-81FC7437158A}"/>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0B0CA49-16B5-1608-E94D-C569AE4D5B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948EA4C0-8501-38B3-5469-B035799BA4F8}"/>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5" name="Segnaposto piè di pagina 4">
            <a:extLst>
              <a:ext uri="{FF2B5EF4-FFF2-40B4-BE49-F238E27FC236}">
                <a16:creationId xmlns:a16="http://schemas.microsoft.com/office/drawing/2014/main" id="{B091514B-FFFC-EAA7-C38D-031B4130ED8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621FAB4-3F99-C15F-0CEE-C7D491815594}"/>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606957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DC9BDA0-5EF4-EA9A-E147-DCAABB098BC7}"/>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4A02E991-1B5E-CB07-F1B0-0150F84B53DB}"/>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6F7B740E-F8E7-3AEB-2DD9-32F1EE3454C0}"/>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50909FF4-C43F-76FA-742E-2B9E28927F65}"/>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6" name="Segnaposto piè di pagina 5">
            <a:extLst>
              <a:ext uri="{FF2B5EF4-FFF2-40B4-BE49-F238E27FC236}">
                <a16:creationId xmlns:a16="http://schemas.microsoft.com/office/drawing/2014/main" id="{727AC408-A3B5-20F4-815D-585BAAE0DCE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ED447E2D-0290-0DC9-4EB8-BE766BD8465C}"/>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34623171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A0400B7-74AE-CFF3-4A2D-CDB42C5BD265}"/>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0CA461D9-FED0-5BB7-A8DB-5A80C84D94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E7F8C463-1EC1-DEAB-4BF9-659C97B08437}"/>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4AA83D10-5E45-B387-55C2-9DBBE08E8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D7C50233-38BE-B1CD-892D-CFD0B9BE542D}"/>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6F5F16F4-8F11-8C73-49F2-4E011C375F4C}"/>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8" name="Segnaposto piè di pagina 7">
            <a:extLst>
              <a:ext uri="{FF2B5EF4-FFF2-40B4-BE49-F238E27FC236}">
                <a16:creationId xmlns:a16="http://schemas.microsoft.com/office/drawing/2014/main" id="{4F7372DB-AA40-AC65-5B1F-3C89A809D561}"/>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FE492B74-C8F6-60CA-FDC7-EB18DCE85F5E}"/>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8221145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73C598-C749-B71B-97E5-83340FDCB3D1}"/>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993A9799-37B1-C52D-1845-CC4996003684}"/>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4" name="Segnaposto piè di pagina 3">
            <a:extLst>
              <a:ext uri="{FF2B5EF4-FFF2-40B4-BE49-F238E27FC236}">
                <a16:creationId xmlns:a16="http://schemas.microsoft.com/office/drawing/2014/main" id="{56836BD7-9F6A-D174-748B-07C939B47211}"/>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6088E0A9-C532-A01C-F682-24B9AAD0CC1A}"/>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003988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4C243262-14B8-B36C-1692-24880F80C039}"/>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3" name="Segnaposto piè di pagina 2">
            <a:extLst>
              <a:ext uri="{FF2B5EF4-FFF2-40B4-BE49-F238E27FC236}">
                <a16:creationId xmlns:a16="http://schemas.microsoft.com/office/drawing/2014/main" id="{93A8752F-C94B-2E82-DF15-31433EEF754A}"/>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5DB2BB79-9A68-76E9-63C9-26FB93787267}"/>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863480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B9FF27C-4CB6-C5AD-FF2B-1989FF37085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12E4E98-1C0B-DB46-E2A7-D6A4B276DE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111FF215-5A83-7627-335E-5C78579DC8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C7D04CF5-52F0-E6E8-E7BD-4F9391BC215C}"/>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6" name="Segnaposto piè di pagina 5">
            <a:extLst>
              <a:ext uri="{FF2B5EF4-FFF2-40B4-BE49-F238E27FC236}">
                <a16:creationId xmlns:a16="http://schemas.microsoft.com/office/drawing/2014/main" id="{B87EFF67-96C9-9EF1-7FB4-28FD53F57E6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59C4DF7E-E2D4-9451-9970-777102C53F62}"/>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828263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E9D771-2F9B-FA04-1B37-34FF27D745C0}"/>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FB0C827E-9BE8-2E98-F5B2-E1323A23F66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5796002-26C1-672C-8C0E-DA26A7D7E5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DDF69D20-0F19-7919-1F86-4ED89DFFB250}"/>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6" name="Segnaposto piè di pagina 5">
            <a:extLst>
              <a:ext uri="{FF2B5EF4-FFF2-40B4-BE49-F238E27FC236}">
                <a16:creationId xmlns:a16="http://schemas.microsoft.com/office/drawing/2014/main" id="{E352CF88-6B0C-81BE-5D8D-8FF2E8E526E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DE24CF7D-0491-9667-C368-C38AD9D45F7F}"/>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1906451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2F5F81F-7189-97E5-5462-0A9085636380}"/>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1A5D2A5E-0F27-F010-17B3-9FA09A4AAFFE}"/>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2CA576B-3A62-85B0-5A3B-B06B0DB7ABFC}"/>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5" name="Segnaposto piè di pagina 4">
            <a:extLst>
              <a:ext uri="{FF2B5EF4-FFF2-40B4-BE49-F238E27FC236}">
                <a16:creationId xmlns:a16="http://schemas.microsoft.com/office/drawing/2014/main" id="{3B77D120-63AB-ECD1-4620-D6D01D118F8C}"/>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92B85CE9-4AAF-D723-1872-B5936019B05B}"/>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7589179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C2EF1D34-BE4C-D40B-633A-CE1081D1C3C9}"/>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22EB05C5-F410-3AB6-9833-CEDCCF15A7BD}"/>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0B66FC0-C212-4EF8-C72D-B0DD2C506D10}"/>
              </a:ext>
            </a:extLst>
          </p:cNvPr>
          <p:cNvSpPr>
            <a:spLocks noGrp="1"/>
          </p:cNvSpPr>
          <p:nvPr>
            <p:ph type="dt" sz="half" idx="10"/>
          </p:nvPr>
        </p:nvSpPr>
        <p:spPr/>
        <p:txBody>
          <a:bodyPr/>
          <a:lstStyle/>
          <a:p>
            <a:fld id="{8FD2010B-0304-4359-A36D-7ABB3F867AC8}" type="datetimeFigureOut">
              <a:rPr lang="it-IT" smtClean="0"/>
              <a:t>12/12/2025</a:t>
            </a:fld>
            <a:endParaRPr lang="it-IT"/>
          </a:p>
        </p:txBody>
      </p:sp>
      <p:sp>
        <p:nvSpPr>
          <p:cNvPr id="5" name="Segnaposto piè di pagina 4">
            <a:extLst>
              <a:ext uri="{FF2B5EF4-FFF2-40B4-BE49-F238E27FC236}">
                <a16:creationId xmlns:a16="http://schemas.microsoft.com/office/drawing/2014/main" id="{CBBD3EDA-4080-57C3-7844-35C438F58539}"/>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BF9DF2A-1C54-987C-D14B-02DBA9E7C353}"/>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397838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A38C893F-6660-6807-1189-CD19430D1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6E02A44D-32F0-7545-D7F9-8CDFE20EBB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517CE55-1C6F-8D1B-EAAE-F57BE00D8E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D2010B-0304-4359-A36D-7ABB3F867AC8}" type="datetimeFigureOut">
              <a:rPr lang="it-IT" smtClean="0"/>
              <a:t>12/12/2025</a:t>
            </a:fld>
            <a:endParaRPr lang="it-IT"/>
          </a:p>
        </p:txBody>
      </p:sp>
      <p:sp>
        <p:nvSpPr>
          <p:cNvPr id="5" name="Segnaposto piè di pagina 4">
            <a:extLst>
              <a:ext uri="{FF2B5EF4-FFF2-40B4-BE49-F238E27FC236}">
                <a16:creationId xmlns:a16="http://schemas.microsoft.com/office/drawing/2014/main" id="{33ABF1CA-1DDE-9D8C-8B18-E59C857422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D8E9A230-1255-CF33-71CA-32D5A27B2E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1EA57E-E379-4B46-AB2C-561019FDBF6D}" type="slidenum">
              <a:rPr lang="it-IT" smtClean="0"/>
              <a:t>‹N›</a:t>
            </a:fld>
            <a:endParaRPr lang="it-IT"/>
          </a:p>
        </p:txBody>
      </p:sp>
    </p:spTree>
    <p:extLst>
      <p:ext uri="{BB962C8B-B14F-4D97-AF65-F5344CB8AC3E}">
        <p14:creationId xmlns:p14="http://schemas.microsoft.com/office/powerpoint/2010/main" val="42781995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B38E7429-5060-5B7C-8506-655E1C8CF9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D5FC6E3C-5C82-FF38-D4BD-308B60B78F72}"/>
              </a:ext>
            </a:extLst>
          </p:cNvPr>
          <p:cNvSpPr txBox="1"/>
          <p:nvPr/>
        </p:nvSpPr>
        <p:spPr>
          <a:xfrm>
            <a:off x="7934771" y="255092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318049"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6701327"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9" name="CasellaDiTesto 8">
            <a:extLst>
              <a:ext uri="{FF2B5EF4-FFF2-40B4-BE49-F238E27FC236}">
                <a16:creationId xmlns:a16="http://schemas.microsoft.com/office/drawing/2014/main" id="{FE895E89-1966-148F-927D-F38AB575517A}"/>
              </a:ext>
            </a:extLst>
          </p:cNvPr>
          <p:cNvSpPr txBox="1"/>
          <p:nvPr/>
        </p:nvSpPr>
        <p:spPr>
          <a:xfrm>
            <a:off x="7209802" y="31520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325547"/>
            <a:chOff x="5219879" y="3899677"/>
            <a:chExt cx="5429784" cy="2325547"/>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levels and very low surface productivity. Very high biomass despite fair salinity and fair shipping traffic, combined with very low fishing activity and the presence of dumping sites.</a:t>
              </a:r>
              <a:r>
                <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a:p>
              <a:pPr marL="228600" indent="-228600" algn="just">
                <a:buFont typeface="+mj-l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fair salinity, very low fishing activity, and moderate shipping traffic. Only a minimal presence of wind farms.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moderately low bottom oxygen and very low surface productivity. Very high biomass despite low salinity, fair fishing activity, and moderate shipping traffic, with only minimal wind-farm presence.</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low salinity, slightly high fishing activity, moderate shipping traffic, and the presence of wind farms.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Tree>
    <p:extLst>
      <p:ext uri="{BB962C8B-B14F-4D97-AF65-F5344CB8AC3E}">
        <p14:creationId xmlns:p14="http://schemas.microsoft.com/office/powerpoint/2010/main" val="23264663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descr="Immagine che contiene mappa, testo, diagramma&#10;&#10;Descrizione generata automaticamente">
            <a:extLst>
              <a:ext uri="{FF2B5EF4-FFF2-40B4-BE49-F238E27FC236}">
                <a16:creationId xmlns:a16="http://schemas.microsoft.com/office/drawing/2014/main" id="{A8C9D8DD-2C70-37D5-C0E8-D975123D3E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D5FC6E3C-5C82-FF38-D4BD-308B60B78F72}"/>
              </a:ext>
            </a:extLst>
          </p:cNvPr>
          <p:cNvSpPr txBox="1"/>
          <p:nvPr/>
        </p:nvSpPr>
        <p:spPr>
          <a:xfrm>
            <a:off x="7934771" y="255092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318049"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6701327" y="273471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9" name="CasellaDiTesto 8">
            <a:extLst>
              <a:ext uri="{FF2B5EF4-FFF2-40B4-BE49-F238E27FC236}">
                <a16:creationId xmlns:a16="http://schemas.microsoft.com/office/drawing/2014/main" id="{FE895E89-1966-148F-927D-F38AB575517A}"/>
              </a:ext>
            </a:extLst>
          </p:cNvPr>
          <p:cNvSpPr txBox="1"/>
          <p:nvPr/>
        </p:nvSpPr>
        <p:spPr>
          <a:xfrm>
            <a:off x="7209802" y="31520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325547"/>
            <a:chOff x="5219879" y="3899677"/>
            <a:chExt cx="5429784" cy="2325547"/>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levels and very low surface productivity. Very high biomass despite fair salinity and fair shipping traffic, combined with very low fishing activity and the presence of dumping sites.</a:t>
              </a:r>
              <a:r>
                <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a:p>
              <a:pPr marL="228600" indent="-228600" algn="just">
                <a:buFont typeface="+mj-l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fair salinity, very low fishing activity, and moderate shipping traffic. Only a minimal presence of wind farms.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moderately low bottom oxygen and very low surface productivity. Very high biomass despite low salinity, fair fishing activity, and moderate shipping traffic, with only minimal wind-farm presence.</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low salinity, slightly high fishing activity, moderate shipping traffic, and the presence of wind farms.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Tree>
    <p:extLst>
      <p:ext uri="{BB962C8B-B14F-4D97-AF65-F5344CB8AC3E}">
        <p14:creationId xmlns:p14="http://schemas.microsoft.com/office/powerpoint/2010/main" val="21965032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descr="Immagine che contiene mappa, testo, diagramma&#10;&#10;Descrizione generata automaticamente">
            <a:extLst>
              <a:ext uri="{FF2B5EF4-FFF2-40B4-BE49-F238E27FC236}">
                <a16:creationId xmlns:a16="http://schemas.microsoft.com/office/drawing/2014/main" id="{75BD8736-82B3-2322-49F8-3BCD921C34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125492"/>
            <a:chOff x="5219879" y="3899677"/>
            <a:chExt cx="5429784" cy="2125492"/>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492716"/>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of five commercial demersal species, high salinity, high fishing activity, and fair shipping traffic. Strong anthropogenic influence with a dominant presence of dumping sites and minor military areas and wind farms.</a:t>
              </a:r>
            </a:p>
            <a:p>
              <a:pPr marL="228600" indent="-228600" algn="jus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extremely high fishing activity, moderate shipping traffic, and moderate salinity, with minor presence of military areas.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very high fishing activity, moderate shipping traffic, and low salinity.</a:t>
              </a:r>
            </a:p>
            <a:p>
              <a:pPr marL="228600" indent="-228600" algn="just">
                <a:buFont typeface="+mj-lt"/>
                <a:buAutoNum type="arabicPeriod"/>
              </a:pP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4" name="CasellaDiTesto 3">
            <a:extLst>
              <a:ext uri="{FF2B5EF4-FFF2-40B4-BE49-F238E27FC236}">
                <a16:creationId xmlns:a16="http://schemas.microsoft.com/office/drawing/2014/main" id="{D5FC6E3C-5C82-FF38-D4BD-308B60B78F72}"/>
              </a:ext>
            </a:extLst>
          </p:cNvPr>
          <p:cNvSpPr txBox="1"/>
          <p:nvPr/>
        </p:nvSpPr>
        <p:spPr>
          <a:xfrm>
            <a:off x="6096000"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984050" y="34290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7138301"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Tree>
    <p:extLst>
      <p:ext uri="{BB962C8B-B14F-4D97-AF65-F5344CB8AC3E}">
        <p14:creationId xmlns:p14="http://schemas.microsoft.com/office/powerpoint/2010/main" val="14930328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3BD079C5-40D5-77DD-77B0-6454F5DC12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2" name="Gruppo 11">
            <a:extLst>
              <a:ext uri="{FF2B5EF4-FFF2-40B4-BE49-F238E27FC236}">
                <a16:creationId xmlns:a16="http://schemas.microsoft.com/office/drawing/2014/main" id="{70042BF6-2E50-EF9E-C984-DDC13CA0220F}"/>
              </a:ext>
            </a:extLst>
          </p:cNvPr>
          <p:cNvGrpSpPr/>
          <p:nvPr/>
        </p:nvGrpSpPr>
        <p:grpSpPr>
          <a:xfrm>
            <a:off x="5219879" y="3899677"/>
            <a:ext cx="5429784" cy="2125492"/>
            <a:chOff x="5219879" y="3899677"/>
            <a:chExt cx="5429784" cy="2125492"/>
          </a:xfrm>
        </p:grpSpPr>
        <p:sp>
          <p:nvSpPr>
            <p:cNvPr id="7" name="CasellaDiTesto 6">
              <a:extLst>
                <a:ext uri="{FF2B5EF4-FFF2-40B4-BE49-F238E27FC236}">
                  <a16:creationId xmlns:a16="http://schemas.microsoft.com/office/drawing/2014/main" id="{AC2AC8C7-85E6-2BDC-C429-2EE4A5DC7003}"/>
                </a:ext>
              </a:extLst>
            </p:cNvPr>
            <p:cNvSpPr txBox="1"/>
            <p:nvPr/>
          </p:nvSpPr>
          <p:spPr>
            <a:xfrm>
              <a:off x="5219879" y="4532453"/>
              <a:ext cx="5429784" cy="1492716"/>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of five commercial demersal species, high salinity, high fishing activity, and fair shipping traffic. Strong anthropogenic influence with a dominant presence of dumping sites and minor military areas and wind farms.</a:t>
              </a:r>
            </a:p>
            <a:p>
              <a:pPr marL="228600" indent="-228600" algn="just">
                <a:buAutoNum type="arabicPeriod"/>
              </a:pPr>
              <a:endParaRPr lang="it-IT"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extremely high fishing activity, moderate shipping traffic, and moderate salinity, with minor presence of military areas.</a:t>
              </a:r>
            </a:p>
            <a:p>
              <a:pPr marL="228600" indent="-228600" algn="just">
                <a:buFont typeface="+mj-l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low bottom oxygen and fair surface productivity. Very high biomass of five commercial demersal species, very high fishing activity, moderate shipping traffic, and low salinity.</a:t>
              </a:r>
            </a:p>
            <a:p>
              <a:pPr marL="228600" indent="-228600" algn="just">
                <a:buFont typeface="+mj-lt"/>
                <a:buAutoNum type="arabicPeriod"/>
              </a:pP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4" name="CasellaDiTesto 3">
            <a:extLst>
              <a:ext uri="{FF2B5EF4-FFF2-40B4-BE49-F238E27FC236}">
                <a16:creationId xmlns:a16="http://schemas.microsoft.com/office/drawing/2014/main" id="{D5FC6E3C-5C82-FF38-D4BD-308B60B78F72}"/>
              </a:ext>
            </a:extLst>
          </p:cNvPr>
          <p:cNvSpPr txBox="1"/>
          <p:nvPr/>
        </p:nvSpPr>
        <p:spPr>
          <a:xfrm>
            <a:off x="6096000"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7984050" y="34290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7138301" y="312840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Tree>
    <p:extLst>
      <p:ext uri="{BB962C8B-B14F-4D97-AF65-F5344CB8AC3E}">
        <p14:creationId xmlns:p14="http://schemas.microsoft.com/office/powerpoint/2010/main" val="2594551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magine 4" descr="Immagine che contiene mappa, testo, diagramma, atlante&#10;&#10;Descrizione generata automaticamente">
            <a:extLst>
              <a:ext uri="{FF2B5EF4-FFF2-40B4-BE49-F238E27FC236}">
                <a16:creationId xmlns:a16="http://schemas.microsoft.com/office/drawing/2014/main" id="{483F4012-9532-63EE-D0A2-F4852DC962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6" name="Gruppo 5">
            <a:extLst>
              <a:ext uri="{FF2B5EF4-FFF2-40B4-BE49-F238E27FC236}">
                <a16:creationId xmlns:a16="http://schemas.microsoft.com/office/drawing/2014/main" id="{B74AEFEA-4FD0-B0B7-C9FB-5104C6A6979B}"/>
              </a:ext>
            </a:extLst>
          </p:cNvPr>
          <p:cNvGrpSpPr/>
          <p:nvPr/>
        </p:nvGrpSpPr>
        <p:grpSpPr>
          <a:xfrm>
            <a:off x="5219879" y="3899677"/>
            <a:ext cx="5429784" cy="2202305"/>
            <a:chOff x="5219879" y="3899677"/>
            <a:chExt cx="5429784" cy="2202305"/>
          </a:xfrm>
        </p:grpSpPr>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warm areas with slightly low bottom oxygen and very high surface productivity. Moderate to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moderate salinity. Minor anthropogenic influence with light presence of dumping sites,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presence of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moderately low bottom oxygen and moderate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anthropogenic influence, with only light presence of dumping sites, military areas, and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p:txBody>
        </p:sp>
        <p:sp>
          <p:nvSpPr>
            <p:cNvPr id="8" name="CasellaDiTesto 7">
              <a:extLst>
                <a:ext uri="{FF2B5EF4-FFF2-40B4-BE49-F238E27FC236}">
                  <a16:creationId xmlns:a16="http://schemas.microsoft.com/office/drawing/2014/main" id="{02E62B29-E12E-426E-E13E-639E86F2DB5B}"/>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p:txBody>
        </p:sp>
      </p:grpSp>
      <p:sp>
        <p:nvSpPr>
          <p:cNvPr id="9" name="CasellaDiTesto 8">
            <a:extLst>
              <a:ext uri="{FF2B5EF4-FFF2-40B4-BE49-F238E27FC236}">
                <a16:creationId xmlns:a16="http://schemas.microsoft.com/office/drawing/2014/main" id="{CE88400E-970D-F4CB-FFE1-A3EE8A3C68FD}"/>
              </a:ext>
            </a:extLst>
          </p:cNvPr>
          <p:cNvSpPr txBox="1"/>
          <p:nvPr/>
        </p:nvSpPr>
        <p:spPr>
          <a:xfrm>
            <a:off x="4363914" y="296271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0" name="CasellaDiTesto 9">
            <a:extLst>
              <a:ext uri="{FF2B5EF4-FFF2-40B4-BE49-F238E27FC236}">
                <a16:creationId xmlns:a16="http://schemas.microsoft.com/office/drawing/2014/main" id="{614DBA9D-0EDF-9CE0-FB2C-E5E723825D7F}"/>
              </a:ext>
            </a:extLst>
          </p:cNvPr>
          <p:cNvSpPr txBox="1"/>
          <p:nvPr/>
        </p:nvSpPr>
        <p:spPr>
          <a:xfrm>
            <a:off x="7242050" y="320616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1" name="CasellaDiTesto 10">
            <a:extLst>
              <a:ext uri="{FF2B5EF4-FFF2-40B4-BE49-F238E27FC236}">
                <a16:creationId xmlns:a16="http://schemas.microsoft.com/office/drawing/2014/main" id="{4C0B5442-9E58-9CB4-07EF-4870CD051E09}"/>
              </a:ext>
            </a:extLst>
          </p:cNvPr>
          <p:cNvSpPr txBox="1"/>
          <p:nvPr/>
        </p:nvSpPr>
        <p:spPr>
          <a:xfrm>
            <a:off x="630369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3" name="CasellaDiTesto 12">
            <a:extLst>
              <a:ext uri="{FF2B5EF4-FFF2-40B4-BE49-F238E27FC236}">
                <a16:creationId xmlns:a16="http://schemas.microsoft.com/office/drawing/2014/main" id="{4401768A-4A3A-D401-BDAE-92B0CBA0E1E6}"/>
              </a:ext>
            </a:extLst>
          </p:cNvPr>
          <p:cNvSpPr txBox="1"/>
          <p:nvPr/>
        </p:nvSpPr>
        <p:spPr>
          <a:xfrm>
            <a:off x="783455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1972842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DBB7B2F1-07EE-479F-CA24-DD9EDD6D2D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6" name="Gruppo 5">
            <a:extLst>
              <a:ext uri="{FF2B5EF4-FFF2-40B4-BE49-F238E27FC236}">
                <a16:creationId xmlns:a16="http://schemas.microsoft.com/office/drawing/2014/main" id="{B74AEFEA-4FD0-B0B7-C9FB-5104C6A6979B}"/>
              </a:ext>
            </a:extLst>
          </p:cNvPr>
          <p:cNvGrpSpPr/>
          <p:nvPr/>
        </p:nvGrpSpPr>
        <p:grpSpPr>
          <a:xfrm>
            <a:off x="5219879" y="3899677"/>
            <a:ext cx="5429784" cy="2202305"/>
            <a:chOff x="5219879" y="3899677"/>
            <a:chExt cx="5429784" cy="2202305"/>
          </a:xfrm>
        </p:grpSpPr>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warm areas with slightly low bottom oxygen and very high surface productivity. Moderate to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moderate salinity. Minor anthropogenic influence with light presence of dumping sites,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presence of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cool areas with moderately low bottom oxygen and moderate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anthropogenic influence, with only light presence of dumping sites, military areas, and wind farms.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p:txBody>
        </p:sp>
        <p:sp>
          <p:nvSpPr>
            <p:cNvPr id="8" name="CasellaDiTesto 7">
              <a:extLst>
                <a:ext uri="{FF2B5EF4-FFF2-40B4-BE49-F238E27FC236}">
                  <a16:creationId xmlns:a16="http://schemas.microsoft.com/office/drawing/2014/main" id="{02E62B29-E12E-426E-E13E-639E86F2DB5B}"/>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p>
          </p:txBody>
        </p:sp>
      </p:grpSp>
      <p:sp>
        <p:nvSpPr>
          <p:cNvPr id="9" name="CasellaDiTesto 8">
            <a:extLst>
              <a:ext uri="{FF2B5EF4-FFF2-40B4-BE49-F238E27FC236}">
                <a16:creationId xmlns:a16="http://schemas.microsoft.com/office/drawing/2014/main" id="{CE88400E-970D-F4CB-FFE1-A3EE8A3C68FD}"/>
              </a:ext>
            </a:extLst>
          </p:cNvPr>
          <p:cNvSpPr txBox="1"/>
          <p:nvPr/>
        </p:nvSpPr>
        <p:spPr>
          <a:xfrm>
            <a:off x="4363914" y="296271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0" name="CasellaDiTesto 9">
            <a:extLst>
              <a:ext uri="{FF2B5EF4-FFF2-40B4-BE49-F238E27FC236}">
                <a16:creationId xmlns:a16="http://schemas.microsoft.com/office/drawing/2014/main" id="{614DBA9D-0EDF-9CE0-FB2C-E5E723825D7F}"/>
              </a:ext>
            </a:extLst>
          </p:cNvPr>
          <p:cNvSpPr txBox="1"/>
          <p:nvPr/>
        </p:nvSpPr>
        <p:spPr>
          <a:xfrm>
            <a:off x="7242050" y="3206168"/>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1" name="CasellaDiTesto 10">
            <a:extLst>
              <a:ext uri="{FF2B5EF4-FFF2-40B4-BE49-F238E27FC236}">
                <a16:creationId xmlns:a16="http://schemas.microsoft.com/office/drawing/2014/main" id="{4C0B5442-9E58-9CB4-07EF-4870CD051E09}"/>
              </a:ext>
            </a:extLst>
          </p:cNvPr>
          <p:cNvSpPr txBox="1"/>
          <p:nvPr/>
        </p:nvSpPr>
        <p:spPr>
          <a:xfrm>
            <a:off x="630369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3" name="CasellaDiTesto 12">
            <a:extLst>
              <a:ext uri="{FF2B5EF4-FFF2-40B4-BE49-F238E27FC236}">
                <a16:creationId xmlns:a16="http://schemas.microsoft.com/office/drawing/2014/main" id="{4401768A-4A3A-D401-BDAE-92B0CBA0E1E6}"/>
              </a:ext>
            </a:extLst>
          </p:cNvPr>
          <p:cNvSpPr txBox="1"/>
          <p:nvPr/>
        </p:nvSpPr>
        <p:spPr>
          <a:xfrm>
            <a:off x="7834558" y="3388812"/>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7453617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descr="Immagine che contiene mappa, testo, diagramma&#10;&#10;Descrizione generata automaticamente">
            <a:extLst>
              <a:ext uri="{FF2B5EF4-FFF2-40B4-BE49-F238E27FC236}">
                <a16:creationId xmlns:a16="http://schemas.microsoft.com/office/drawing/2014/main" id="{8DE16B32-7DA1-D0CF-3C5C-7C80C38A62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2" name="Gruppo 1">
            <a:extLst>
              <a:ext uri="{FF2B5EF4-FFF2-40B4-BE49-F238E27FC236}">
                <a16:creationId xmlns:a16="http://schemas.microsoft.com/office/drawing/2014/main" id="{E378CCE6-F51C-D331-7738-90A74702CCAD}"/>
              </a:ext>
            </a:extLst>
          </p:cNvPr>
          <p:cNvGrpSpPr/>
          <p:nvPr/>
        </p:nvGrpSpPr>
        <p:grpSpPr>
          <a:xfrm>
            <a:off x="5219879" y="3899677"/>
            <a:ext cx="5429784" cy="2392442"/>
            <a:chOff x="5219879" y="3899677"/>
            <a:chExt cx="5429784" cy="2392442"/>
          </a:xfrm>
        </p:grpSpPr>
        <p:sp>
          <p:nvSpPr>
            <p:cNvPr id="3" name="CasellaDiTesto 2">
              <a:extLst>
                <a:ext uri="{FF2B5EF4-FFF2-40B4-BE49-F238E27FC236}">
                  <a16:creationId xmlns:a16="http://schemas.microsoft.com/office/drawing/2014/main" id="{CF3F7C6E-12B9-11EF-A3F9-6589C51248EF}"/>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high bottom oxygen and moderate surface productivity. Very high biomass, moderately high fishing activity, moderate shipping traffic, and low salinity. Minimal anthropogenic influence, limited to minor military areas, with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areas with cool bottom waters, very high biomass, and moderate surface productivity. Moderately high fishing activity, moderate shipping traffic, and low salinity, with high bottom oxygen levels. Minimal anthropogenic influence, limited to minor military areas.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low surface productivity. Very high biomass, moderate fishing activity, moderate shipping traffic, and moderate to high salinity. Strong presence of dumping sites and only minimal military influence.</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cold areas with low bottom oxygen and moderate surface productivity. High biomass, moderate to high fishing activity, high shipping traffic, and low salinity. Minimal presence of wind farms.</a:t>
              </a:r>
            </a:p>
          </p:txBody>
        </p:sp>
        <p:sp>
          <p:nvSpPr>
            <p:cNvPr id="14" name="CasellaDiTesto 13">
              <a:extLst>
                <a:ext uri="{FF2B5EF4-FFF2-40B4-BE49-F238E27FC236}">
                  <a16:creationId xmlns:a16="http://schemas.microsoft.com/office/drawing/2014/main" id="{44FF6EB3-7153-BF5C-AFAF-B520DF247DD5}"/>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5" name="CasellaDiTesto 14">
            <a:extLst>
              <a:ext uri="{FF2B5EF4-FFF2-40B4-BE49-F238E27FC236}">
                <a16:creationId xmlns:a16="http://schemas.microsoft.com/office/drawing/2014/main" id="{E59A58FD-55F2-835E-7D51-08EAB0B646B0}"/>
              </a:ext>
            </a:extLst>
          </p:cNvPr>
          <p:cNvSpPr txBox="1"/>
          <p:nvPr/>
        </p:nvSpPr>
        <p:spPr>
          <a:xfrm>
            <a:off x="6354283" y="269558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6" name="CasellaDiTesto 15">
            <a:extLst>
              <a:ext uri="{FF2B5EF4-FFF2-40B4-BE49-F238E27FC236}">
                <a16:creationId xmlns:a16="http://schemas.microsoft.com/office/drawing/2014/main" id="{6F15B647-15E6-B7A0-01F4-88074FCBFA41}"/>
              </a:ext>
            </a:extLst>
          </p:cNvPr>
          <p:cNvSpPr txBox="1"/>
          <p:nvPr/>
        </p:nvSpPr>
        <p:spPr>
          <a:xfrm>
            <a:off x="5692440" y="27537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7" name="CasellaDiTesto 16">
            <a:extLst>
              <a:ext uri="{FF2B5EF4-FFF2-40B4-BE49-F238E27FC236}">
                <a16:creationId xmlns:a16="http://schemas.microsoft.com/office/drawing/2014/main" id="{EA6231AF-B43E-8156-A410-44C30CDE7CB2}"/>
              </a:ext>
            </a:extLst>
          </p:cNvPr>
          <p:cNvSpPr txBox="1"/>
          <p:nvPr/>
        </p:nvSpPr>
        <p:spPr>
          <a:xfrm>
            <a:off x="8228838" y="3297633"/>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8" name="CasellaDiTesto 17">
            <a:extLst>
              <a:ext uri="{FF2B5EF4-FFF2-40B4-BE49-F238E27FC236}">
                <a16:creationId xmlns:a16="http://schemas.microsoft.com/office/drawing/2014/main" id="{8ECC0F65-B1A2-EF80-293A-B28F2B211515}"/>
              </a:ext>
            </a:extLst>
          </p:cNvPr>
          <p:cNvSpPr txBox="1"/>
          <p:nvPr/>
        </p:nvSpPr>
        <p:spPr>
          <a:xfrm>
            <a:off x="7934771" y="26152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9" name="CasellaDiTesto 18">
            <a:extLst>
              <a:ext uri="{FF2B5EF4-FFF2-40B4-BE49-F238E27FC236}">
                <a16:creationId xmlns:a16="http://schemas.microsoft.com/office/drawing/2014/main" id="{4D554DD6-4C9C-D04D-8CF7-59F59A94E64C}"/>
              </a:ext>
            </a:extLst>
          </p:cNvPr>
          <p:cNvSpPr txBox="1"/>
          <p:nvPr/>
        </p:nvSpPr>
        <p:spPr>
          <a:xfrm>
            <a:off x="8957134" y="2439405"/>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0" name="CasellaDiTesto 19">
            <a:extLst>
              <a:ext uri="{FF2B5EF4-FFF2-40B4-BE49-F238E27FC236}">
                <a16:creationId xmlns:a16="http://schemas.microsoft.com/office/drawing/2014/main" id="{86ABEABA-61A4-CE03-6391-9DED0586BA39}"/>
              </a:ext>
            </a:extLst>
          </p:cNvPr>
          <p:cNvSpPr txBox="1"/>
          <p:nvPr/>
        </p:nvSpPr>
        <p:spPr>
          <a:xfrm>
            <a:off x="6837105" y="3020634"/>
            <a:ext cx="565119"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Tree>
    <p:extLst>
      <p:ext uri="{BB962C8B-B14F-4D97-AF65-F5344CB8AC3E}">
        <p14:creationId xmlns:p14="http://schemas.microsoft.com/office/powerpoint/2010/main" val="19849002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F9507DFE-CD8F-1F16-C86F-419562F991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215444"/>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p>
        </p:txBody>
      </p:sp>
      <p:grpSp>
        <p:nvGrpSpPr>
          <p:cNvPr id="12" name="Gruppo 11">
            <a:extLst>
              <a:ext uri="{FF2B5EF4-FFF2-40B4-BE49-F238E27FC236}">
                <a16:creationId xmlns:a16="http://schemas.microsoft.com/office/drawing/2014/main" id="{FDDD8365-C09C-F2DF-D512-3917AD40B1C2}"/>
              </a:ext>
            </a:extLst>
          </p:cNvPr>
          <p:cNvGrpSpPr/>
          <p:nvPr/>
        </p:nvGrpSpPr>
        <p:grpSpPr>
          <a:xfrm>
            <a:off x="5219879" y="3899677"/>
            <a:ext cx="5429784" cy="2392442"/>
            <a:chOff x="5219879" y="3899677"/>
            <a:chExt cx="5429784" cy="2392442"/>
          </a:xfrm>
        </p:grpSpPr>
        <p:sp>
          <p:nvSpPr>
            <p:cNvPr id="14" name="CasellaDiTesto 13">
              <a:extLst>
                <a:ext uri="{FF2B5EF4-FFF2-40B4-BE49-F238E27FC236}">
                  <a16:creationId xmlns:a16="http://schemas.microsoft.com/office/drawing/2014/main" id="{63DB16E8-7673-DF06-070D-482732244F8D}"/>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high bottom oxygen and moderate surface productivity. Very high biomass, moderately high fishing activity, moderate shipping traffic, and low salinity. Minimal anthropogenic influence, limited to minor military areas, with partly </a:t>
              </a: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areas with cool bottom waters, very high biomass, and moderate surface productivity. Moderately high fishing activity, moderate shipping traffic, and low salinity, with high bottom oxygen levels. Minimal anthropogenic influence, limited to minor military areas.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low surface productivity. Very high biomass, moderate fishing activity, moderate shipping traffic, and moderate to high salinity. Strong presence of dumping sites and only minimal military influence.</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Fairly deep, cold areas with low bottom oxygen and moderate surface productivity. High biomass, moderate to high fishing activity, high shipping traffic, and low salinity. Minimal presence of wind farms.</a:t>
              </a:r>
            </a:p>
          </p:txBody>
        </p:sp>
        <p:sp>
          <p:nvSpPr>
            <p:cNvPr id="15" name="CasellaDiTesto 14">
              <a:extLst>
                <a:ext uri="{FF2B5EF4-FFF2-40B4-BE49-F238E27FC236}">
                  <a16:creationId xmlns:a16="http://schemas.microsoft.com/office/drawing/2014/main" id="{9410F135-8E8A-D277-EDF5-20623186786D}"/>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All</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6" name="CasellaDiTesto 15">
            <a:extLst>
              <a:ext uri="{FF2B5EF4-FFF2-40B4-BE49-F238E27FC236}">
                <a16:creationId xmlns:a16="http://schemas.microsoft.com/office/drawing/2014/main" id="{CBD5D4D5-2C6A-1A5D-D09D-F4320726F0F1}"/>
              </a:ext>
            </a:extLst>
          </p:cNvPr>
          <p:cNvSpPr txBox="1"/>
          <p:nvPr/>
        </p:nvSpPr>
        <p:spPr>
          <a:xfrm>
            <a:off x="6354283" y="269558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7" name="CasellaDiTesto 16">
            <a:extLst>
              <a:ext uri="{FF2B5EF4-FFF2-40B4-BE49-F238E27FC236}">
                <a16:creationId xmlns:a16="http://schemas.microsoft.com/office/drawing/2014/main" id="{C32DF3A5-0213-118F-CF75-8249A8B012E5}"/>
              </a:ext>
            </a:extLst>
          </p:cNvPr>
          <p:cNvSpPr txBox="1"/>
          <p:nvPr/>
        </p:nvSpPr>
        <p:spPr>
          <a:xfrm>
            <a:off x="5692440" y="27537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8" name="CasellaDiTesto 17">
            <a:extLst>
              <a:ext uri="{FF2B5EF4-FFF2-40B4-BE49-F238E27FC236}">
                <a16:creationId xmlns:a16="http://schemas.microsoft.com/office/drawing/2014/main" id="{24910F9C-CEB2-8D27-B566-AB4976ABBBCD}"/>
              </a:ext>
            </a:extLst>
          </p:cNvPr>
          <p:cNvSpPr txBox="1"/>
          <p:nvPr/>
        </p:nvSpPr>
        <p:spPr>
          <a:xfrm>
            <a:off x="8228838" y="3297633"/>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9" name="CasellaDiTesto 18">
            <a:extLst>
              <a:ext uri="{FF2B5EF4-FFF2-40B4-BE49-F238E27FC236}">
                <a16:creationId xmlns:a16="http://schemas.microsoft.com/office/drawing/2014/main" id="{9AB21391-CAA1-333C-FEF4-18DE19E9C9F3}"/>
              </a:ext>
            </a:extLst>
          </p:cNvPr>
          <p:cNvSpPr txBox="1"/>
          <p:nvPr/>
        </p:nvSpPr>
        <p:spPr>
          <a:xfrm>
            <a:off x="7934771" y="261523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20" name="CasellaDiTesto 19">
            <a:extLst>
              <a:ext uri="{FF2B5EF4-FFF2-40B4-BE49-F238E27FC236}">
                <a16:creationId xmlns:a16="http://schemas.microsoft.com/office/drawing/2014/main" id="{8BD24711-16A5-E3D2-167B-CB43E937DB40}"/>
              </a:ext>
            </a:extLst>
          </p:cNvPr>
          <p:cNvSpPr txBox="1"/>
          <p:nvPr/>
        </p:nvSpPr>
        <p:spPr>
          <a:xfrm>
            <a:off x="8957134" y="2439405"/>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1" name="CasellaDiTesto 20">
            <a:extLst>
              <a:ext uri="{FF2B5EF4-FFF2-40B4-BE49-F238E27FC236}">
                <a16:creationId xmlns:a16="http://schemas.microsoft.com/office/drawing/2014/main" id="{EF14A826-C238-0924-B4F2-1EA9251B60BA}"/>
              </a:ext>
            </a:extLst>
          </p:cNvPr>
          <p:cNvSpPr txBox="1"/>
          <p:nvPr/>
        </p:nvSpPr>
        <p:spPr>
          <a:xfrm>
            <a:off x="6837105" y="3020634"/>
            <a:ext cx="565119"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Tree>
    <p:extLst>
      <p:ext uri="{BB962C8B-B14F-4D97-AF65-F5344CB8AC3E}">
        <p14:creationId xmlns:p14="http://schemas.microsoft.com/office/powerpoint/2010/main" val="3029371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descr="Immagine che contiene mappa, testo, diagramma, atlante&#10;&#10;Descrizione generata automaticamente">
            <a:extLst>
              <a:ext uri="{FF2B5EF4-FFF2-40B4-BE49-F238E27FC236}">
                <a16:creationId xmlns:a16="http://schemas.microsoft.com/office/drawing/2014/main" id="{0C1B4426-3ACF-300C-B8B7-A3948F5426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7" name="CasellaDiTesto 6">
            <a:extLst>
              <a:ext uri="{FF2B5EF4-FFF2-40B4-BE49-F238E27FC236}">
                <a16:creationId xmlns:a16="http://schemas.microsoft.com/office/drawing/2014/main" id="{FB9C796C-B593-02A0-402F-B29783ADA7D6}"/>
              </a:ext>
            </a:extLst>
          </p:cNvPr>
          <p:cNvSpPr txBox="1"/>
          <p:nvPr/>
        </p:nvSpPr>
        <p:spPr>
          <a:xfrm>
            <a:off x="5219879" y="4532322"/>
            <a:ext cx="5429784" cy="215444"/>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p>
        </p:txBody>
      </p:sp>
      <p:grpSp>
        <p:nvGrpSpPr>
          <p:cNvPr id="12" name="Gruppo 11">
            <a:extLst>
              <a:ext uri="{FF2B5EF4-FFF2-40B4-BE49-F238E27FC236}">
                <a16:creationId xmlns:a16="http://schemas.microsoft.com/office/drawing/2014/main" id="{FDDD8365-C09C-F2DF-D512-3917AD40B1C2}"/>
              </a:ext>
            </a:extLst>
          </p:cNvPr>
          <p:cNvGrpSpPr/>
          <p:nvPr/>
        </p:nvGrpSpPr>
        <p:grpSpPr>
          <a:xfrm>
            <a:off x="5219879" y="3899677"/>
            <a:ext cx="5429784" cy="2333426"/>
            <a:chOff x="5219879" y="3899677"/>
            <a:chExt cx="5429784" cy="2333426"/>
          </a:xfrm>
        </p:grpSpPr>
        <p:sp>
          <p:nvSpPr>
            <p:cNvPr id="14" name="CasellaDiTesto 13">
              <a:extLst>
                <a:ext uri="{FF2B5EF4-FFF2-40B4-BE49-F238E27FC236}">
                  <a16:creationId xmlns:a16="http://schemas.microsoft.com/office/drawing/2014/main" id="{63DB16E8-7673-DF06-070D-482732244F8D}"/>
                </a:ext>
              </a:extLst>
            </p:cNvPr>
            <p:cNvSpPr txBox="1"/>
            <p:nvPr/>
          </p:nvSpPr>
          <p:spPr>
            <a:xfrm>
              <a:off x="5219879" y="4540332"/>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five commercial species, intense fishing activity, and moderate shipping traffic. Strong anthropogenic influence with dominant dumping sites, military areas, and minimal presence of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cool areas with low bottom oxygen and moderately high salinity, and moderate surface productivity. High biomass of five commercial species, intense fishing activity, moderate shipping traffic. Minimal anthropogenic influence, limited to minor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moderately high salinity, and moderate to high surface productivity. High biomass of five commercial species, intense fishing activity, moderate shipping traffic. Minimal anthropogenic influence, with only minor wind farms, and partly hardbottom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5" name="CasellaDiTesto 14">
              <a:extLst>
                <a:ext uri="{FF2B5EF4-FFF2-40B4-BE49-F238E27FC236}">
                  <a16:creationId xmlns:a16="http://schemas.microsoft.com/office/drawing/2014/main" id="{9410F135-8E8A-D277-EDF5-20623186786D}"/>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6" name="CasellaDiTesto 15">
            <a:extLst>
              <a:ext uri="{FF2B5EF4-FFF2-40B4-BE49-F238E27FC236}">
                <a16:creationId xmlns:a16="http://schemas.microsoft.com/office/drawing/2014/main" id="{CBD5D4D5-2C6A-1A5D-D09D-F4320726F0F1}"/>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9" name="CasellaDiTesto 18">
            <a:extLst>
              <a:ext uri="{FF2B5EF4-FFF2-40B4-BE49-F238E27FC236}">
                <a16:creationId xmlns:a16="http://schemas.microsoft.com/office/drawing/2014/main" id="{9AB21391-CAA1-333C-FEF4-18DE19E9C9F3}"/>
              </a:ext>
            </a:extLst>
          </p:cNvPr>
          <p:cNvSpPr txBox="1"/>
          <p:nvPr/>
        </p:nvSpPr>
        <p:spPr>
          <a:xfrm>
            <a:off x="7258991" y="313248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20" name="CasellaDiTesto 19">
            <a:extLst>
              <a:ext uri="{FF2B5EF4-FFF2-40B4-BE49-F238E27FC236}">
                <a16:creationId xmlns:a16="http://schemas.microsoft.com/office/drawing/2014/main" id="{8BD24711-16A5-E3D2-167B-CB43E937DB40}"/>
              </a:ext>
            </a:extLst>
          </p:cNvPr>
          <p:cNvSpPr txBox="1"/>
          <p:nvPr/>
        </p:nvSpPr>
        <p:spPr>
          <a:xfrm>
            <a:off x="5422786" y="299398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5" name="CasellaDiTesto 4">
            <a:extLst>
              <a:ext uri="{FF2B5EF4-FFF2-40B4-BE49-F238E27FC236}">
                <a16:creationId xmlns:a16="http://schemas.microsoft.com/office/drawing/2014/main" id="{F18249C7-7F35-45EE-E69E-4984E50DDE54}"/>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Tree>
    <p:extLst>
      <p:ext uri="{BB962C8B-B14F-4D97-AF65-F5344CB8AC3E}">
        <p14:creationId xmlns:p14="http://schemas.microsoft.com/office/powerpoint/2010/main" val="2408188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815862A8-0EC0-3593-8C1C-378AFB1F5D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sp>
        <p:nvSpPr>
          <p:cNvPr id="4" name="CasellaDiTesto 3">
            <a:extLst>
              <a:ext uri="{FF2B5EF4-FFF2-40B4-BE49-F238E27FC236}">
                <a16:creationId xmlns:a16="http://schemas.microsoft.com/office/drawing/2014/main" id="{F225F658-5F13-3124-D001-CF7A98C6F58F}"/>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11A3D605-F61B-4B31-C66A-3E928A34B391}"/>
              </a:ext>
            </a:extLst>
          </p:cNvPr>
          <p:cNvSpPr txBox="1"/>
          <p:nvPr/>
        </p:nvSpPr>
        <p:spPr>
          <a:xfrm>
            <a:off x="7258991" y="313248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6" name="CasellaDiTesto 5">
            <a:extLst>
              <a:ext uri="{FF2B5EF4-FFF2-40B4-BE49-F238E27FC236}">
                <a16:creationId xmlns:a16="http://schemas.microsoft.com/office/drawing/2014/main" id="{A4E9D876-8BD4-1AD3-64B5-8725D22C3A6A}"/>
              </a:ext>
            </a:extLst>
          </p:cNvPr>
          <p:cNvSpPr txBox="1"/>
          <p:nvPr/>
        </p:nvSpPr>
        <p:spPr>
          <a:xfrm>
            <a:off x="5422786" y="299398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7" name="CasellaDiTesto 6">
            <a:extLst>
              <a:ext uri="{FF2B5EF4-FFF2-40B4-BE49-F238E27FC236}">
                <a16:creationId xmlns:a16="http://schemas.microsoft.com/office/drawing/2014/main" id="{CF9C4FEB-2D14-2E2A-F783-D22285879739}"/>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8" name="CasellaDiTesto 7">
            <a:extLst>
              <a:ext uri="{FF2B5EF4-FFF2-40B4-BE49-F238E27FC236}">
                <a16:creationId xmlns:a16="http://schemas.microsoft.com/office/drawing/2014/main" id="{071CAC81-1C56-67C2-EDAB-5146A2856516}"/>
              </a:ext>
            </a:extLst>
          </p:cNvPr>
          <p:cNvSpPr txBox="1"/>
          <p:nvPr/>
        </p:nvSpPr>
        <p:spPr>
          <a:xfrm>
            <a:off x="5219879" y="4540332"/>
            <a:ext cx="5429784" cy="1692771"/>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five commercial species, intense fishing activity, and moderate shipping traffic. Strong anthropogenic influence with dominant dumping sites, military areas, and minimal presence of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cool areas with low bottom oxygen and moderately high salinity, and moderate surface productivity. High biomass of five commercial species, intense fishing activity, moderate shipping traffic. Minimal anthropogenic influence, limited to minor military areas and wind farms.</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moderately high salinity, and moderate to high surface productivity. High biomass of five commercial species, intense fishing activity, moderate shipping traffic. Minimal anthropogenic influence, with only minor wind farms, and partly hardbottom seafloor.</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9" name="CasellaDiTesto 8">
            <a:extLst>
              <a:ext uri="{FF2B5EF4-FFF2-40B4-BE49-F238E27FC236}">
                <a16:creationId xmlns:a16="http://schemas.microsoft.com/office/drawing/2014/main" id="{0A1FDFF8-6493-B097-3DF9-6E7C326995F0}"/>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Five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species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spTree>
    <p:extLst>
      <p:ext uri="{BB962C8B-B14F-4D97-AF65-F5344CB8AC3E}">
        <p14:creationId xmlns:p14="http://schemas.microsoft.com/office/powerpoint/2010/main" val="17401239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magine 9" descr="Immagine che contiene mappa, testo, diagramma&#10;&#10;Descrizione generata automaticamente">
            <a:extLst>
              <a:ext uri="{FF2B5EF4-FFF2-40B4-BE49-F238E27FC236}">
                <a16:creationId xmlns:a16="http://schemas.microsoft.com/office/drawing/2014/main" id="{5E6BB94B-A657-E297-1F04-D6AE5D55B0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1" name="Gruppo 10">
            <a:extLst>
              <a:ext uri="{FF2B5EF4-FFF2-40B4-BE49-F238E27FC236}">
                <a16:creationId xmlns:a16="http://schemas.microsoft.com/office/drawing/2014/main" id="{690E625F-7570-EF19-668A-81020222F920}"/>
              </a:ext>
            </a:extLst>
          </p:cNvPr>
          <p:cNvGrpSpPr/>
          <p:nvPr/>
        </p:nvGrpSpPr>
        <p:grpSpPr>
          <a:xfrm>
            <a:off x="5219879" y="3899677"/>
            <a:ext cx="5429784" cy="2392442"/>
            <a:chOff x="5219879" y="3899677"/>
            <a:chExt cx="5429784" cy="2392442"/>
          </a:xfrm>
        </p:grpSpPr>
        <p:sp>
          <p:nvSpPr>
            <p:cNvPr id="12" name="CasellaDiTesto 11">
              <a:extLst>
                <a:ext uri="{FF2B5EF4-FFF2-40B4-BE49-F238E27FC236}">
                  <a16:creationId xmlns:a16="http://schemas.microsoft.com/office/drawing/2014/main" id="{EC6DDEC8-A314-8EC4-D51B-B831DC5FAFB5}"/>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extremely low bottom oxygen, moderately high salinity,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high salinity,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intense fishing activity, and heavy shipping traffic, with only minimal hard-bottom substrate present.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moderate shipping traffic. Strong anthropogenic influence with dominant dumping sites, military areas, and minimal presence of wind farms.</a:t>
              </a:r>
            </a:p>
            <a:p>
              <a:pPr marL="228600" indent="-228600" algn="just">
                <a:buFontTx/>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moderately high salinity, extremely low bottom oxygen and very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 with only minimal anthropogenic presence from limited military areas.</a:t>
              </a:r>
            </a:p>
          </p:txBody>
        </p:sp>
        <p:sp>
          <p:nvSpPr>
            <p:cNvPr id="13" name="CasellaDiTesto 12">
              <a:extLst>
                <a:ext uri="{FF2B5EF4-FFF2-40B4-BE49-F238E27FC236}">
                  <a16:creationId xmlns:a16="http://schemas.microsoft.com/office/drawing/2014/main" id="{DC652620-C7DC-38D7-BEB0-7BAC564F305C}"/>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4" name="CasellaDiTesto 13">
            <a:extLst>
              <a:ext uri="{FF2B5EF4-FFF2-40B4-BE49-F238E27FC236}">
                <a16:creationId xmlns:a16="http://schemas.microsoft.com/office/drawing/2014/main" id="{D6BF471C-4AF5-CCE3-F13E-139BF2B48699}"/>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6" name="CasellaDiTesto 15">
            <a:extLst>
              <a:ext uri="{FF2B5EF4-FFF2-40B4-BE49-F238E27FC236}">
                <a16:creationId xmlns:a16="http://schemas.microsoft.com/office/drawing/2014/main" id="{165D436A-FF37-CDF6-2361-1812835DFE2A}"/>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9" name="CasellaDiTesto 18">
            <a:extLst>
              <a:ext uri="{FF2B5EF4-FFF2-40B4-BE49-F238E27FC236}">
                <a16:creationId xmlns:a16="http://schemas.microsoft.com/office/drawing/2014/main" id="{4B4D68A2-5F7C-9523-CA58-3FC50DAA9DC6}"/>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20" name="CasellaDiTesto 19">
            <a:extLst>
              <a:ext uri="{FF2B5EF4-FFF2-40B4-BE49-F238E27FC236}">
                <a16:creationId xmlns:a16="http://schemas.microsoft.com/office/drawing/2014/main" id="{2DA73D47-20BB-B5AD-A487-F89EE0A17974}"/>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32036460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magine 9" descr="Immagine che contiene mappa, testo, diagramma, atlante&#10;&#10;Descrizione generata automaticamente">
            <a:extLst>
              <a:ext uri="{FF2B5EF4-FFF2-40B4-BE49-F238E27FC236}">
                <a16:creationId xmlns:a16="http://schemas.microsoft.com/office/drawing/2014/main" id="{2B3868DB-A5DF-7180-8867-9F26E07ED0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007" y="0"/>
            <a:ext cx="9697986" cy="6858000"/>
          </a:xfrm>
          <a:prstGeom prst="rect">
            <a:avLst/>
          </a:prstGeom>
        </p:spPr>
      </p:pic>
      <p:grpSp>
        <p:nvGrpSpPr>
          <p:cNvPr id="11" name="Gruppo 10">
            <a:extLst>
              <a:ext uri="{FF2B5EF4-FFF2-40B4-BE49-F238E27FC236}">
                <a16:creationId xmlns:a16="http://schemas.microsoft.com/office/drawing/2014/main" id="{90D5CFE6-925F-2B0D-E994-53F2E00CF9A3}"/>
              </a:ext>
            </a:extLst>
          </p:cNvPr>
          <p:cNvGrpSpPr/>
          <p:nvPr/>
        </p:nvGrpSpPr>
        <p:grpSpPr>
          <a:xfrm>
            <a:off x="5219879" y="3899677"/>
            <a:ext cx="5429784" cy="2392442"/>
            <a:chOff x="5219879" y="3899677"/>
            <a:chExt cx="5429784" cy="2392442"/>
          </a:xfrm>
        </p:grpSpPr>
        <p:sp>
          <p:nvSpPr>
            <p:cNvPr id="12" name="CasellaDiTesto 11">
              <a:extLst>
                <a:ext uri="{FF2B5EF4-FFF2-40B4-BE49-F238E27FC236}">
                  <a16:creationId xmlns:a16="http://schemas.microsoft.com/office/drawing/2014/main" id="{8869BD5C-AA84-F561-84C4-9A01349619BF}"/>
                </a:ext>
              </a:extLst>
            </p:cNvPr>
            <p:cNvSpPr txBox="1"/>
            <p:nvPr/>
          </p:nvSpPr>
          <p:spPr>
            <a:xfrm>
              <a:off x="5219879" y="4476237"/>
              <a:ext cx="5429784" cy="1815882"/>
            </a:xfrm>
            <a:prstGeom prst="rect">
              <a:avLst/>
            </a:prstGeom>
            <a:solidFill>
              <a:srgbClr val="ECECEC"/>
            </a:solidFill>
          </p:spPr>
          <p:txBody>
            <a:bodyPr wrap="square" rtlCol="0">
              <a:spAutoFit/>
            </a:bodyPr>
            <a:lstStyle/>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extremely low bottom oxygen, moderately high salinity,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high salinity, extremely low bottom oxygen, and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intense fishing activity, and heavy shipping traffic, with only minimal hard-bottom substrate present.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high salinity, and fairly high surface productivity. Very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moderate shipping traffic. Strong anthropogenic influence with dominant dumping sites, military areas, and minimal presence of wind farms.</a:t>
              </a:r>
            </a:p>
            <a:p>
              <a:pPr marL="228600" indent="-228600" algn="just">
                <a:buFontTx/>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Deep, very cold areas with moderately high salinity, extremely low bottom oxygen and very high surface productivity.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very intense fishing activity and heavy shipping traffic, with only minimal anthropogenic presence from limited military areas.</a:t>
              </a:r>
            </a:p>
          </p:txBody>
        </p:sp>
        <p:sp>
          <p:nvSpPr>
            <p:cNvPr id="13" name="CasellaDiTesto 12">
              <a:extLst>
                <a:ext uri="{FF2B5EF4-FFF2-40B4-BE49-F238E27FC236}">
                  <a16:creationId xmlns:a16="http://schemas.microsoft.com/office/drawing/2014/main" id="{F3D42F10-5F0D-945E-6C45-7644625071ED}"/>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4" name="CasellaDiTesto 13">
            <a:extLst>
              <a:ext uri="{FF2B5EF4-FFF2-40B4-BE49-F238E27FC236}">
                <a16:creationId xmlns:a16="http://schemas.microsoft.com/office/drawing/2014/main" id="{B79B0DBD-B498-2B6A-79CF-825F837DF36D}"/>
              </a:ext>
            </a:extLst>
          </p:cNvPr>
          <p:cNvSpPr txBox="1"/>
          <p:nvPr/>
        </p:nvSpPr>
        <p:spPr>
          <a:xfrm>
            <a:off x="6147669" y="3195899"/>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5" name="CasellaDiTesto 14">
            <a:extLst>
              <a:ext uri="{FF2B5EF4-FFF2-40B4-BE49-F238E27FC236}">
                <a16:creationId xmlns:a16="http://schemas.microsoft.com/office/drawing/2014/main" id="{6DB7BE91-2A84-20D3-71BA-9ACBC75B63D8}"/>
              </a:ext>
            </a:extLst>
          </p:cNvPr>
          <p:cNvSpPr txBox="1"/>
          <p:nvPr/>
        </p:nvSpPr>
        <p:spPr>
          <a:xfrm>
            <a:off x="7834039" y="3290500"/>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6" name="CasellaDiTesto 15">
            <a:extLst>
              <a:ext uri="{FF2B5EF4-FFF2-40B4-BE49-F238E27FC236}">
                <a16:creationId xmlns:a16="http://schemas.microsoft.com/office/drawing/2014/main" id="{E159CBBD-1511-9156-857E-D44D5C4C68E9}"/>
              </a:ext>
            </a:extLst>
          </p:cNvPr>
          <p:cNvSpPr txBox="1"/>
          <p:nvPr/>
        </p:nvSpPr>
        <p:spPr>
          <a:xfrm>
            <a:off x="8201508" y="3510669"/>
            <a:ext cx="290555"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7" name="CasellaDiTesto 16">
            <a:extLst>
              <a:ext uri="{FF2B5EF4-FFF2-40B4-BE49-F238E27FC236}">
                <a16:creationId xmlns:a16="http://schemas.microsoft.com/office/drawing/2014/main" id="{462DF6AE-9DCE-5A73-EEA6-C313E26599EF}"/>
              </a:ext>
            </a:extLst>
          </p:cNvPr>
          <p:cNvSpPr txBox="1"/>
          <p:nvPr/>
        </p:nvSpPr>
        <p:spPr>
          <a:xfrm>
            <a:off x="7243489" y="3085241"/>
            <a:ext cx="290556" cy="276999"/>
          </a:xfrm>
          <a:prstGeom prst="rect">
            <a:avLst/>
          </a:prstGeom>
          <a:noFill/>
        </p:spPr>
        <p:txBody>
          <a:bodyPr wrap="square" rtlCol="0">
            <a:spAutoFit/>
          </a:bodyPr>
          <a:lstStyle/>
          <a:p>
            <a:pPr algn="ctr"/>
            <a:r>
              <a:rPr lang="it-IT" sz="1200" b="1" dirty="0">
                <a:solidFill>
                  <a:schemeClr val="tx1">
                    <a:lumMod val="75000"/>
                    <a:lumOff val="25000"/>
                  </a:schemeClr>
                </a:solidFill>
                <a:latin typeface="MS Shell Dlg 2" panose="020B0604030504040204" pitchFamily="34" charset="0"/>
                <a:ea typeface="MS Shell Dlg 2" panose="020B0604030504040204" pitchFamily="34" charset="0"/>
                <a:cs typeface="MS Shell Dlg 2" panose="020B0604030504040204" pitchFamily="34" charset="0"/>
              </a:rPr>
              <a:t>2</a:t>
            </a:r>
          </a:p>
        </p:txBody>
      </p:sp>
    </p:spTree>
    <p:extLst>
      <p:ext uri="{BB962C8B-B14F-4D97-AF65-F5344CB8AC3E}">
        <p14:creationId xmlns:p14="http://schemas.microsoft.com/office/powerpoint/2010/main" val="23261581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Immagine 13" descr="Immagine che contiene mappa, testo, diagramma&#10;&#10;Descrizione generata automaticamente">
            <a:extLst>
              <a:ext uri="{FF2B5EF4-FFF2-40B4-BE49-F238E27FC236}">
                <a16:creationId xmlns:a16="http://schemas.microsoft.com/office/drawing/2014/main" id="{5FA407CD-279C-AE3F-6CCB-203091F275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02" y="-3904"/>
            <a:ext cx="9697986" cy="6858000"/>
          </a:xfrm>
          <a:prstGeom prst="rect">
            <a:avLst/>
          </a:prstGeom>
        </p:spPr>
      </p:pic>
      <p:sp>
        <p:nvSpPr>
          <p:cNvPr id="5" name="CasellaDiTesto 4">
            <a:extLst>
              <a:ext uri="{FF2B5EF4-FFF2-40B4-BE49-F238E27FC236}">
                <a16:creationId xmlns:a16="http://schemas.microsoft.com/office/drawing/2014/main" id="{237BFFEA-CF0A-C973-7F4F-99D1CA979C5E}"/>
              </a:ext>
            </a:extLst>
          </p:cNvPr>
          <p:cNvSpPr txBox="1"/>
          <p:nvPr/>
        </p:nvSpPr>
        <p:spPr>
          <a:xfrm>
            <a:off x="9656748" y="94209"/>
            <a:ext cx="2521350" cy="5755422"/>
          </a:xfrm>
          <a:prstGeom prst="rect">
            <a:avLst/>
          </a:prstGeom>
          <a:noFill/>
        </p:spPr>
        <p:txBody>
          <a:bodyPr wrap="square" rtlCol="0">
            <a:spAutoFit/>
          </a:bodyPr>
          <a:lstStyle/>
          <a:p>
            <a:pPr marL="228600" indent="-228600" algn="just">
              <a:buFont typeface="+mj-lt"/>
              <a:buAutoNum type="alphaU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warm areas with slightly low bottom oxygen and very high surface productivity. Moderate to high biomass of </a:t>
            </a:r>
            <a:r>
              <a:rPr lang="en-US" sz="8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moderate salinity. Minor anthropogenic influence with light presence of dumping sites, military areas, and wind farms.</a:t>
            </a:r>
          </a:p>
          <a:p>
            <a:pPr marL="228600" indent="-228600" algn="just">
              <a:buFont typeface="+mj-lt"/>
              <a:buAutoNum type="alphaU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of five commercial demersal species, high salinity, high fishing activity, and fair shipping traffic. Strong anthropogenic influence with a dominant presence of dumping sites and minor military areas and wind farms.</a:t>
            </a:r>
          </a:p>
          <a:p>
            <a:pPr marL="228600" indent="-228600" algn="just">
              <a:buFont typeface="+mj-lt"/>
              <a:buAutoNum type="alphaU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Shallow, cold areas with moderately low bottom oxygen and very low surface productivity. Very high biomass despite low salinity, fair fishing activity, and moderate shipping traffic, with only minimal wind-farm presence.</a:t>
            </a:r>
          </a:p>
          <a:p>
            <a:pPr marL="228600" indent="-228600" algn="just">
              <a:buFont typeface="+mj-lt"/>
              <a:buAutoNum type="alphaU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Font typeface="+mj-lt"/>
              <a:buAutoNum type="alphaU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very low surface productivity. Very high biomass despite fair salinity, very low fishing activity, and moderate shipping traffic. Only a minimal presence of wind farms.</a:t>
            </a:r>
          </a:p>
          <a:p>
            <a:pPr marL="228600" indent="-228600" algn="just">
              <a:buFont typeface="+mj-lt"/>
              <a:buAutoNum type="alphaU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972B0385-9675-ED69-D055-78322829BE8B}"/>
              </a:ext>
            </a:extLst>
          </p:cNvPr>
          <p:cNvSpPr txBox="1"/>
          <p:nvPr/>
        </p:nvSpPr>
        <p:spPr>
          <a:xfrm>
            <a:off x="5445760" y="4768505"/>
            <a:ext cx="3555999" cy="861774"/>
          </a:xfrm>
          <a:prstGeom prst="rect">
            <a:avLst/>
          </a:prstGeom>
          <a:noFill/>
        </p:spPr>
        <p:txBody>
          <a:bodyPr wrap="square">
            <a:spAutoFit/>
          </a:bodyPr>
          <a:lstStyle/>
          <a:p>
            <a:pPr algn="ctr"/>
            <a:r>
              <a:rPr lang="it-IT"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6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7" name="CasellaDiTesto 6">
            <a:extLst>
              <a:ext uri="{FF2B5EF4-FFF2-40B4-BE49-F238E27FC236}">
                <a16:creationId xmlns:a16="http://schemas.microsoft.com/office/drawing/2014/main" id="{B8175458-641F-A2FF-C91C-DFB6AF09A392}"/>
              </a:ext>
            </a:extLst>
          </p:cNvPr>
          <p:cNvSpPr txBox="1"/>
          <p:nvPr/>
        </p:nvSpPr>
        <p:spPr>
          <a:xfrm>
            <a:off x="4862895"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8" name="CasellaDiTesto 7">
            <a:extLst>
              <a:ext uri="{FF2B5EF4-FFF2-40B4-BE49-F238E27FC236}">
                <a16:creationId xmlns:a16="http://schemas.microsoft.com/office/drawing/2014/main" id="{7A3CB8C4-AA0A-0C4C-D0EA-77C9AC16F701}"/>
              </a:ext>
            </a:extLst>
          </p:cNvPr>
          <p:cNvSpPr txBox="1"/>
          <p:nvPr/>
        </p:nvSpPr>
        <p:spPr>
          <a:xfrm>
            <a:off x="3122796"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9" name="CasellaDiTesto 8">
            <a:extLst>
              <a:ext uri="{FF2B5EF4-FFF2-40B4-BE49-F238E27FC236}">
                <a16:creationId xmlns:a16="http://schemas.microsoft.com/office/drawing/2014/main" id="{8339F146-5E39-B835-C2A7-B325FC94E80C}"/>
              </a:ext>
            </a:extLst>
          </p:cNvPr>
          <p:cNvSpPr txBox="1"/>
          <p:nvPr/>
        </p:nvSpPr>
        <p:spPr>
          <a:xfrm>
            <a:off x="5950723" y="315200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10" name="CasellaDiTesto 9">
            <a:extLst>
              <a:ext uri="{FF2B5EF4-FFF2-40B4-BE49-F238E27FC236}">
                <a16:creationId xmlns:a16="http://schemas.microsoft.com/office/drawing/2014/main" id="{D8375868-28E8-E101-4E1F-0C8CCBC4B2A0}"/>
              </a:ext>
            </a:extLst>
          </p:cNvPr>
          <p:cNvSpPr txBox="1"/>
          <p:nvPr/>
        </p:nvSpPr>
        <p:spPr>
          <a:xfrm>
            <a:off x="5487328"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2" name="CasellaDiTesto 1">
            <a:extLst>
              <a:ext uri="{FF2B5EF4-FFF2-40B4-BE49-F238E27FC236}">
                <a16:creationId xmlns:a16="http://schemas.microsoft.com/office/drawing/2014/main" id="{3ED75D70-89AA-0516-E6D9-3765B1CB9CE1}"/>
              </a:ext>
            </a:extLst>
          </p:cNvPr>
          <p:cNvSpPr txBox="1"/>
          <p:nvPr/>
        </p:nvSpPr>
        <p:spPr>
          <a:xfrm>
            <a:off x="6123563" y="272676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11" name="CasellaDiTesto 10">
            <a:extLst>
              <a:ext uri="{FF2B5EF4-FFF2-40B4-BE49-F238E27FC236}">
                <a16:creationId xmlns:a16="http://schemas.microsoft.com/office/drawing/2014/main" id="{F33FCCA7-1C1A-E157-DBF9-08BB4900789C}"/>
              </a:ext>
            </a:extLst>
          </p:cNvPr>
          <p:cNvSpPr txBox="1"/>
          <p:nvPr/>
        </p:nvSpPr>
        <p:spPr>
          <a:xfrm>
            <a:off x="6720433" y="257581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12" name="CasellaDiTesto 11">
            <a:extLst>
              <a:ext uri="{FF2B5EF4-FFF2-40B4-BE49-F238E27FC236}">
                <a16:creationId xmlns:a16="http://schemas.microsoft.com/office/drawing/2014/main" id="{DD5F6CF3-AB8E-578B-6859-9BD1F5264663}"/>
              </a:ext>
            </a:extLst>
          </p:cNvPr>
          <p:cNvSpPr txBox="1"/>
          <p:nvPr/>
        </p:nvSpPr>
        <p:spPr>
          <a:xfrm>
            <a:off x="6602994"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15" name="CasellaDiTesto 14">
            <a:extLst>
              <a:ext uri="{FF2B5EF4-FFF2-40B4-BE49-F238E27FC236}">
                <a16:creationId xmlns:a16="http://schemas.microsoft.com/office/drawing/2014/main" id="{FB06A761-02BA-7D4B-FEBD-E949D582B203}"/>
              </a:ext>
            </a:extLst>
          </p:cNvPr>
          <p:cNvSpPr txBox="1"/>
          <p:nvPr/>
        </p:nvSpPr>
        <p:spPr>
          <a:xfrm>
            <a:off x="6899983" y="350193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Tree>
    <p:extLst>
      <p:ext uri="{BB962C8B-B14F-4D97-AF65-F5344CB8AC3E}">
        <p14:creationId xmlns:p14="http://schemas.microsoft.com/office/powerpoint/2010/main" val="30043193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descr="Immagine che contiene mappa, testo, diagramma&#10;&#10;Descrizione generata automaticamente">
            <a:extLst>
              <a:ext uri="{FF2B5EF4-FFF2-40B4-BE49-F238E27FC236}">
                <a16:creationId xmlns:a16="http://schemas.microsoft.com/office/drawing/2014/main" id="{318451DC-D5FD-D4DD-AE42-BD9471431A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grpSp>
        <p:nvGrpSpPr>
          <p:cNvPr id="4" name="Gruppo 3">
            <a:extLst>
              <a:ext uri="{FF2B5EF4-FFF2-40B4-BE49-F238E27FC236}">
                <a16:creationId xmlns:a16="http://schemas.microsoft.com/office/drawing/2014/main" id="{07707B10-FB73-4FCD-EB4F-84A4C0C2DC9D}"/>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B172D1E2-ABDC-06F9-D37E-5930AB41B59F}"/>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4A099EDE-6021-63D9-8289-DDF35946F66F}"/>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endPar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2" name="CasellaDiTesto 11">
            <a:extLst>
              <a:ext uri="{FF2B5EF4-FFF2-40B4-BE49-F238E27FC236}">
                <a16:creationId xmlns:a16="http://schemas.microsoft.com/office/drawing/2014/main" id="{1A52B161-CDCE-A666-686C-05B381F1A97B}"/>
              </a:ext>
            </a:extLst>
          </p:cNvPr>
          <p:cNvSpPr txBox="1"/>
          <p:nvPr/>
        </p:nvSpPr>
        <p:spPr>
          <a:xfrm>
            <a:off x="4862895"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13" name="CasellaDiTesto 12">
            <a:extLst>
              <a:ext uri="{FF2B5EF4-FFF2-40B4-BE49-F238E27FC236}">
                <a16:creationId xmlns:a16="http://schemas.microsoft.com/office/drawing/2014/main" id="{BE51073D-E134-B2D9-8234-7692B5FFB13A}"/>
              </a:ext>
            </a:extLst>
          </p:cNvPr>
          <p:cNvSpPr txBox="1"/>
          <p:nvPr/>
        </p:nvSpPr>
        <p:spPr>
          <a:xfrm>
            <a:off x="3122796"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14" name="CasellaDiTesto 13">
            <a:extLst>
              <a:ext uri="{FF2B5EF4-FFF2-40B4-BE49-F238E27FC236}">
                <a16:creationId xmlns:a16="http://schemas.microsoft.com/office/drawing/2014/main" id="{9C2A54DD-CDA2-EE20-CF0E-29FA619700AD}"/>
              </a:ext>
            </a:extLst>
          </p:cNvPr>
          <p:cNvSpPr txBox="1"/>
          <p:nvPr/>
        </p:nvSpPr>
        <p:spPr>
          <a:xfrm>
            <a:off x="5950723" y="315200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15" name="CasellaDiTesto 14">
            <a:extLst>
              <a:ext uri="{FF2B5EF4-FFF2-40B4-BE49-F238E27FC236}">
                <a16:creationId xmlns:a16="http://schemas.microsoft.com/office/drawing/2014/main" id="{4DA33E2E-88B9-4889-0643-475D90D748BD}"/>
              </a:ext>
            </a:extLst>
          </p:cNvPr>
          <p:cNvSpPr txBox="1"/>
          <p:nvPr/>
        </p:nvSpPr>
        <p:spPr>
          <a:xfrm>
            <a:off x="5487328"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16" name="CasellaDiTesto 15">
            <a:extLst>
              <a:ext uri="{FF2B5EF4-FFF2-40B4-BE49-F238E27FC236}">
                <a16:creationId xmlns:a16="http://schemas.microsoft.com/office/drawing/2014/main" id="{7415D545-2340-7CAB-253A-F3EB2E21AFF6}"/>
              </a:ext>
            </a:extLst>
          </p:cNvPr>
          <p:cNvSpPr txBox="1"/>
          <p:nvPr/>
        </p:nvSpPr>
        <p:spPr>
          <a:xfrm>
            <a:off x="6123563" y="272676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17" name="CasellaDiTesto 16">
            <a:extLst>
              <a:ext uri="{FF2B5EF4-FFF2-40B4-BE49-F238E27FC236}">
                <a16:creationId xmlns:a16="http://schemas.microsoft.com/office/drawing/2014/main" id="{8BC3CDAA-1F9A-6DC6-6177-988D9759D0BA}"/>
              </a:ext>
            </a:extLst>
          </p:cNvPr>
          <p:cNvSpPr txBox="1"/>
          <p:nvPr/>
        </p:nvSpPr>
        <p:spPr>
          <a:xfrm>
            <a:off x="6720433" y="257581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18" name="CasellaDiTesto 17">
            <a:extLst>
              <a:ext uri="{FF2B5EF4-FFF2-40B4-BE49-F238E27FC236}">
                <a16:creationId xmlns:a16="http://schemas.microsoft.com/office/drawing/2014/main" id="{FB4223A3-772D-A5C3-09E6-AFBF9ACE9FBE}"/>
              </a:ext>
            </a:extLst>
          </p:cNvPr>
          <p:cNvSpPr txBox="1"/>
          <p:nvPr/>
        </p:nvSpPr>
        <p:spPr>
          <a:xfrm>
            <a:off x="6602994"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19" name="CasellaDiTesto 18">
            <a:extLst>
              <a:ext uri="{FF2B5EF4-FFF2-40B4-BE49-F238E27FC236}">
                <a16:creationId xmlns:a16="http://schemas.microsoft.com/office/drawing/2014/main" id="{85937901-3AF0-EBE2-C58A-29485FC30252}"/>
              </a:ext>
            </a:extLst>
          </p:cNvPr>
          <p:cNvSpPr txBox="1"/>
          <p:nvPr/>
        </p:nvSpPr>
        <p:spPr>
          <a:xfrm>
            <a:off x="6899983" y="350193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Tree>
    <p:extLst>
      <p:ext uri="{BB962C8B-B14F-4D97-AF65-F5344CB8AC3E}">
        <p14:creationId xmlns:p14="http://schemas.microsoft.com/office/powerpoint/2010/main" val="30799481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mappa, testo, diagramma&#10;&#10;Descrizione generata automaticamente">
            <a:extLst>
              <a:ext uri="{FF2B5EF4-FFF2-40B4-BE49-F238E27FC236}">
                <a16:creationId xmlns:a16="http://schemas.microsoft.com/office/drawing/2014/main" id="{45763EE3-790A-3A55-B1F3-941C943CCB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grpSp>
        <p:nvGrpSpPr>
          <p:cNvPr id="4" name="Gruppo 3">
            <a:extLst>
              <a:ext uri="{FF2B5EF4-FFF2-40B4-BE49-F238E27FC236}">
                <a16:creationId xmlns:a16="http://schemas.microsoft.com/office/drawing/2014/main" id="{5857829E-2489-D2E3-4CAF-B3626136986A}"/>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C8098931-19F8-3CBD-38C0-0EBED3BCF2AA}"/>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683CAA8A-703E-FFCC-0E0C-0E06FA7FF18F}"/>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7" name="CasellaDiTesto 6">
            <a:extLst>
              <a:ext uri="{FF2B5EF4-FFF2-40B4-BE49-F238E27FC236}">
                <a16:creationId xmlns:a16="http://schemas.microsoft.com/office/drawing/2014/main" id="{38EB0D34-4497-9501-52EF-87CC5FCD93DB}"/>
              </a:ext>
            </a:extLst>
          </p:cNvPr>
          <p:cNvSpPr txBox="1"/>
          <p:nvPr/>
        </p:nvSpPr>
        <p:spPr>
          <a:xfrm>
            <a:off x="4273687" y="2755791"/>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v.A</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4" name="CasellaDiTesto 13">
            <a:extLst>
              <a:ext uri="{FF2B5EF4-FFF2-40B4-BE49-F238E27FC236}">
                <a16:creationId xmlns:a16="http://schemas.microsoft.com/office/drawing/2014/main" id="{DE6D34C8-C67B-06E0-623B-47326F99149D}"/>
              </a:ext>
            </a:extLst>
          </p:cNvPr>
          <p:cNvSpPr txBox="1"/>
          <p:nvPr/>
        </p:nvSpPr>
        <p:spPr>
          <a:xfrm>
            <a:off x="4932743" y="2689106"/>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v.B</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5" name="CasellaDiTesto 14">
            <a:extLst>
              <a:ext uri="{FF2B5EF4-FFF2-40B4-BE49-F238E27FC236}">
                <a16:creationId xmlns:a16="http://schemas.microsoft.com/office/drawing/2014/main" id="{114C8759-ECFA-FBDA-5EA3-BA22FF047F23}"/>
              </a:ext>
            </a:extLst>
          </p:cNvPr>
          <p:cNvSpPr txBox="1"/>
          <p:nvPr/>
        </p:nvSpPr>
        <p:spPr>
          <a:xfrm>
            <a:off x="4685310" y="3180004"/>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v.C</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6" name="CasellaDiTesto 15">
            <a:extLst>
              <a:ext uri="{FF2B5EF4-FFF2-40B4-BE49-F238E27FC236}">
                <a16:creationId xmlns:a16="http://schemas.microsoft.com/office/drawing/2014/main" id="{F1FA9B59-AEEE-FB82-FAEE-BF732CC4FFA7}"/>
              </a:ext>
            </a:extLst>
          </p:cNvPr>
          <p:cNvSpPr txBox="1"/>
          <p:nvPr/>
        </p:nvSpPr>
        <p:spPr>
          <a:xfrm>
            <a:off x="5797292" y="3092915"/>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v.D</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7" name="CasellaDiTesto 16">
            <a:extLst>
              <a:ext uri="{FF2B5EF4-FFF2-40B4-BE49-F238E27FC236}">
                <a16:creationId xmlns:a16="http://schemas.microsoft.com/office/drawing/2014/main" id="{9ACB4721-A779-92CC-BAEB-EE8DAC1273B7}"/>
              </a:ext>
            </a:extLst>
          </p:cNvPr>
          <p:cNvSpPr txBox="1"/>
          <p:nvPr/>
        </p:nvSpPr>
        <p:spPr>
          <a:xfrm>
            <a:off x="6530806" y="2613289"/>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v.E</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8" name="CasellaDiTesto 17">
            <a:extLst>
              <a:ext uri="{FF2B5EF4-FFF2-40B4-BE49-F238E27FC236}">
                <a16:creationId xmlns:a16="http://schemas.microsoft.com/office/drawing/2014/main" id="{290B6AF9-595C-3458-67E1-456BD802D96B}"/>
              </a:ext>
            </a:extLst>
          </p:cNvPr>
          <p:cNvSpPr txBox="1"/>
          <p:nvPr/>
        </p:nvSpPr>
        <p:spPr>
          <a:xfrm>
            <a:off x="6396923" y="3281551"/>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v.F</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9" name="CasellaDiTesto 18">
            <a:extLst>
              <a:ext uri="{FF2B5EF4-FFF2-40B4-BE49-F238E27FC236}">
                <a16:creationId xmlns:a16="http://schemas.microsoft.com/office/drawing/2014/main" id="{7228784C-84D0-2882-BD5B-E1C62F246398}"/>
              </a:ext>
            </a:extLst>
          </p:cNvPr>
          <p:cNvSpPr txBox="1"/>
          <p:nvPr/>
        </p:nvSpPr>
        <p:spPr>
          <a:xfrm>
            <a:off x="6849849" y="3313615"/>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v.G</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20" name="CasellaDiTesto 19">
            <a:extLst>
              <a:ext uri="{FF2B5EF4-FFF2-40B4-BE49-F238E27FC236}">
                <a16:creationId xmlns:a16="http://schemas.microsoft.com/office/drawing/2014/main" id="{28835EBD-AA73-12FB-C33D-6A4BDB70F720}"/>
              </a:ext>
            </a:extLst>
          </p:cNvPr>
          <p:cNvSpPr txBox="1"/>
          <p:nvPr/>
        </p:nvSpPr>
        <p:spPr>
          <a:xfrm>
            <a:off x="7544907" y="2474789"/>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v.H</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Tree>
    <p:extLst>
      <p:ext uri="{BB962C8B-B14F-4D97-AF65-F5344CB8AC3E}">
        <p14:creationId xmlns:p14="http://schemas.microsoft.com/office/powerpoint/2010/main" val="305555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descr="Immagine che contiene mappa, testo, diagramma&#10;&#10;Descrizione generata automaticamente">
            <a:extLst>
              <a:ext uri="{FF2B5EF4-FFF2-40B4-BE49-F238E27FC236}">
                <a16:creationId xmlns:a16="http://schemas.microsoft.com/office/drawing/2014/main" id="{E0DBD1B4-7D7D-3242-1E76-F5DB3B0EFC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74" y="0"/>
            <a:ext cx="9697986" cy="6858000"/>
          </a:xfrm>
          <a:prstGeom prst="rect">
            <a:avLst/>
          </a:prstGeom>
        </p:spPr>
      </p:pic>
      <p:grpSp>
        <p:nvGrpSpPr>
          <p:cNvPr id="4" name="Gruppo 3">
            <a:extLst>
              <a:ext uri="{FF2B5EF4-FFF2-40B4-BE49-F238E27FC236}">
                <a16:creationId xmlns:a16="http://schemas.microsoft.com/office/drawing/2014/main" id="{05C5415A-689F-B0CE-8830-5B0FDBE11FF1}"/>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7E0BE7AD-44CA-E5D9-9911-88EBB720399B}"/>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AD1A2F20-C491-DC54-9C2B-C37E74D979A6}"/>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
        <p:nvSpPr>
          <p:cNvPr id="12" name="CasellaDiTesto 11">
            <a:extLst>
              <a:ext uri="{FF2B5EF4-FFF2-40B4-BE49-F238E27FC236}">
                <a16:creationId xmlns:a16="http://schemas.microsoft.com/office/drawing/2014/main" id="{6F6BE08D-07A1-F032-686F-6AD7990264E5}"/>
              </a:ext>
            </a:extLst>
          </p:cNvPr>
          <p:cNvSpPr txBox="1"/>
          <p:nvPr/>
        </p:nvSpPr>
        <p:spPr>
          <a:xfrm>
            <a:off x="4273687" y="2755791"/>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v.A</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3" name="CasellaDiTesto 12">
            <a:extLst>
              <a:ext uri="{FF2B5EF4-FFF2-40B4-BE49-F238E27FC236}">
                <a16:creationId xmlns:a16="http://schemas.microsoft.com/office/drawing/2014/main" id="{3205A285-7544-F682-5EA3-222C7B1941CE}"/>
              </a:ext>
            </a:extLst>
          </p:cNvPr>
          <p:cNvSpPr txBox="1"/>
          <p:nvPr/>
        </p:nvSpPr>
        <p:spPr>
          <a:xfrm>
            <a:off x="4932743" y="2689106"/>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v.B</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4" name="CasellaDiTesto 13">
            <a:extLst>
              <a:ext uri="{FF2B5EF4-FFF2-40B4-BE49-F238E27FC236}">
                <a16:creationId xmlns:a16="http://schemas.microsoft.com/office/drawing/2014/main" id="{157D4BEC-CC27-C341-57C8-4525AF3E1753}"/>
              </a:ext>
            </a:extLst>
          </p:cNvPr>
          <p:cNvSpPr txBox="1"/>
          <p:nvPr/>
        </p:nvSpPr>
        <p:spPr>
          <a:xfrm>
            <a:off x="4685310" y="3180004"/>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v.C</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5" name="CasellaDiTesto 14">
            <a:extLst>
              <a:ext uri="{FF2B5EF4-FFF2-40B4-BE49-F238E27FC236}">
                <a16:creationId xmlns:a16="http://schemas.microsoft.com/office/drawing/2014/main" id="{6727F166-7312-5C39-A54B-16ADD73A6CE8}"/>
              </a:ext>
            </a:extLst>
          </p:cNvPr>
          <p:cNvSpPr txBox="1"/>
          <p:nvPr/>
        </p:nvSpPr>
        <p:spPr>
          <a:xfrm>
            <a:off x="5797292" y="3092915"/>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v.D</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6" name="CasellaDiTesto 15">
            <a:extLst>
              <a:ext uri="{FF2B5EF4-FFF2-40B4-BE49-F238E27FC236}">
                <a16:creationId xmlns:a16="http://schemas.microsoft.com/office/drawing/2014/main" id="{E3CDC041-8B34-35CE-3B51-37E468279841}"/>
              </a:ext>
            </a:extLst>
          </p:cNvPr>
          <p:cNvSpPr txBox="1"/>
          <p:nvPr/>
        </p:nvSpPr>
        <p:spPr>
          <a:xfrm>
            <a:off x="6530806" y="2613289"/>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v.E</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7" name="CasellaDiTesto 16">
            <a:extLst>
              <a:ext uri="{FF2B5EF4-FFF2-40B4-BE49-F238E27FC236}">
                <a16:creationId xmlns:a16="http://schemas.microsoft.com/office/drawing/2014/main" id="{F3B53D99-3370-AE40-CB5A-FC45BF5C15D3}"/>
              </a:ext>
            </a:extLst>
          </p:cNvPr>
          <p:cNvSpPr txBox="1"/>
          <p:nvPr/>
        </p:nvSpPr>
        <p:spPr>
          <a:xfrm>
            <a:off x="6396923" y="3281551"/>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v.F</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8" name="CasellaDiTesto 17">
            <a:extLst>
              <a:ext uri="{FF2B5EF4-FFF2-40B4-BE49-F238E27FC236}">
                <a16:creationId xmlns:a16="http://schemas.microsoft.com/office/drawing/2014/main" id="{B8D6D7B0-8987-C08A-B8D2-DE29FC9162AD}"/>
              </a:ext>
            </a:extLst>
          </p:cNvPr>
          <p:cNvSpPr txBox="1"/>
          <p:nvPr/>
        </p:nvSpPr>
        <p:spPr>
          <a:xfrm>
            <a:off x="6849849" y="3313615"/>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v.G</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9" name="CasellaDiTesto 18">
            <a:extLst>
              <a:ext uri="{FF2B5EF4-FFF2-40B4-BE49-F238E27FC236}">
                <a16:creationId xmlns:a16="http://schemas.microsoft.com/office/drawing/2014/main" id="{9CABE05B-C74D-74C1-7E74-D4D8E5414EE6}"/>
              </a:ext>
            </a:extLst>
          </p:cNvPr>
          <p:cNvSpPr txBox="1"/>
          <p:nvPr/>
        </p:nvSpPr>
        <p:spPr>
          <a:xfrm>
            <a:off x="7544907" y="2474789"/>
            <a:ext cx="659056" cy="276999"/>
          </a:xfrm>
          <a:prstGeom prst="rect">
            <a:avLst/>
          </a:prstGeom>
          <a:noFill/>
        </p:spPr>
        <p:txBody>
          <a:bodyPr wrap="square" rtlCol="0">
            <a:spAutoFit/>
          </a:bodyPr>
          <a:lstStyle/>
          <a:p>
            <a:pPr algn="ctr"/>
            <a:r>
              <a:rPr lang="it-IT" sz="1200" b="1" dirty="0" err="1">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v.H</a:t>
            </a:r>
            <a:endPar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Tree>
    <p:extLst>
      <p:ext uri="{BB962C8B-B14F-4D97-AF65-F5344CB8AC3E}">
        <p14:creationId xmlns:p14="http://schemas.microsoft.com/office/powerpoint/2010/main" val="2493968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testo, mappa, diagramma&#10;&#10;Descrizione generata automaticamente">
            <a:extLst>
              <a:ext uri="{FF2B5EF4-FFF2-40B4-BE49-F238E27FC236}">
                <a16:creationId xmlns:a16="http://schemas.microsoft.com/office/drawing/2014/main" id="{D24B2977-0498-C606-33B3-EDC61E25D68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grpSp>
        <p:nvGrpSpPr>
          <p:cNvPr id="4" name="Gruppo 3">
            <a:extLst>
              <a:ext uri="{FF2B5EF4-FFF2-40B4-BE49-F238E27FC236}">
                <a16:creationId xmlns:a16="http://schemas.microsoft.com/office/drawing/2014/main" id="{D0B0A35A-75F3-A185-B404-1928FA3E51B9}"/>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04C2AD2E-722F-2626-3CD1-8BE649AF0AA7}"/>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A2EAB924-8023-A0A2-BA1E-7DBFAC214170}"/>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&amp; 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Tree>
    <p:extLst>
      <p:ext uri="{BB962C8B-B14F-4D97-AF65-F5344CB8AC3E}">
        <p14:creationId xmlns:p14="http://schemas.microsoft.com/office/powerpoint/2010/main" val="647371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mappa, testo, diagramma&#10;&#10;Descrizione generata automaticamente">
            <a:extLst>
              <a:ext uri="{FF2B5EF4-FFF2-40B4-BE49-F238E27FC236}">
                <a16:creationId xmlns:a16="http://schemas.microsoft.com/office/drawing/2014/main" id="{14752B7B-CE35-B1A3-768B-EC78DBC46A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grpSp>
        <p:nvGrpSpPr>
          <p:cNvPr id="4" name="Gruppo 3">
            <a:extLst>
              <a:ext uri="{FF2B5EF4-FFF2-40B4-BE49-F238E27FC236}">
                <a16:creationId xmlns:a16="http://schemas.microsoft.com/office/drawing/2014/main" id="{3F722F55-F6F7-7A7A-9F81-772E484AC25D}"/>
              </a:ext>
            </a:extLst>
          </p:cNvPr>
          <p:cNvGrpSpPr/>
          <p:nvPr/>
        </p:nvGrpSpPr>
        <p:grpSpPr>
          <a:xfrm>
            <a:off x="5219879" y="3899677"/>
            <a:ext cx="5429784" cy="2146220"/>
            <a:chOff x="5219879" y="3899677"/>
            <a:chExt cx="5429784" cy="2146220"/>
          </a:xfrm>
        </p:grpSpPr>
        <p:sp>
          <p:nvSpPr>
            <p:cNvPr id="5" name="CasellaDiTesto 4">
              <a:extLst>
                <a:ext uri="{FF2B5EF4-FFF2-40B4-BE49-F238E27FC236}">
                  <a16:creationId xmlns:a16="http://schemas.microsoft.com/office/drawing/2014/main" id="{DED3305E-FC3F-611E-E3AD-1E44231BA171}"/>
                </a:ext>
              </a:extLst>
            </p:cNvPr>
            <p:cNvSpPr txBox="1"/>
            <p:nvPr/>
          </p:nvSpPr>
          <p:spPr>
            <a:xfrm>
              <a:off x="5219879" y="4476237"/>
              <a:ext cx="5429784" cy="1569660"/>
            </a:xfrm>
            <a:prstGeom prst="rect">
              <a:avLst/>
            </a:prstGeom>
            <a:solidFill>
              <a:srgbClr val="ECECEC"/>
            </a:solidFill>
          </p:spPr>
          <p:txBody>
            <a:bodyPr wrap="square" rtlCol="0">
              <a:spAutoFit/>
            </a:bodyPr>
            <a:lstStyle/>
            <a:p>
              <a:pPr marL="228600" indent="-228600" algn="just">
                <a:buAutoNum type="arabicPeriod"/>
              </a:pPr>
              <a:r>
                <a:rPr lang="en-US" sz="8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Abc</a:t>
              </a:r>
              <a:r>
                <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endParaRPr lang="en-US" sz="8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6" name="CasellaDiTesto 5">
              <a:extLst>
                <a:ext uri="{FF2B5EF4-FFF2-40B4-BE49-F238E27FC236}">
                  <a16:creationId xmlns:a16="http://schemas.microsoft.com/office/drawing/2014/main" id="{55B0AD18-DB5A-02BF-ABE9-33F07DC10A3C}"/>
                </a:ext>
              </a:extLst>
            </p:cNvPr>
            <p:cNvSpPr txBox="1"/>
            <p:nvPr/>
          </p:nvSpPr>
          <p:spPr>
            <a:xfrm>
              <a:off x="5219879" y="3899677"/>
              <a:ext cx="5429784" cy="615553"/>
            </a:xfrm>
            <a:prstGeom prst="rect">
              <a:avLst/>
            </a:prstGeom>
            <a:noFill/>
          </p:spPr>
          <p:txBody>
            <a:bodyPr wrap="square">
              <a:spAutoFit/>
            </a:bodyPr>
            <a:lstStyle/>
            <a:p>
              <a:pPr algn="ct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Ecosystem</a:t>
              </a:r>
              <a:r>
                <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Risk </a:t>
              </a:r>
              <a:r>
                <a:rPr lang="it-IT" sz="12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12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Multi K-</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means</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&amp; VAE (+ </a:t>
              </a:r>
              <a:r>
                <a:rPr lang="it-IT" sz="1100"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mkm</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i="1" dirty="0" err="1">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Ensamble</a:t>
              </a:r>
              <a:r>
                <a:rPr lang="it-IT" sz="1100" i="1"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 </a:t>
              </a:r>
              <a:r>
                <a:rPr lang="it-IT" sz="1100" dirty="0">
                  <a:solidFill>
                    <a:schemeClr val="tx1">
                      <a:lumMod val="85000"/>
                      <a:lumOff val="15000"/>
                    </a:schemeClr>
                  </a:solidFill>
                  <a:latin typeface="MS Shell Dlg 2" panose="020B0604030504040204" pitchFamily="34" charset="0"/>
                  <a:ea typeface="MS Shell Dlg 2" panose="020B0604030504040204" pitchFamily="34" charset="0"/>
                  <a:cs typeface="MS Shell Dlg 2" panose="020B0604030504040204" pitchFamily="34" charset="0"/>
                </a:rPr>
                <a:t>-</a:t>
              </a:r>
            </a:p>
          </p:txBody>
        </p:sp>
      </p:grpSp>
    </p:spTree>
    <p:extLst>
      <p:ext uri="{BB962C8B-B14F-4D97-AF65-F5344CB8AC3E}">
        <p14:creationId xmlns:p14="http://schemas.microsoft.com/office/powerpoint/2010/main" val="250655776"/>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1086</TotalTime>
  <Words>2375</Words>
  <Application>Microsoft Office PowerPoint</Application>
  <PresentationFormat>Widescreen</PresentationFormat>
  <Paragraphs>280</Paragraphs>
  <Slides>18</Slides>
  <Notes>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18</vt:i4>
      </vt:variant>
    </vt:vector>
  </HeadingPairs>
  <TitlesOfParts>
    <vt:vector size="23" baseType="lpstr">
      <vt:lpstr>Aptos</vt:lpstr>
      <vt:lpstr>Aptos Display</vt:lpstr>
      <vt:lpstr>Arial</vt:lpstr>
      <vt:lpstr>MS Shell Dlg 2</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Laura Pavirani</dc:creator>
  <cp:lastModifiedBy>Laura Pavirani</cp:lastModifiedBy>
  <cp:revision>28</cp:revision>
  <cp:lastPrinted>2025-12-12T09:13:38Z</cp:lastPrinted>
  <dcterms:created xsi:type="dcterms:W3CDTF">2025-12-10T09:17:21Z</dcterms:created>
  <dcterms:modified xsi:type="dcterms:W3CDTF">2025-12-12T13:16:33Z</dcterms:modified>
</cp:coreProperties>
</file>