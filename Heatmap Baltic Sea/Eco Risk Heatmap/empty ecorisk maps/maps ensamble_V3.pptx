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4" r:id="rId5"/>
    <p:sldId id="266" r:id="rId6"/>
    <p:sldId id="268" r:id="rId7"/>
    <p:sldId id="270" r:id="rId8"/>
    <p:sldId id="276" r:id="rId9"/>
    <p:sldId id="272" r:id="rId10"/>
    <p:sldId id="278" r:id="rId11"/>
    <p:sldId id="274" r:id="rId12"/>
    <p:sldId id="279" r:id="rId13"/>
    <p:sldId id="281" r:id="rId14"/>
  </p:sldIdLst>
  <p:sldSz cx="12192000" cy="6858000"/>
  <p:notesSz cx="6735763" cy="98663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km - all spp" id="{A805E225-AFCB-41F4-A93F-3547F6EC7C98}">
          <p14:sldIdLst>
            <p14:sldId id="260"/>
          </p14:sldIdLst>
        </p14:section>
        <p14:section name="mkm - five spp" id="{1C7B0101-1060-4B33-913A-3F9859A7BEEF}">
          <p14:sldIdLst>
            <p14:sldId id="261"/>
          </p14:sldIdLst>
        </p14:section>
        <p14:section name="mkm - gadus morhua" id="{BA4EB1F9-6F98-45B7-A895-24E26D34C2F4}">
          <p14:sldIdLst>
            <p14:sldId id="262"/>
          </p14:sldIdLst>
        </p14:section>
        <p14:section name="vae - all spp" id="{8F148BFE-7AEE-4126-AEA0-C8072BE307A7}">
          <p14:sldIdLst>
            <p14:sldId id="264"/>
          </p14:sldIdLst>
        </p14:section>
        <p14:section name="vae - five spp" id="{4F13373D-6E6A-42A3-B29F-E1B6BDBCFFAA}">
          <p14:sldIdLst>
            <p14:sldId id="266"/>
          </p14:sldIdLst>
        </p14:section>
        <p14:section name="vae - gadus morhua" id="{3962C957-CEA9-4734-88F2-4E7248CD5DDD}">
          <p14:sldIdLst>
            <p14:sldId id="268"/>
          </p14:sldIdLst>
        </p14:section>
        <p14:section name="mkm - ensamble" id="{9ED4AFFB-662D-4003-AD23-FD99C1B60F6B}">
          <p14:sldIdLst>
            <p14:sldId id="270"/>
            <p14:sldId id="276"/>
          </p14:sldIdLst>
        </p14:section>
        <p14:section name="vae - ensamble" id="{1B3F18D0-6634-444B-9379-EA1D8A76E847}">
          <p14:sldIdLst>
            <p14:sldId id="272"/>
            <p14:sldId id="278"/>
          </p14:sldIdLst>
        </p14:section>
        <p14:section name="mkm + vae" id="{D7789E8E-696D-4013-9505-A8637F0CD33D}">
          <p14:sldIdLst>
            <p14:sldId id="274"/>
            <p14:sldId id="279"/>
            <p14:sldId id="281"/>
          </p14:sldIdLst>
        </p14:section>
        <p14:section name="Red maps" id="{CC4A3A1A-DB0C-4802-AED9-4F580F8E532F}">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showGuides="1">
      <p:cViewPr varScale="1">
        <p:scale>
          <a:sx n="149" d="100"/>
          <a:sy n="149" d="100"/>
        </p:scale>
        <p:origin x="692" y="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BBE0A0-CBF8-A0EF-66AB-8F89817A127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3F7040D-11A4-CF1D-1272-84DEAD34F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BDB4F6-4B81-794F-22B5-CD4866E68B8E}"/>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C9427516-1345-33C4-E15E-2299256B31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94DDD7A-F440-879C-102E-DB95AB317D0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23049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A818FA-C53D-C5AE-6199-26C5AA2E216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40B71BD-9098-04F8-D81D-BEBE134F9D4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A05D9CD-BF74-F0E4-4AAE-9F430399EAB6}"/>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1C888C0-7D7E-D22E-B2C0-7DE2F644E3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344CB40-9140-63AB-2615-8CA794AF999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416293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382034-B89E-9573-3B68-81FC7437158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0B0CA49-16B5-1608-E94D-C569AE4D5B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48EA4C0-8501-38B3-5469-B035799BA4F8}"/>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B091514B-FFFC-EAA7-C38D-031B4130ED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621FAB4-3F99-C15F-0CEE-C7D491815594}"/>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60695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C9BDA0-5EF4-EA9A-E147-DCAABB098BC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A02E991-1B5E-CB07-F1B0-0150F84B53D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F7B740E-F8E7-3AEB-2DD9-32F1EE3454C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0909FF4-C43F-76FA-742E-2B9E28927F65}"/>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727AC408-A3B5-20F4-815D-585BAAE0DCE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D447E2D-0290-0DC9-4EB8-BE766BD8465C}"/>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462317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0400B7-74AE-CFF3-4A2D-CDB42C5BD2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CA461D9-FED0-5BB7-A8DB-5A80C84D9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7F8C463-1EC1-DEAB-4BF9-659C97B0843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AA83D10-5E45-B387-55C2-9DBBE08E8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7C50233-38BE-B1CD-892D-CFD0B9BE542D}"/>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6F5F16F4-8F11-8C73-49F2-4E011C375F4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8" name="Segnaposto piè di pagina 7">
            <a:extLst>
              <a:ext uri="{FF2B5EF4-FFF2-40B4-BE49-F238E27FC236}">
                <a16:creationId xmlns:a16="http://schemas.microsoft.com/office/drawing/2014/main" id="{4F7372DB-AA40-AC65-5B1F-3C89A809D56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FE492B74-C8F6-60CA-FDC7-EB18DCE85F5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82211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73C598-C749-B71B-97E5-83340FDCB3D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993A9799-37B1-C52D-1845-CC4996003684}"/>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4" name="Segnaposto piè di pagina 3">
            <a:extLst>
              <a:ext uri="{FF2B5EF4-FFF2-40B4-BE49-F238E27FC236}">
                <a16:creationId xmlns:a16="http://schemas.microsoft.com/office/drawing/2014/main" id="{56836BD7-9F6A-D174-748B-07C939B4721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6088E0A9-C532-A01C-F682-24B9AAD0CC1A}"/>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00398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C243262-14B8-B36C-1692-24880F80C039}"/>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3" name="Segnaposto piè di pagina 2">
            <a:extLst>
              <a:ext uri="{FF2B5EF4-FFF2-40B4-BE49-F238E27FC236}">
                <a16:creationId xmlns:a16="http://schemas.microsoft.com/office/drawing/2014/main" id="{93A8752F-C94B-2E82-DF15-31433EEF754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DB2BB79-9A68-76E9-63C9-26FB9378726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6348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9FF27C-4CB6-C5AD-FF2B-1989FF37085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12E4E98-1C0B-DB46-E2A7-D6A4B276D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11FF215-5A83-7627-335E-5C78579DC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7D04CF5-52F0-E6E8-E7BD-4F9391BC215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B87EFF67-96C9-9EF1-7FB4-28FD53F57E6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9C4DF7E-E2D4-9451-9970-777102C53F62}"/>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282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E9D771-2F9B-FA04-1B37-34FF27D745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B0C827E-9BE8-2E98-F5B2-E1323A23F6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796002-26C1-672C-8C0E-DA26A7D7E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DF69D20-0F19-7919-1F86-4ED89DFFB250}"/>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6" name="Segnaposto piè di pagina 5">
            <a:extLst>
              <a:ext uri="{FF2B5EF4-FFF2-40B4-BE49-F238E27FC236}">
                <a16:creationId xmlns:a16="http://schemas.microsoft.com/office/drawing/2014/main" id="{E352CF88-6B0C-81BE-5D8D-8FF2E8E526E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E24CF7D-0491-9667-C368-C38AD9D45F7F}"/>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190645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F5F81F-7189-97E5-5462-0A908563638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A5D2A5E-0F27-F010-17B3-9FA09A4AAFF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CA576B-3A62-85B0-5A3B-B06B0DB7ABFC}"/>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B77D120-63AB-ECD1-4620-D6D01D118F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B85CE9-4AAF-D723-1872-B5936019B05B}"/>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758917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2EF1D34-BE4C-D40B-633A-CE1081D1C3C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2EB05C5-F410-3AB6-9833-CEDCCF15A7B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B66FC0-C212-4EF8-C72D-B0DD2C506D10}"/>
              </a:ext>
            </a:extLst>
          </p:cNvPr>
          <p:cNvSpPr>
            <a:spLocks noGrp="1"/>
          </p:cNvSpPr>
          <p:nvPr>
            <p:ph type="dt" sz="half" idx="10"/>
          </p:nvPr>
        </p:nvSpPr>
        <p:spPr/>
        <p:txBody>
          <a:body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CBBD3EDA-4080-57C3-7844-35C438F5853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BF9DF2A-1C54-987C-D14B-02DBA9E7C353}"/>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39783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38C893F-6660-6807-1189-CD19430D1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E02A44D-32F0-7545-D7F9-8CDFE20EBB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517CE55-1C6F-8D1B-EAAE-F57BE00D8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D2010B-0304-4359-A36D-7ABB3F867AC8}" type="datetimeFigureOut">
              <a:rPr lang="it-IT" smtClean="0"/>
              <a:t>17/12/2025</a:t>
            </a:fld>
            <a:endParaRPr lang="it-IT"/>
          </a:p>
        </p:txBody>
      </p:sp>
      <p:sp>
        <p:nvSpPr>
          <p:cNvPr id="5" name="Segnaposto piè di pagina 4">
            <a:extLst>
              <a:ext uri="{FF2B5EF4-FFF2-40B4-BE49-F238E27FC236}">
                <a16:creationId xmlns:a16="http://schemas.microsoft.com/office/drawing/2014/main" id="{33ABF1CA-1DDE-9D8C-8B18-E59C85742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8E9A230-1255-CF33-71CA-32D5A27B2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1EA57E-E379-4B46-AB2C-561019FDBF6D}" type="slidenum">
              <a:rPr lang="it-IT" smtClean="0"/>
              <a:t>‹N›</a:t>
            </a:fld>
            <a:endParaRPr lang="it-IT"/>
          </a:p>
        </p:txBody>
      </p:sp>
    </p:spTree>
    <p:extLst>
      <p:ext uri="{BB962C8B-B14F-4D97-AF65-F5344CB8AC3E}">
        <p14:creationId xmlns:p14="http://schemas.microsoft.com/office/powerpoint/2010/main" val="4278199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descr="Immagine che contiene mappa, testo, diagramma&#10;&#10;Descrizione generata automaticamente">
            <a:extLst>
              <a:ext uri="{FF2B5EF4-FFF2-40B4-BE49-F238E27FC236}">
                <a16:creationId xmlns:a16="http://schemas.microsoft.com/office/drawing/2014/main" id="{A8C9D8DD-2C70-37D5-C0E8-D975123D3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4" name="CasellaDiTesto 3">
            <a:extLst>
              <a:ext uri="{FF2B5EF4-FFF2-40B4-BE49-F238E27FC236}">
                <a16:creationId xmlns:a16="http://schemas.microsoft.com/office/drawing/2014/main" id="{D5FC6E3C-5C82-FF38-D4BD-308B60B78F72}"/>
              </a:ext>
            </a:extLst>
          </p:cNvPr>
          <p:cNvSpPr txBox="1"/>
          <p:nvPr/>
        </p:nvSpPr>
        <p:spPr>
          <a:xfrm>
            <a:off x="5460750" y="2728915"/>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6071042" y="2734718"/>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10514" y="2536598"/>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5962795" y="315200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3" name="CasellaDiTesto 12">
            <a:extLst>
              <a:ext uri="{FF2B5EF4-FFF2-40B4-BE49-F238E27FC236}">
                <a16:creationId xmlns:a16="http://schemas.microsoft.com/office/drawing/2014/main" id="{ECF69955-A394-C267-B14A-7E40C5130151}"/>
              </a:ext>
            </a:extLst>
          </p:cNvPr>
          <p:cNvSpPr txBox="1"/>
          <p:nvPr/>
        </p:nvSpPr>
        <p:spPr>
          <a:xfrm>
            <a:off x="9574800" y="1843951"/>
            <a:ext cx="2617200" cy="3170099"/>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cold areas with fair bottom oxygen, low salinity, and fair surface productivity. Very high biomass. Low fishing activity, and high shipping traffic. Presence of dumping sites and wind farms.</a:t>
            </a:r>
          </a:p>
          <a:p>
            <a:pPr marL="228600" indent="-228600" algn="just">
              <a:buFont typeface="+mj-lt"/>
              <a:buAutoNum type="arabicPeriod"/>
            </a:pP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low bottom salinity, and low surface productivity. Very high biomass. Moderate fishing activity, and fair to moderate shipping traffic. Presence of wind farms and dumping sites.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moderately low bottom oxygen and moderate bottom salinity, and very low surface productivity. Very high biomass. Fair fishing activity and moderate shipping traffic. Moderate to high anthropogenic influence, with dumping sites and wind farms, and minimal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fairly cold areas with extremely low bottom oxygen and moderate surface productivity. Very high biomass, moderate salinity, high fishing activity, moderate shipping traffic, and minimal presence of wind farms.</a:t>
            </a:r>
            <a:endParaRPr lang="it-IT" sz="11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79BCF7B0-422A-A9CA-E75A-7ECBE1E9F98F}"/>
              </a:ext>
            </a:extLst>
          </p:cNvPr>
          <p:cNvSpPr txBox="1"/>
          <p:nvPr/>
        </p:nvSpPr>
        <p:spPr>
          <a:xfrm>
            <a:off x="5308215" y="4666446"/>
            <a:ext cx="3385709"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spTree>
    <p:extLst>
      <p:ext uri="{BB962C8B-B14F-4D97-AF65-F5344CB8AC3E}">
        <p14:creationId xmlns:p14="http://schemas.microsoft.com/office/powerpoint/2010/main" val="2196503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3BD079C5-40D5-77DD-77B0-6454F5DC1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7" name="CasellaDiTesto 6">
            <a:extLst>
              <a:ext uri="{FF2B5EF4-FFF2-40B4-BE49-F238E27FC236}">
                <a16:creationId xmlns:a16="http://schemas.microsoft.com/office/drawing/2014/main" id="{AC2AC8C7-85E6-2BDC-C429-2EE4A5DC7003}"/>
              </a:ext>
            </a:extLst>
          </p:cNvPr>
          <p:cNvSpPr txBox="1"/>
          <p:nvPr/>
        </p:nvSpPr>
        <p:spPr>
          <a:xfrm>
            <a:off x="9574800" y="2090172"/>
            <a:ext cx="2617200" cy="2800767"/>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to moderate surface productivity. Very high biomass of five commercial demersal species, high salinity, high fishing activity, and moderate to high shipping traffic. Strong anthropogenic influence with a dominant presence of dumping sites and military areas and minor presence of wind farms.</a:t>
            </a:r>
          </a:p>
          <a:p>
            <a:pPr marL="228600" indent="-228600" algn="just">
              <a:buAutoNum type="arabicPeriod"/>
            </a:pP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surface productivity. Very high biomass of five commercial demersal species, very high fishing activity, moderate shipping traffic, and fair to moderate salinity.</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high surface productivity. Moderate to very high biomass of five commercial demersal species, extremely high fishing activity, high shipping traffic, and moderate salinity.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1" name="CasellaDiTesto 10">
            <a:extLst>
              <a:ext uri="{FF2B5EF4-FFF2-40B4-BE49-F238E27FC236}">
                <a16:creationId xmlns:a16="http://schemas.microsoft.com/office/drawing/2014/main" id="{68BF044D-BE7B-5396-1843-2C875EAC56F7}"/>
              </a:ext>
            </a:extLst>
          </p:cNvPr>
          <p:cNvSpPr txBox="1"/>
          <p:nvPr/>
        </p:nvSpPr>
        <p:spPr>
          <a:xfrm>
            <a:off x="4848993" y="4539197"/>
            <a:ext cx="4225902" cy="133882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platessa</a:t>
            </a:r>
          </a:p>
          <a:p>
            <a:pPr algn="ctr"/>
            <a:endParaRPr lang="it-IT"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 name="CasellaDiTesto 3">
            <a:extLst>
              <a:ext uri="{FF2B5EF4-FFF2-40B4-BE49-F238E27FC236}">
                <a16:creationId xmlns:a16="http://schemas.microsoft.com/office/drawing/2014/main" id="{D5FC6E3C-5C82-FF38-D4BD-308B60B78F72}"/>
              </a:ext>
            </a:extLst>
          </p:cNvPr>
          <p:cNvSpPr txBox="1"/>
          <p:nvPr/>
        </p:nvSpPr>
        <p:spPr>
          <a:xfrm>
            <a:off x="4848993" y="312840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5924243" y="31284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44080" y="34290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259455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DBB7B2F1-07EE-479F-CA24-DD9EDD6D2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7" name="CasellaDiTesto 6">
            <a:extLst>
              <a:ext uri="{FF2B5EF4-FFF2-40B4-BE49-F238E27FC236}">
                <a16:creationId xmlns:a16="http://schemas.microsoft.com/office/drawing/2014/main" id="{FB9C796C-B593-02A0-402F-B29783ADA7D6}"/>
              </a:ext>
            </a:extLst>
          </p:cNvPr>
          <p:cNvSpPr txBox="1"/>
          <p:nvPr/>
        </p:nvSpPr>
        <p:spPr>
          <a:xfrm>
            <a:off x="9574800" y="1228398"/>
            <a:ext cx="2617200" cy="4278094"/>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FontTx/>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high surface productivity, moderately high salinity, and moderate to high bottom oxygen depletion.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shipping traffic. Minimal anthropogenic influence with limited presence of wind farms and minimal hard-bottom seafloor.</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areas with cold bottom temperatures, very high surface productivity, and severe bottom oxygen depletion.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fair to moderate salinity, intense fishing activity, and high shipping traffic. Minimal anthropogenic influence with the presence of military areas and only minimal hard-bottom seafloor.</a:t>
            </a:r>
          </a:p>
        </p:txBody>
      </p:sp>
      <p:sp>
        <p:nvSpPr>
          <p:cNvPr id="8" name="CasellaDiTesto 7">
            <a:extLst>
              <a:ext uri="{FF2B5EF4-FFF2-40B4-BE49-F238E27FC236}">
                <a16:creationId xmlns:a16="http://schemas.microsoft.com/office/drawing/2014/main" id="{02E62B29-E12E-426E-E13E-639E86F2DB5B}"/>
              </a:ext>
            </a:extLst>
          </p:cNvPr>
          <p:cNvSpPr txBox="1"/>
          <p:nvPr/>
        </p:nvSpPr>
        <p:spPr>
          <a:xfrm>
            <a:off x="5201921" y="4555030"/>
            <a:ext cx="3375102"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dirty="0">
                <a:latin typeface="MS Shell Dlg 2" panose="020B0604030504040204" pitchFamily="34" charset="0"/>
                <a:ea typeface="MS Shell Dlg 2" panose="020B0604030504040204" pitchFamily="34" charset="0"/>
                <a:cs typeface="MS Shell Dlg 2" panose="020B0604030504040204" pitchFamily="34" charset="0"/>
              </a:rPr>
              <a:t> -</a:t>
            </a:r>
          </a:p>
        </p:txBody>
      </p:sp>
      <p:sp>
        <p:nvSpPr>
          <p:cNvPr id="9" name="CasellaDiTesto 8">
            <a:extLst>
              <a:ext uri="{FF2B5EF4-FFF2-40B4-BE49-F238E27FC236}">
                <a16:creationId xmlns:a16="http://schemas.microsoft.com/office/drawing/2014/main" id="{CE88400E-970D-F4CB-FFE1-A3EE8A3C68FD}"/>
              </a:ext>
            </a:extLst>
          </p:cNvPr>
          <p:cNvSpPr txBox="1"/>
          <p:nvPr/>
        </p:nvSpPr>
        <p:spPr>
          <a:xfrm>
            <a:off x="3116907" y="296271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5093927" y="34290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5958878" y="3228945"/>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6587551" y="3388812"/>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374536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10;&#10;Descrizione generata automaticamente">
            <a:extLst>
              <a:ext uri="{FF2B5EF4-FFF2-40B4-BE49-F238E27FC236}">
                <a16:creationId xmlns:a16="http://schemas.microsoft.com/office/drawing/2014/main" id="{F9507DFE-CD8F-1F16-C86F-419562F99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5" name="CasellaDiTesto 14">
            <a:extLst>
              <a:ext uri="{FF2B5EF4-FFF2-40B4-BE49-F238E27FC236}">
                <a16:creationId xmlns:a16="http://schemas.microsoft.com/office/drawing/2014/main" id="{9410F135-8E8A-D277-EDF5-20623186786D}"/>
              </a:ext>
            </a:extLst>
          </p:cNvPr>
          <p:cNvSpPr txBox="1"/>
          <p:nvPr/>
        </p:nvSpPr>
        <p:spPr>
          <a:xfrm>
            <a:off x="4303925" y="4633711"/>
            <a:ext cx="5429784"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16" name="CasellaDiTesto 15">
            <a:extLst>
              <a:ext uri="{FF2B5EF4-FFF2-40B4-BE49-F238E27FC236}">
                <a16:creationId xmlns:a16="http://schemas.microsoft.com/office/drawing/2014/main" id="{CBD5D4D5-2C6A-1A5D-D09D-F4320726F0F1}"/>
              </a:ext>
            </a:extLst>
          </p:cNvPr>
          <p:cNvSpPr txBox="1"/>
          <p:nvPr/>
        </p:nvSpPr>
        <p:spPr>
          <a:xfrm>
            <a:off x="4405058" y="275372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7" name="CasellaDiTesto 16">
            <a:extLst>
              <a:ext uri="{FF2B5EF4-FFF2-40B4-BE49-F238E27FC236}">
                <a16:creationId xmlns:a16="http://schemas.microsoft.com/office/drawing/2014/main" id="{C32DF3A5-0213-118F-CF75-8249A8B012E5}"/>
              </a:ext>
            </a:extLst>
          </p:cNvPr>
          <p:cNvSpPr txBox="1"/>
          <p:nvPr/>
        </p:nvSpPr>
        <p:spPr>
          <a:xfrm>
            <a:off x="5126142" y="2686637"/>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8" name="CasellaDiTesto 17">
            <a:extLst>
              <a:ext uri="{FF2B5EF4-FFF2-40B4-BE49-F238E27FC236}">
                <a16:creationId xmlns:a16="http://schemas.microsoft.com/office/drawing/2014/main" id="{24910F9C-CEB2-8D27-B566-AB4976ABBBCD}"/>
              </a:ext>
            </a:extLst>
          </p:cNvPr>
          <p:cNvSpPr txBox="1"/>
          <p:nvPr/>
        </p:nvSpPr>
        <p:spPr>
          <a:xfrm>
            <a:off x="6981831" y="3297633"/>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6</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5782459" y="3003706"/>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6691275" y="261522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1" name="CasellaDiTesto 20">
            <a:extLst>
              <a:ext uri="{FF2B5EF4-FFF2-40B4-BE49-F238E27FC236}">
                <a16:creationId xmlns:a16="http://schemas.microsoft.com/office/drawing/2014/main" id="{EF14A826-C238-0924-B4F2-1EA9251B60BA}"/>
              </a:ext>
            </a:extLst>
          </p:cNvPr>
          <p:cNvSpPr txBox="1"/>
          <p:nvPr/>
        </p:nvSpPr>
        <p:spPr>
          <a:xfrm>
            <a:off x="7619949" y="2439404"/>
            <a:ext cx="565119"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5</a:t>
            </a:r>
          </a:p>
        </p:txBody>
      </p:sp>
      <p:sp>
        <p:nvSpPr>
          <p:cNvPr id="2" name="CasellaDiTesto 1">
            <a:extLst>
              <a:ext uri="{FF2B5EF4-FFF2-40B4-BE49-F238E27FC236}">
                <a16:creationId xmlns:a16="http://schemas.microsoft.com/office/drawing/2014/main" id="{5168E45C-755C-ED0E-7276-DF0F9E8FB68C}"/>
              </a:ext>
            </a:extLst>
          </p:cNvPr>
          <p:cNvSpPr txBox="1"/>
          <p:nvPr/>
        </p:nvSpPr>
        <p:spPr>
          <a:xfrm>
            <a:off x="9574800" y="1105287"/>
            <a:ext cx="2617200" cy="4647426"/>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to moderately deep, moderately cold areas. Fair to moderate surface productivity, high bottom oxygen, and low salinity. Very high biomass. Moderate fishing activity and fair shipping traffic. Strong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to deep, cold areas. Low to fair surface productivity, moderate bottom oxygen depletion, and low salinity. Very high biomass. Moderate fishing activity and fair shipping traffic. Strong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Fairly deep, moderately cold areas. Moderate to high surface productivity, high bottom oxygen, and low salinity. High biomass. Intense fishing activity and moderate to high shipping traffic. Presence of military areas and wind farms.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and very cold areas. Very high biomass. Very low surface productivity, extremely low bottom oxygen, and moderate salinity. Low fishing activity and moderate to high shipping traffic. Presence of dumping sites.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waters, moderately cold. Moderate biomass. High surface productivity, high bottom oxygen, and low salinity. Low fishing activity and intense shipping traffic.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Fair to moderate biomass. Moderate to high surface productivity, extremely low bottom oxygen, and moderate salinity. Intense fishing activity and moderate to high shipping traffic.</a:t>
            </a:r>
          </a:p>
        </p:txBody>
      </p:sp>
    </p:spTree>
    <p:extLst>
      <p:ext uri="{BB962C8B-B14F-4D97-AF65-F5344CB8AC3E}">
        <p14:creationId xmlns:p14="http://schemas.microsoft.com/office/powerpoint/2010/main" val="302937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descr="Immagine che contiene mappa, testo, diagramma, atlante&#10;&#10;Descrizione generata automaticamente">
            <a:extLst>
              <a:ext uri="{FF2B5EF4-FFF2-40B4-BE49-F238E27FC236}">
                <a16:creationId xmlns:a16="http://schemas.microsoft.com/office/drawing/2014/main" id="{815862A8-0EC0-3593-8C1C-378AFB1F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4" name="CasellaDiTesto 3">
            <a:extLst>
              <a:ext uri="{FF2B5EF4-FFF2-40B4-BE49-F238E27FC236}">
                <a16:creationId xmlns:a16="http://schemas.microsoft.com/office/drawing/2014/main" id="{F225F658-5F13-3124-D001-CF7A98C6F58F}"/>
              </a:ext>
            </a:extLst>
          </p:cNvPr>
          <p:cNvSpPr txBox="1"/>
          <p:nvPr/>
        </p:nvSpPr>
        <p:spPr>
          <a:xfrm>
            <a:off x="4153902" y="299398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11A3D605-F61B-4B31-C66A-3E928A34B391}"/>
              </a:ext>
            </a:extLst>
          </p:cNvPr>
          <p:cNvSpPr txBox="1"/>
          <p:nvPr/>
        </p:nvSpPr>
        <p:spPr>
          <a:xfrm>
            <a:off x="5987181" y="313247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6" name="CasellaDiTesto 5">
            <a:extLst>
              <a:ext uri="{FF2B5EF4-FFF2-40B4-BE49-F238E27FC236}">
                <a16:creationId xmlns:a16="http://schemas.microsoft.com/office/drawing/2014/main" id="{A4E9D876-8BD4-1AD3-64B5-8725D22C3A6A}"/>
              </a:ext>
            </a:extLst>
          </p:cNvPr>
          <p:cNvSpPr txBox="1"/>
          <p:nvPr/>
        </p:nvSpPr>
        <p:spPr>
          <a:xfrm>
            <a:off x="4905301" y="319477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7" name="CasellaDiTesto 6">
            <a:extLst>
              <a:ext uri="{FF2B5EF4-FFF2-40B4-BE49-F238E27FC236}">
                <a16:creationId xmlns:a16="http://schemas.microsoft.com/office/drawing/2014/main" id="{CF9C4FEB-2D14-2E2A-F783-D22285879739}"/>
              </a:ext>
            </a:extLst>
          </p:cNvPr>
          <p:cNvSpPr txBox="1"/>
          <p:nvPr/>
        </p:nvSpPr>
        <p:spPr>
          <a:xfrm>
            <a:off x="6593302" y="32905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9" name="CasellaDiTesto 8">
            <a:extLst>
              <a:ext uri="{FF2B5EF4-FFF2-40B4-BE49-F238E27FC236}">
                <a16:creationId xmlns:a16="http://schemas.microsoft.com/office/drawing/2014/main" id="{0A1FDFF8-6493-B097-3DF9-6E7C326995F0}"/>
              </a:ext>
            </a:extLst>
          </p:cNvPr>
          <p:cNvSpPr txBox="1"/>
          <p:nvPr/>
        </p:nvSpPr>
        <p:spPr>
          <a:xfrm>
            <a:off x="4228736" y="4641095"/>
            <a:ext cx="5429784" cy="107721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sp>
        <p:nvSpPr>
          <p:cNvPr id="2" name="CasellaDiTesto 1">
            <a:extLst>
              <a:ext uri="{FF2B5EF4-FFF2-40B4-BE49-F238E27FC236}">
                <a16:creationId xmlns:a16="http://schemas.microsoft.com/office/drawing/2014/main" id="{46114D47-C002-B767-6AB5-F7973CE9114F}"/>
              </a:ext>
            </a:extLst>
          </p:cNvPr>
          <p:cNvSpPr txBox="1"/>
          <p:nvPr/>
        </p:nvSpPr>
        <p:spPr>
          <a:xfrm>
            <a:off x="9574800" y="1105287"/>
            <a:ext cx="2617200" cy="3416320"/>
          </a:xfrm>
          <a:prstGeom prst="rect">
            <a:avLst/>
          </a:prstGeom>
          <a:noFill/>
        </p:spPr>
        <p:txBody>
          <a:bodyPr wrap="square" rtlCol="0">
            <a:spAutoFit/>
          </a:bodyPr>
          <a:lstStyle/>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waters, moderately cold. Very high biomass. Moderate surface productivity, moderate depletion of bottom oxygen, and moderate to high bottom salinity. Intense fishing activity and fair shipping traffic.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Moderate surface productivity, very low bottom oxygen, and high salinity. Intense fishing activity and moderate shipping traffic. Strong presence of dumping sites and military areas. Minimal presence of wind farms.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 to deep, cold areas. Very high biomass. High surface productivity, moderate depletion of bottom oxygen, and moderate to high salinity. Intense fishing activity and moderate shipping traffic. Presence of wind farms. Partial presence of hard bottom.</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High surface productivity, extremely low bottom oxygen, and moderate salinity. Intense fishing activity, moderate to high shipping traffic. Presence of military areas.</a:t>
            </a:r>
          </a:p>
        </p:txBody>
      </p:sp>
    </p:spTree>
    <p:extLst>
      <p:ext uri="{BB962C8B-B14F-4D97-AF65-F5344CB8AC3E}">
        <p14:creationId xmlns:p14="http://schemas.microsoft.com/office/powerpoint/2010/main" val="174012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magine 9" descr="Immagine che contiene mappa, testo, diagramma, atlante&#10;&#10;Descrizione generata automaticamente">
            <a:extLst>
              <a:ext uri="{FF2B5EF4-FFF2-40B4-BE49-F238E27FC236}">
                <a16:creationId xmlns:a16="http://schemas.microsoft.com/office/drawing/2014/main" id="{2B3868DB-A5DF-7180-8867-9F26E07ED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3" name="CasellaDiTesto 12">
            <a:extLst>
              <a:ext uri="{FF2B5EF4-FFF2-40B4-BE49-F238E27FC236}">
                <a16:creationId xmlns:a16="http://schemas.microsoft.com/office/drawing/2014/main" id="{F3D42F10-5F0D-945E-6C45-7644625071ED}"/>
              </a:ext>
            </a:extLst>
          </p:cNvPr>
          <p:cNvSpPr txBox="1"/>
          <p:nvPr/>
        </p:nvSpPr>
        <p:spPr>
          <a:xfrm>
            <a:off x="4346119" y="4515018"/>
            <a:ext cx="5429784"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14" name="CasellaDiTesto 13">
            <a:extLst>
              <a:ext uri="{FF2B5EF4-FFF2-40B4-BE49-F238E27FC236}">
                <a16:creationId xmlns:a16="http://schemas.microsoft.com/office/drawing/2014/main" id="{B79B0DBD-B498-2B6A-79CF-825F837DF36D}"/>
              </a:ext>
            </a:extLst>
          </p:cNvPr>
          <p:cNvSpPr txBox="1"/>
          <p:nvPr/>
        </p:nvSpPr>
        <p:spPr>
          <a:xfrm>
            <a:off x="6602462" y="32905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5" name="CasellaDiTesto 14">
            <a:extLst>
              <a:ext uri="{FF2B5EF4-FFF2-40B4-BE49-F238E27FC236}">
                <a16:creationId xmlns:a16="http://schemas.microsoft.com/office/drawing/2014/main" id="{6DB7BE91-2A84-20D3-71BA-9ACBC75B63D8}"/>
              </a:ext>
            </a:extLst>
          </p:cNvPr>
          <p:cNvSpPr txBox="1"/>
          <p:nvPr/>
        </p:nvSpPr>
        <p:spPr>
          <a:xfrm>
            <a:off x="4885727" y="3179907"/>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E159CBBD-1511-9156-857E-D44D5C4C68E9}"/>
              </a:ext>
            </a:extLst>
          </p:cNvPr>
          <p:cNvSpPr txBox="1"/>
          <p:nvPr/>
        </p:nvSpPr>
        <p:spPr>
          <a:xfrm>
            <a:off x="6954501" y="3510669"/>
            <a:ext cx="290555"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7" name="CasellaDiTesto 16">
            <a:extLst>
              <a:ext uri="{FF2B5EF4-FFF2-40B4-BE49-F238E27FC236}">
                <a16:creationId xmlns:a16="http://schemas.microsoft.com/office/drawing/2014/main" id="{462DF6AE-9DCE-5A73-EEA6-C313E26599EF}"/>
              </a:ext>
            </a:extLst>
          </p:cNvPr>
          <p:cNvSpPr txBox="1"/>
          <p:nvPr/>
        </p:nvSpPr>
        <p:spPr>
          <a:xfrm>
            <a:off x="5996482" y="308524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8" name="CasellaDiTesto 7">
            <a:extLst>
              <a:ext uri="{FF2B5EF4-FFF2-40B4-BE49-F238E27FC236}">
                <a16:creationId xmlns:a16="http://schemas.microsoft.com/office/drawing/2014/main" id="{38FAC7E6-F0F8-6404-D2FE-899393123270}"/>
              </a:ext>
            </a:extLst>
          </p:cNvPr>
          <p:cNvSpPr txBox="1"/>
          <p:nvPr/>
        </p:nvSpPr>
        <p:spPr>
          <a:xfrm>
            <a:off x="9574800" y="1782396"/>
            <a:ext cx="2617200" cy="3293209"/>
          </a:xfrm>
          <a:prstGeom prst="rect">
            <a:avLst/>
          </a:prstGeom>
          <a:noFill/>
        </p:spPr>
        <p:txBody>
          <a:bodyPr wrap="square" rtlCol="0">
            <a:spAutoFit/>
          </a:bodyPr>
          <a:lstStyle/>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surface productivity, very low bottom oxygen, and high salinity. Intense fishing activity and moderate shipping traffic. Strong presence of dumping sites and military areas. Minimal presence of wind farms.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 to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surface productivity, moderate depletion of bottom oxygen, and moderate to high salinity. Intense fishing activity and moderate shipping traffic. Presence of wind farms. Partial presence of hard bottom.</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surface productivity, extremely low bottom oxygen, and moderate salinity. Intense fishing activity, moderate to high shipping traffic.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and fair shipping traffic. Strong anthropogenic influence with a marked presence of military areas.</a:t>
            </a:r>
          </a:p>
        </p:txBody>
      </p:sp>
    </p:spTree>
    <p:extLst>
      <p:ext uri="{BB962C8B-B14F-4D97-AF65-F5344CB8AC3E}">
        <p14:creationId xmlns:p14="http://schemas.microsoft.com/office/powerpoint/2010/main" val="232615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F1BB58B4-93C9-2B43-1164-1A1F60A69D0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4" name="CasellaDiTesto 23">
            <a:extLst>
              <a:ext uri="{FF2B5EF4-FFF2-40B4-BE49-F238E27FC236}">
                <a16:creationId xmlns:a16="http://schemas.microsoft.com/office/drawing/2014/main" id="{537B4000-833C-881D-D056-9838032AF2A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6" name="CasellaDiTesto 25">
            <a:extLst>
              <a:ext uri="{FF2B5EF4-FFF2-40B4-BE49-F238E27FC236}">
                <a16:creationId xmlns:a16="http://schemas.microsoft.com/office/drawing/2014/main" id="{767BBCCC-A608-8A29-E54A-F27B3C50030F}"/>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307994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F1BB58B4-93C9-2B43-1164-1A1F60A69D05}"/>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940582" y="31896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865799" y="350193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4" name="CasellaDiTesto 3">
            <a:extLst>
              <a:ext uri="{FF2B5EF4-FFF2-40B4-BE49-F238E27FC236}">
                <a16:creationId xmlns:a16="http://schemas.microsoft.com/office/drawing/2014/main" id="{1662114B-4EA8-36E8-83FE-90838B56A431}"/>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4CE4B6B9-3B02-798C-CDA5-E2ED0753F032}"/>
              </a:ext>
            </a:extLst>
          </p:cNvPr>
          <p:cNvSpPr txBox="1"/>
          <p:nvPr/>
        </p:nvSpPr>
        <p:spPr>
          <a:xfrm>
            <a:off x="9576646" y="1659285"/>
            <a:ext cx="2615354" cy="3539430"/>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Tree>
    <p:extLst>
      <p:ext uri="{BB962C8B-B14F-4D97-AF65-F5344CB8AC3E}">
        <p14:creationId xmlns:p14="http://schemas.microsoft.com/office/powerpoint/2010/main" val="342590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B5B3E04E-E33D-0304-974A-9728031744C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4" name="CasellaDiTesto 23">
            <a:extLst>
              <a:ext uri="{FF2B5EF4-FFF2-40B4-BE49-F238E27FC236}">
                <a16:creationId xmlns:a16="http://schemas.microsoft.com/office/drawing/2014/main" id="{10B4AF2B-37D6-9273-11E5-FBE60E82C0CC}"/>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5" name="CasellaDiTesto 24">
            <a:extLst>
              <a:ext uri="{FF2B5EF4-FFF2-40B4-BE49-F238E27FC236}">
                <a16:creationId xmlns:a16="http://schemas.microsoft.com/office/drawing/2014/main" id="{7F591FF8-552C-658C-9380-44BAC26133F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6" name="CasellaDiTesto 25">
            <a:extLst>
              <a:ext uri="{FF2B5EF4-FFF2-40B4-BE49-F238E27FC236}">
                <a16:creationId xmlns:a16="http://schemas.microsoft.com/office/drawing/2014/main" id="{56C1464F-3787-AE67-C0E6-909AB56FDE32}"/>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7" name="CasellaDiTesto 26">
            <a:extLst>
              <a:ext uri="{FF2B5EF4-FFF2-40B4-BE49-F238E27FC236}">
                <a16:creationId xmlns:a16="http://schemas.microsoft.com/office/drawing/2014/main" id="{686ABE71-85FE-A3CF-8168-8DCE84F920F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8" name="CasellaDiTesto 27">
            <a:extLst>
              <a:ext uri="{FF2B5EF4-FFF2-40B4-BE49-F238E27FC236}">
                <a16:creationId xmlns:a16="http://schemas.microsoft.com/office/drawing/2014/main" id="{85CB7770-60CA-775E-7829-3C58F4F3244F}"/>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9" name="CasellaDiTesto 28">
            <a:extLst>
              <a:ext uri="{FF2B5EF4-FFF2-40B4-BE49-F238E27FC236}">
                <a16:creationId xmlns:a16="http://schemas.microsoft.com/office/drawing/2014/main" id="{32D210F1-A830-31B9-38C2-F2C85294A110}"/>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0" name="CasellaDiTesto 29">
            <a:extLst>
              <a:ext uri="{FF2B5EF4-FFF2-40B4-BE49-F238E27FC236}">
                <a16:creationId xmlns:a16="http://schemas.microsoft.com/office/drawing/2014/main" id="{F3DB69C9-8341-1E94-29E5-48CE74B655A5}"/>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31" name="CasellaDiTesto 30">
            <a:extLst>
              <a:ext uri="{FF2B5EF4-FFF2-40B4-BE49-F238E27FC236}">
                <a16:creationId xmlns:a16="http://schemas.microsoft.com/office/drawing/2014/main" id="{9455D5EC-FF1C-0CC9-2AEF-B052185B1AD7}"/>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32" name="CasellaDiTesto 31">
            <a:extLst>
              <a:ext uri="{FF2B5EF4-FFF2-40B4-BE49-F238E27FC236}">
                <a16:creationId xmlns:a16="http://schemas.microsoft.com/office/drawing/2014/main" id="{9F26544F-750C-B06F-F136-F27FDB8B6719}"/>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3" name="CasellaDiTesto 32">
            <a:extLst>
              <a:ext uri="{FF2B5EF4-FFF2-40B4-BE49-F238E27FC236}">
                <a16:creationId xmlns:a16="http://schemas.microsoft.com/office/drawing/2014/main" id="{4C5A5069-E28A-0517-8F55-6247E4B4B04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4" name="CasellaDiTesto 33">
            <a:extLst>
              <a:ext uri="{FF2B5EF4-FFF2-40B4-BE49-F238E27FC236}">
                <a16:creationId xmlns:a16="http://schemas.microsoft.com/office/drawing/2014/main" id="{4F3DD77C-69B2-6E14-872C-10CC1C7BD292}"/>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5" name="CasellaDiTesto 34">
            <a:extLst>
              <a:ext uri="{FF2B5EF4-FFF2-40B4-BE49-F238E27FC236}">
                <a16:creationId xmlns:a16="http://schemas.microsoft.com/office/drawing/2014/main" id="{83900ACD-611D-8C7E-E9C6-D6411E299E99}"/>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6" name="CasellaDiTesto 35">
            <a:extLst>
              <a:ext uri="{FF2B5EF4-FFF2-40B4-BE49-F238E27FC236}">
                <a16:creationId xmlns:a16="http://schemas.microsoft.com/office/drawing/2014/main" id="{126974FA-FB54-1437-5557-18F46DFCD51A}"/>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7" name="CasellaDiTesto 36">
            <a:extLst>
              <a:ext uri="{FF2B5EF4-FFF2-40B4-BE49-F238E27FC236}">
                <a16:creationId xmlns:a16="http://schemas.microsoft.com/office/drawing/2014/main" id="{18712E2B-56FF-0A90-D858-C654AF39DF7D}"/>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8" name="CasellaDiTesto 37">
            <a:extLst>
              <a:ext uri="{FF2B5EF4-FFF2-40B4-BE49-F238E27FC236}">
                <a16:creationId xmlns:a16="http://schemas.microsoft.com/office/drawing/2014/main" id="{15594AA2-D1F4-5181-481B-0F8603F987F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44" name="CasellaDiTesto 43">
            <a:extLst>
              <a:ext uri="{FF2B5EF4-FFF2-40B4-BE49-F238E27FC236}">
                <a16:creationId xmlns:a16="http://schemas.microsoft.com/office/drawing/2014/main" id="{A583B5CE-4F70-3B8D-C41A-A279CBF82547}"/>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(E) Deep, cold areas with very low bottom oxygen, moderate to high salinity, and low surface productivity. Overall biomass is very high, while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algn="just"/>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396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3" name="CasellaDiTesto 2">
            <a:extLst>
              <a:ext uri="{FF2B5EF4-FFF2-40B4-BE49-F238E27FC236}">
                <a16:creationId xmlns:a16="http://schemas.microsoft.com/office/drawing/2014/main" id="{722B5D7A-ED4E-4646-3B4E-C763F9D2A40E}"/>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21" name="CasellaDiTesto 20">
            <a:extLst>
              <a:ext uri="{FF2B5EF4-FFF2-40B4-BE49-F238E27FC236}">
                <a16:creationId xmlns:a16="http://schemas.microsoft.com/office/drawing/2014/main" id="{2382C877-EE9C-9D65-69F9-E3D984BBB2CF}"/>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2" name="CasellaDiTesto 21">
            <a:extLst>
              <a:ext uri="{FF2B5EF4-FFF2-40B4-BE49-F238E27FC236}">
                <a16:creationId xmlns:a16="http://schemas.microsoft.com/office/drawing/2014/main" id="{E82FC46F-E754-2D4F-D818-111DD7C87357}"/>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23" name="CasellaDiTesto 22">
            <a:extLst>
              <a:ext uri="{FF2B5EF4-FFF2-40B4-BE49-F238E27FC236}">
                <a16:creationId xmlns:a16="http://schemas.microsoft.com/office/drawing/2014/main" id="{28FCF8AD-6F76-D7B6-62EE-EC3CE21726EB}"/>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24" name="CasellaDiTesto 23">
            <a:extLst>
              <a:ext uri="{FF2B5EF4-FFF2-40B4-BE49-F238E27FC236}">
                <a16:creationId xmlns:a16="http://schemas.microsoft.com/office/drawing/2014/main" id="{5886D7C0-D318-8F17-4FE2-FFE83DFB8BFE}"/>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25" name="CasellaDiTesto 24">
            <a:extLst>
              <a:ext uri="{FF2B5EF4-FFF2-40B4-BE49-F238E27FC236}">
                <a16:creationId xmlns:a16="http://schemas.microsoft.com/office/drawing/2014/main" id="{7F2F9604-D3D7-C84C-08E7-CB1DF77CF8B1}"/>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26" name="CasellaDiTesto 25">
            <a:extLst>
              <a:ext uri="{FF2B5EF4-FFF2-40B4-BE49-F238E27FC236}">
                <a16:creationId xmlns:a16="http://schemas.microsoft.com/office/drawing/2014/main" id="{DE539155-75B1-0EE4-ACB2-60246640F2BF}"/>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27" name="CasellaDiTesto 26">
            <a:extLst>
              <a:ext uri="{FF2B5EF4-FFF2-40B4-BE49-F238E27FC236}">
                <a16:creationId xmlns:a16="http://schemas.microsoft.com/office/drawing/2014/main" id="{74CD89AA-483A-A198-A423-BF43A7583C51}"/>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28" name="CasellaDiTesto 27">
            <a:extLst>
              <a:ext uri="{FF2B5EF4-FFF2-40B4-BE49-F238E27FC236}">
                <a16:creationId xmlns:a16="http://schemas.microsoft.com/office/drawing/2014/main" id="{C65BEE67-D9B8-333B-238C-D2970E0E6D97}"/>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29" name="CasellaDiTesto 28">
            <a:extLst>
              <a:ext uri="{FF2B5EF4-FFF2-40B4-BE49-F238E27FC236}">
                <a16:creationId xmlns:a16="http://schemas.microsoft.com/office/drawing/2014/main" id="{9389596E-C981-4F59-E7E2-DDADB4E12C3B}"/>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30" name="CasellaDiTesto 29">
            <a:extLst>
              <a:ext uri="{FF2B5EF4-FFF2-40B4-BE49-F238E27FC236}">
                <a16:creationId xmlns:a16="http://schemas.microsoft.com/office/drawing/2014/main" id="{2AFEA6A3-7E80-78EE-7747-A7315746122B}"/>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31" name="CasellaDiTesto 30">
            <a:extLst>
              <a:ext uri="{FF2B5EF4-FFF2-40B4-BE49-F238E27FC236}">
                <a16:creationId xmlns:a16="http://schemas.microsoft.com/office/drawing/2014/main" id="{A82DEB9E-C2F6-7D33-FA0D-20950D887929}"/>
              </a:ext>
            </a:extLst>
          </p:cNvPr>
          <p:cNvSpPr txBox="1"/>
          <p:nvPr/>
        </p:nvSpPr>
        <p:spPr>
          <a:xfrm>
            <a:off x="4685310" y="3180004"/>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32" name="CasellaDiTesto 31">
            <a:extLst>
              <a:ext uri="{FF2B5EF4-FFF2-40B4-BE49-F238E27FC236}">
                <a16:creationId xmlns:a16="http://schemas.microsoft.com/office/drawing/2014/main" id="{20CA1AD1-3A37-D1E5-4BDC-C08F27D048E7}"/>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33" name="CasellaDiTesto 32">
            <a:extLst>
              <a:ext uri="{FF2B5EF4-FFF2-40B4-BE49-F238E27FC236}">
                <a16:creationId xmlns:a16="http://schemas.microsoft.com/office/drawing/2014/main" id="{C0D4B211-7202-850A-D6D0-6800F3503C7D}"/>
              </a:ext>
            </a:extLst>
          </p:cNvPr>
          <p:cNvSpPr txBox="1"/>
          <p:nvPr/>
        </p:nvSpPr>
        <p:spPr>
          <a:xfrm>
            <a:off x="6530806" y="26132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34" name="CasellaDiTesto 33">
            <a:extLst>
              <a:ext uri="{FF2B5EF4-FFF2-40B4-BE49-F238E27FC236}">
                <a16:creationId xmlns:a16="http://schemas.microsoft.com/office/drawing/2014/main" id="{97FC4C67-505F-6F0D-24B7-C14655983AEC}"/>
              </a:ext>
            </a:extLst>
          </p:cNvPr>
          <p:cNvSpPr txBox="1"/>
          <p:nvPr/>
        </p:nvSpPr>
        <p:spPr>
          <a:xfrm>
            <a:off x="6396923" y="328155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35" name="CasellaDiTesto 34">
            <a:extLst>
              <a:ext uri="{FF2B5EF4-FFF2-40B4-BE49-F238E27FC236}">
                <a16:creationId xmlns:a16="http://schemas.microsoft.com/office/drawing/2014/main" id="{40C959F5-49B9-9D7D-87B6-DEE1C9C22885}"/>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41" name="CasellaDiTesto 40">
            <a:extLst>
              <a:ext uri="{FF2B5EF4-FFF2-40B4-BE49-F238E27FC236}">
                <a16:creationId xmlns:a16="http://schemas.microsoft.com/office/drawing/2014/main" id="{0E3E77AC-56DF-A69B-5720-562B61FDF488}"/>
              </a:ext>
            </a:extLst>
          </p:cNvPr>
          <p:cNvSpPr txBox="1"/>
          <p:nvPr/>
        </p:nvSpPr>
        <p:spPr>
          <a:xfrm>
            <a:off x="9576646" y="735955"/>
            <a:ext cx="2615354" cy="5386090"/>
          </a:xfrm>
          <a:prstGeom prst="rect">
            <a:avLst/>
          </a:prstGeom>
          <a:noFill/>
        </p:spPr>
        <p:txBody>
          <a:bodyPr wrap="square" rtlCol="0">
            <a:spAutoFit/>
          </a:bodyPr>
          <a:lstStyle/>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(B)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(F)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latin typeface="MS Shell Dlg 2" panose="020B0604030504040204" pitchFamily="34" charset="0"/>
                <a:ea typeface="MS Shell Dlg 2" panose="020B0604030504040204" pitchFamily="34" charset="0"/>
                <a:cs typeface="MS Shell Dlg 2" panose="020B0604030504040204" pitchFamily="34" charset="0"/>
              </a:rPr>
              <a:t>(G)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r>
              <a:rPr lang="en-US" sz="800" dirty="0">
                <a:highlight>
                  <a:srgbClr val="FFFF00"/>
                </a:highlight>
                <a:latin typeface="MS Shell Dlg 2" panose="020B0604030504040204" pitchFamily="34" charset="0"/>
                <a:ea typeface="MS Shell Dlg 2" panose="020B0604030504040204" pitchFamily="34" charset="0"/>
                <a:cs typeface="MS Shell Dlg 2" panose="020B0604030504040204" pitchFamily="34" charset="0"/>
              </a:rPr>
              <a:t>(H?) </a:t>
            </a: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403642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49" name="CasellaDiTesto 48">
            <a:extLst>
              <a:ext uri="{FF2B5EF4-FFF2-40B4-BE49-F238E27FC236}">
                <a16:creationId xmlns:a16="http://schemas.microsoft.com/office/drawing/2014/main" id="{9A80C8DE-3DC2-7B16-8B67-5FC7C1FB0244}"/>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50" name="CasellaDiTesto 49">
            <a:extLst>
              <a:ext uri="{FF2B5EF4-FFF2-40B4-BE49-F238E27FC236}">
                <a16:creationId xmlns:a16="http://schemas.microsoft.com/office/drawing/2014/main" id="{C5850BD0-123E-3DC6-2319-67B2FE4812DC}"/>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51" name="CasellaDiTesto 50">
            <a:extLst>
              <a:ext uri="{FF2B5EF4-FFF2-40B4-BE49-F238E27FC236}">
                <a16:creationId xmlns:a16="http://schemas.microsoft.com/office/drawing/2014/main" id="{1DE6F16C-F261-9890-6780-9F15C985C0FF}"/>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52" name="CasellaDiTesto 51">
            <a:extLst>
              <a:ext uri="{FF2B5EF4-FFF2-40B4-BE49-F238E27FC236}">
                <a16:creationId xmlns:a16="http://schemas.microsoft.com/office/drawing/2014/main" id="{2B66E463-63F0-6907-F5F8-F939717F5F86}"/>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53" name="CasellaDiTesto 52">
            <a:extLst>
              <a:ext uri="{FF2B5EF4-FFF2-40B4-BE49-F238E27FC236}">
                <a16:creationId xmlns:a16="http://schemas.microsoft.com/office/drawing/2014/main" id="{8FCDA73F-5DEE-B76F-E673-798551B69BA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4" name="CasellaDiTesto 53">
            <a:extLst>
              <a:ext uri="{FF2B5EF4-FFF2-40B4-BE49-F238E27FC236}">
                <a16:creationId xmlns:a16="http://schemas.microsoft.com/office/drawing/2014/main" id="{D9796734-BF56-1591-030B-2BBC0B923471}"/>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5" name="CasellaDiTesto 54">
            <a:extLst>
              <a:ext uri="{FF2B5EF4-FFF2-40B4-BE49-F238E27FC236}">
                <a16:creationId xmlns:a16="http://schemas.microsoft.com/office/drawing/2014/main" id="{F77B95CD-9ADE-5E1C-69B0-706D268B6C02}"/>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6" name="CasellaDiTesto 55">
            <a:extLst>
              <a:ext uri="{FF2B5EF4-FFF2-40B4-BE49-F238E27FC236}">
                <a16:creationId xmlns:a16="http://schemas.microsoft.com/office/drawing/2014/main" id="{7244730E-2FA6-BA99-1218-BC57EA5CE180}"/>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7" name="CasellaDiTesto 56">
            <a:extLst>
              <a:ext uri="{FF2B5EF4-FFF2-40B4-BE49-F238E27FC236}">
                <a16:creationId xmlns:a16="http://schemas.microsoft.com/office/drawing/2014/main" id="{B0F2780D-6B81-9330-2B16-A7BF29255670}"/>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8" name="CasellaDiTesto 57">
            <a:extLst>
              <a:ext uri="{FF2B5EF4-FFF2-40B4-BE49-F238E27FC236}">
                <a16:creationId xmlns:a16="http://schemas.microsoft.com/office/drawing/2014/main" id="{09FA1F4D-2BDB-C783-1BF2-B82C87487436}"/>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9" name="CasellaDiTesto 58">
            <a:extLst>
              <a:ext uri="{FF2B5EF4-FFF2-40B4-BE49-F238E27FC236}">
                <a16:creationId xmlns:a16="http://schemas.microsoft.com/office/drawing/2014/main" id="{ACFE1447-5856-5A08-1335-44B93D6FEDE6}"/>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60" name="CasellaDiTesto 59">
            <a:extLst>
              <a:ext uri="{FF2B5EF4-FFF2-40B4-BE49-F238E27FC236}">
                <a16:creationId xmlns:a16="http://schemas.microsoft.com/office/drawing/2014/main" id="{C7E31BAA-04A0-AEA0-FD31-C614B6AB91B7}"/>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61" name="CasellaDiTesto 60">
            <a:extLst>
              <a:ext uri="{FF2B5EF4-FFF2-40B4-BE49-F238E27FC236}">
                <a16:creationId xmlns:a16="http://schemas.microsoft.com/office/drawing/2014/main" id="{E2D209F1-C575-3A2F-E73A-549D618F62E2}"/>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62" name="CasellaDiTesto 61">
            <a:extLst>
              <a:ext uri="{FF2B5EF4-FFF2-40B4-BE49-F238E27FC236}">
                <a16:creationId xmlns:a16="http://schemas.microsoft.com/office/drawing/2014/main" id="{2D6D7815-E5CD-B700-B725-214475D073DE}"/>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63" name="CasellaDiTesto 62">
            <a:extLst>
              <a:ext uri="{FF2B5EF4-FFF2-40B4-BE49-F238E27FC236}">
                <a16:creationId xmlns:a16="http://schemas.microsoft.com/office/drawing/2014/main" id="{B12A3CE1-4040-04DF-DB89-3902EE063358}"/>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4" name="CasellaDiTesto 63">
            <a:extLst>
              <a:ext uri="{FF2B5EF4-FFF2-40B4-BE49-F238E27FC236}">
                <a16:creationId xmlns:a16="http://schemas.microsoft.com/office/drawing/2014/main" id="{0C8D2EA4-425F-DDEB-08DB-9D72F18A6E3F}"/>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D13B14F1-2705-868F-B6B1-8C2D495D463B}"/>
              </a:ext>
            </a:extLst>
          </p:cNvPr>
          <p:cNvSpPr txBox="1"/>
          <p:nvPr/>
        </p:nvSpPr>
        <p:spPr>
          <a:xfrm>
            <a:off x="9576646" y="181958"/>
            <a:ext cx="2615354" cy="6494085"/>
          </a:xfrm>
          <a:prstGeom prst="rect">
            <a:avLst/>
          </a:prstGeom>
          <a:noFill/>
        </p:spPr>
        <p:txBody>
          <a:bodyPr wrap="square" rtlCol="0">
            <a:spAutoFit/>
          </a:bodyPr>
          <a:lstStyle/>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(P)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very cold areas with extremely low bottom oxygen, low bottom salinity, and quite low surface productivity. Overall biomass is high, biomass of the five commercially important species is moderate,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(N)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250655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EE17EF64-1688-0906-72D4-28322C2FFDFF}"/>
              </a:ext>
            </a:extLst>
          </p:cNvPr>
          <p:cNvSpPr txBox="1"/>
          <p:nvPr/>
        </p:nvSpPr>
        <p:spPr>
          <a:xfrm>
            <a:off x="9563000" y="211423"/>
            <a:ext cx="2615354" cy="3785652"/>
          </a:xfrm>
          <a:prstGeom prst="rect">
            <a:avLst/>
          </a:prstGeom>
          <a:noFill/>
        </p:spPr>
        <p:txBody>
          <a:bodyPr wrap="square" rtlCol="0">
            <a:spAutoFit/>
          </a:bodyPr>
          <a:lstStyle/>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(Q)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dirty="0">
                <a:latin typeface="MS Shell Dlg 2" panose="020B0604030504040204" pitchFamily="34" charset="0"/>
                <a:ea typeface="MS Shell Dlg 2" panose="020B0604030504040204" pitchFamily="34" charset="0"/>
                <a:cs typeface="MS Shell Dlg 2" panose="020B0604030504040204" pitchFamily="34" charset="0"/>
              </a:rPr>
              <a:t>(R)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(+S)</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p>
        </p:txBody>
      </p:sp>
      <p:sp>
        <p:nvSpPr>
          <p:cNvPr id="4" name="CasellaDiTesto 3">
            <a:extLst>
              <a:ext uri="{FF2B5EF4-FFF2-40B4-BE49-F238E27FC236}">
                <a16:creationId xmlns:a16="http://schemas.microsoft.com/office/drawing/2014/main" id="{A1C67736-9871-EA19-55A5-F961B52F6EE0}"/>
              </a:ext>
            </a:extLst>
          </p:cNvPr>
          <p:cNvSpPr txBox="1"/>
          <p:nvPr/>
        </p:nvSpPr>
        <p:spPr>
          <a:xfrm>
            <a:off x="9563000" y="3945575"/>
            <a:ext cx="2615354" cy="2800767"/>
          </a:xfrm>
          <a:prstGeom prst="rect">
            <a:avLst/>
          </a:prstGeom>
          <a:noFill/>
        </p:spPr>
        <p:txBody>
          <a:bodyPr wrap="square" rtlCol="0">
            <a:spAutoFit/>
          </a:bodyPr>
          <a:lstStyle/>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startAt="12"/>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12"/>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p:txBody>
      </p:sp>
    </p:spTree>
    <p:extLst>
      <p:ext uri="{BB962C8B-B14F-4D97-AF65-F5344CB8AC3E}">
        <p14:creationId xmlns:p14="http://schemas.microsoft.com/office/powerpoint/2010/main" val="271960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45" name="CasellaDiTesto 44">
            <a:extLst>
              <a:ext uri="{FF2B5EF4-FFF2-40B4-BE49-F238E27FC236}">
                <a16:creationId xmlns:a16="http://schemas.microsoft.com/office/drawing/2014/main" id="{4B47F889-A9E6-0B08-4FB8-544C2C6840B8}"/>
              </a:ext>
            </a:extLst>
          </p:cNvPr>
          <p:cNvSpPr txBox="1"/>
          <p:nvPr/>
        </p:nvSpPr>
        <p:spPr>
          <a:xfrm>
            <a:off x="4273687" y="2755791"/>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46" name="CasellaDiTesto 45">
            <a:extLst>
              <a:ext uri="{FF2B5EF4-FFF2-40B4-BE49-F238E27FC236}">
                <a16:creationId xmlns:a16="http://schemas.microsoft.com/office/drawing/2014/main" id="{47777F98-19F3-9641-4256-82BE79712729}"/>
              </a:ext>
            </a:extLst>
          </p:cNvPr>
          <p:cNvSpPr txBox="1"/>
          <p:nvPr/>
        </p:nvSpPr>
        <p:spPr>
          <a:xfrm>
            <a:off x="4932743" y="268910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M</a:t>
            </a:r>
          </a:p>
        </p:txBody>
      </p:sp>
      <p:sp>
        <p:nvSpPr>
          <p:cNvPr id="47" name="CasellaDiTesto 46">
            <a:extLst>
              <a:ext uri="{FF2B5EF4-FFF2-40B4-BE49-F238E27FC236}">
                <a16:creationId xmlns:a16="http://schemas.microsoft.com/office/drawing/2014/main" id="{97A7A628-6F03-122A-2E11-CBB5EC85984A}"/>
              </a:ext>
            </a:extLst>
          </p:cNvPr>
          <p:cNvSpPr txBox="1"/>
          <p:nvPr/>
        </p:nvSpPr>
        <p:spPr>
          <a:xfrm>
            <a:off x="4737063" y="32401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P</a:t>
            </a:r>
          </a:p>
        </p:txBody>
      </p:sp>
      <p:sp>
        <p:nvSpPr>
          <p:cNvPr id="48" name="CasellaDiTesto 47">
            <a:extLst>
              <a:ext uri="{FF2B5EF4-FFF2-40B4-BE49-F238E27FC236}">
                <a16:creationId xmlns:a16="http://schemas.microsoft.com/office/drawing/2014/main" id="{38C0ACFA-92A5-44E9-878A-6FB9928F9E03}"/>
              </a:ext>
            </a:extLst>
          </p:cNvPr>
          <p:cNvSpPr txBox="1"/>
          <p:nvPr/>
        </p:nvSpPr>
        <p:spPr>
          <a:xfrm>
            <a:off x="5797292" y="3092915"/>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Q</a:t>
            </a:r>
          </a:p>
        </p:txBody>
      </p:sp>
      <p:sp>
        <p:nvSpPr>
          <p:cNvPr id="49" name="CasellaDiTesto 48">
            <a:extLst>
              <a:ext uri="{FF2B5EF4-FFF2-40B4-BE49-F238E27FC236}">
                <a16:creationId xmlns:a16="http://schemas.microsoft.com/office/drawing/2014/main" id="{C547F39A-DCBB-3861-7B16-402C68E468E7}"/>
              </a:ext>
            </a:extLst>
          </p:cNvPr>
          <p:cNvSpPr txBox="1"/>
          <p:nvPr/>
        </p:nvSpPr>
        <p:spPr>
          <a:xfrm>
            <a:off x="6613730" y="2642712"/>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N</a:t>
            </a:r>
          </a:p>
        </p:txBody>
      </p:sp>
      <p:sp>
        <p:nvSpPr>
          <p:cNvPr id="50" name="CasellaDiTesto 49">
            <a:extLst>
              <a:ext uri="{FF2B5EF4-FFF2-40B4-BE49-F238E27FC236}">
                <a16:creationId xmlns:a16="http://schemas.microsoft.com/office/drawing/2014/main" id="{0D7A762A-2D6D-FF66-3BB5-D2DD12CFBBC5}"/>
              </a:ext>
            </a:extLst>
          </p:cNvPr>
          <p:cNvSpPr txBox="1"/>
          <p:nvPr/>
        </p:nvSpPr>
        <p:spPr>
          <a:xfrm>
            <a:off x="6467780" y="3213296"/>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R</a:t>
            </a:r>
          </a:p>
        </p:txBody>
      </p:sp>
      <p:sp>
        <p:nvSpPr>
          <p:cNvPr id="51" name="CasellaDiTesto 50">
            <a:extLst>
              <a:ext uri="{FF2B5EF4-FFF2-40B4-BE49-F238E27FC236}">
                <a16:creationId xmlns:a16="http://schemas.microsoft.com/office/drawing/2014/main" id="{31F648CE-599F-F34D-F903-FB3A3A6027ED}"/>
              </a:ext>
            </a:extLst>
          </p:cNvPr>
          <p:cNvSpPr txBox="1"/>
          <p:nvPr/>
        </p:nvSpPr>
        <p:spPr>
          <a:xfrm>
            <a:off x="6795889" y="3318503"/>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S</a:t>
            </a:r>
          </a:p>
        </p:txBody>
      </p:sp>
      <p:sp>
        <p:nvSpPr>
          <p:cNvPr id="52" name="CasellaDiTesto 51">
            <a:extLst>
              <a:ext uri="{FF2B5EF4-FFF2-40B4-BE49-F238E27FC236}">
                <a16:creationId xmlns:a16="http://schemas.microsoft.com/office/drawing/2014/main" id="{DB9AF6F8-8751-6E29-D48F-4F28810F4E2C}"/>
              </a:ext>
            </a:extLst>
          </p:cNvPr>
          <p:cNvSpPr txBox="1"/>
          <p:nvPr/>
        </p:nvSpPr>
        <p:spPr>
          <a:xfrm>
            <a:off x="7544907" y="2474789"/>
            <a:ext cx="6590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O</a:t>
            </a:r>
          </a:p>
        </p:txBody>
      </p:sp>
      <p:sp>
        <p:nvSpPr>
          <p:cNvPr id="53" name="CasellaDiTesto 52">
            <a:extLst>
              <a:ext uri="{FF2B5EF4-FFF2-40B4-BE49-F238E27FC236}">
                <a16:creationId xmlns:a16="http://schemas.microsoft.com/office/drawing/2014/main" id="{E076BFD6-0D1C-BA2F-6DAA-57C3962062A1}"/>
              </a:ext>
            </a:extLst>
          </p:cNvPr>
          <p:cNvSpPr txBox="1"/>
          <p:nvPr/>
        </p:nvSpPr>
        <p:spPr>
          <a:xfrm>
            <a:off x="4828711" y="31520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54" name="CasellaDiTesto 53">
            <a:extLst>
              <a:ext uri="{FF2B5EF4-FFF2-40B4-BE49-F238E27FC236}">
                <a16:creationId xmlns:a16="http://schemas.microsoft.com/office/drawing/2014/main" id="{7A847F9E-CC8D-02BA-245B-26E3321E0E8E}"/>
              </a:ext>
            </a:extLst>
          </p:cNvPr>
          <p:cNvSpPr txBox="1"/>
          <p:nvPr/>
        </p:nvSpPr>
        <p:spPr>
          <a:xfrm>
            <a:off x="3088612" y="2936297"/>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5" name="CasellaDiTesto 54">
            <a:extLst>
              <a:ext uri="{FF2B5EF4-FFF2-40B4-BE49-F238E27FC236}">
                <a16:creationId xmlns:a16="http://schemas.microsoft.com/office/drawing/2014/main" id="{C5AE858E-AC3E-19BA-80C9-3F6C066DA032}"/>
              </a:ext>
            </a:extLst>
          </p:cNvPr>
          <p:cNvSpPr txBox="1"/>
          <p:nvPr/>
        </p:nvSpPr>
        <p:spPr>
          <a:xfrm>
            <a:off x="6058202" y="2659298"/>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56" name="CasellaDiTesto 55">
            <a:extLst>
              <a:ext uri="{FF2B5EF4-FFF2-40B4-BE49-F238E27FC236}">
                <a16:creationId xmlns:a16="http://schemas.microsoft.com/office/drawing/2014/main" id="{F6D815CA-D53C-A5C1-5D4F-96B72C6ACE73}"/>
              </a:ext>
            </a:extLst>
          </p:cNvPr>
          <p:cNvSpPr txBox="1"/>
          <p:nvPr/>
        </p:nvSpPr>
        <p:spPr>
          <a:xfrm>
            <a:off x="5453144" y="272676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57" name="CasellaDiTesto 56">
            <a:extLst>
              <a:ext uri="{FF2B5EF4-FFF2-40B4-BE49-F238E27FC236}">
                <a16:creationId xmlns:a16="http://schemas.microsoft.com/office/drawing/2014/main" id="{BE4DCD2F-AAF0-3336-F65D-7DBB51B8572C}"/>
              </a:ext>
            </a:extLst>
          </p:cNvPr>
          <p:cNvSpPr txBox="1"/>
          <p:nvPr/>
        </p:nvSpPr>
        <p:spPr>
          <a:xfrm>
            <a:off x="6693200" y="2556391"/>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58" name="CasellaDiTesto 57">
            <a:extLst>
              <a:ext uri="{FF2B5EF4-FFF2-40B4-BE49-F238E27FC236}">
                <a16:creationId xmlns:a16="http://schemas.microsoft.com/office/drawing/2014/main" id="{29C1EECA-AB20-7EA3-5BED-81625B98A939}"/>
              </a:ext>
            </a:extLst>
          </p:cNvPr>
          <p:cNvSpPr txBox="1"/>
          <p:nvPr/>
        </p:nvSpPr>
        <p:spPr>
          <a:xfrm>
            <a:off x="5885135" y="3203133"/>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59" name="CasellaDiTesto 58">
            <a:extLst>
              <a:ext uri="{FF2B5EF4-FFF2-40B4-BE49-F238E27FC236}">
                <a16:creationId xmlns:a16="http://schemas.microsoft.com/office/drawing/2014/main" id="{85AD2F1F-CD7B-B61B-04A0-A69993F7AF90}"/>
              </a:ext>
            </a:extLst>
          </p:cNvPr>
          <p:cNvSpPr txBox="1"/>
          <p:nvPr/>
        </p:nvSpPr>
        <p:spPr>
          <a:xfrm>
            <a:off x="6568810" y="3328174"/>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60" name="CasellaDiTesto 59">
            <a:extLst>
              <a:ext uri="{FF2B5EF4-FFF2-40B4-BE49-F238E27FC236}">
                <a16:creationId xmlns:a16="http://schemas.microsoft.com/office/drawing/2014/main" id="{EE1D96D0-248A-B913-2A12-F558306B299E}"/>
              </a:ext>
            </a:extLst>
          </p:cNvPr>
          <p:cNvSpPr txBox="1"/>
          <p:nvPr/>
        </p:nvSpPr>
        <p:spPr>
          <a:xfrm>
            <a:off x="6866599" y="3511815"/>
            <a:ext cx="290555"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2" name="CasellaDiTesto 1">
            <a:extLst>
              <a:ext uri="{FF2B5EF4-FFF2-40B4-BE49-F238E27FC236}">
                <a16:creationId xmlns:a16="http://schemas.microsoft.com/office/drawing/2014/main" id="{8E5F5311-1B18-2C76-A848-42B5B70C66F6}"/>
              </a:ext>
            </a:extLst>
          </p:cNvPr>
          <p:cNvSpPr txBox="1"/>
          <p:nvPr/>
        </p:nvSpPr>
        <p:spPr>
          <a:xfrm>
            <a:off x="9576646" y="2280489"/>
            <a:ext cx="2615354" cy="1446550"/>
          </a:xfrm>
          <a:prstGeom prst="rect">
            <a:avLst/>
          </a:prstGeom>
          <a:noFill/>
        </p:spPr>
        <p:txBody>
          <a:bodyPr wrap="square" rtlCol="0">
            <a:spAutoFit/>
          </a:bodyPr>
          <a:lstStyle/>
          <a:p>
            <a:pPr marL="228600" indent="-228600" algn="just">
              <a:buSzPct val="100000"/>
              <a:buFont typeface="+mj-lt"/>
              <a:buAutoNum type="alphaUcPeriod" startAt="15"/>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marL="228600" indent="-228600" algn="just">
              <a:buSzPct val="100000"/>
              <a:buFont typeface="+mj-lt"/>
              <a:buAutoNum type="alphaUcPeriod" startAt="15"/>
            </a:pPr>
            <a:endParaRPr lang="en-US" sz="800"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 name="CasellaDiTesto 3">
            <a:extLst>
              <a:ext uri="{FF2B5EF4-FFF2-40B4-BE49-F238E27FC236}">
                <a16:creationId xmlns:a16="http://schemas.microsoft.com/office/drawing/2014/main" id="{74E6A9D0-9BAB-2C08-4EB6-4EEC3AC129AE}"/>
              </a:ext>
            </a:extLst>
          </p:cNvPr>
          <p:cNvSpPr txBox="1"/>
          <p:nvPr/>
        </p:nvSpPr>
        <p:spPr>
          <a:xfrm>
            <a:off x="9576646" y="3570636"/>
            <a:ext cx="2615354" cy="1323439"/>
          </a:xfrm>
          <a:prstGeom prst="rect">
            <a:avLst/>
          </a:prstGeom>
          <a:noFill/>
        </p:spPr>
        <p:txBody>
          <a:bodyPr wrap="square" rtlCol="0">
            <a:spAutoFit/>
          </a:bodyPr>
          <a:lstStyle/>
          <a:p>
            <a:pPr marL="228600" indent="-228600" algn="just">
              <a:buSzPct val="100000"/>
              <a:buFont typeface="+mj-lt"/>
              <a:buAutoNum type="alphaUcPeriod" startAt="19"/>
            </a:pPr>
            <a:r>
              <a:rPr lang="en-US" sz="800" b="1" dirty="0">
                <a:latin typeface="MS Shell Dlg 2" panose="020B0604030504040204" pitchFamily="34" charset="0"/>
                <a:ea typeface="MS Shell Dlg 2" panose="020B0604030504040204" pitchFamily="34" charset="0"/>
                <a:cs typeface="MS Shell Dlg 2" panose="020B0604030504040204" pitchFamily="34" charset="0"/>
              </a:rPr>
              <a:t>(+H)</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traffic.Minor</a:t>
            </a:r>
            <a:r>
              <a:rPr lang="en-US" sz="800" dirty="0">
                <a:latin typeface="MS Shell Dlg 2" panose="020B0604030504040204" pitchFamily="34" charset="0"/>
                <a:ea typeface="MS Shell Dlg 2" panose="020B0604030504040204" pitchFamily="34" charset="0"/>
                <a:cs typeface="MS Shell Dlg 2" panose="020B0604030504040204" pitchFamily="34" charset="0"/>
              </a:rPr>
              <a:t> anthropogenic influence with limited presence of military areas.</a:t>
            </a:r>
            <a:endParaRPr lang="en-US" sz="800" dirty="0">
              <a:solidFill>
                <a:schemeClr val="accent1"/>
              </a:solidFill>
              <a:highlight>
                <a:srgbClr val="FFFF00"/>
              </a:highlight>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336934568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1785</TotalTime>
  <Words>3424</Words>
  <Application>Microsoft Office PowerPoint</Application>
  <PresentationFormat>Widescreen</PresentationFormat>
  <Paragraphs>271</Paragraphs>
  <Slides>13</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13</vt:i4>
      </vt:variant>
    </vt:vector>
  </HeadingPairs>
  <TitlesOfParts>
    <vt:vector size="18" baseType="lpstr">
      <vt:lpstr>Aptos</vt:lpstr>
      <vt:lpstr>Aptos Display</vt:lpstr>
      <vt:lpstr>Arial</vt:lpstr>
      <vt:lpstr>MS Shell Dlg 2</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Laura Pavirani</dc:creator>
  <cp:lastModifiedBy>Laura Pavirani</cp:lastModifiedBy>
  <cp:revision>76</cp:revision>
  <cp:lastPrinted>2025-12-12T09:13:38Z</cp:lastPrinted>
  <dcterms:created xsi:type="dcterms:W3CDTF">2025-12-10T09:17:21Z</dcterms:created>
  <dcterms:modified xsi:type="dcterms:W3CDTF">2025-12-17T15:03:15Z</dcterms:modified>
</cp:coreProperties>
</file>