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60" r:id="rId3"/>
    <p:sldId id="258" r:id="rId4"/>
    <p:sldId id="261" r:id="rId5"/>
    <p:sldId id="259"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km - all spp" id="{A805E225-AFCB-41F4-A93F-3547F6EC7C98}">
          <p14:sldIdLst>
            <p14:sldId id="257"/>
            <p14:sldId id="260"/>
          </p14:sldIdLst>
        </p14:section>
        <p14:section name="mkm - five spp" id="{1C7B0101-1060-4B33-913A-3F9859A7BEEF}">
          <p14:sldIdLst>
            <p14:sldId id="258"/>
            <p14:sldId id="261"/>
          </p14:sldIdLst>
        </p14:section>
        <p14:section name="mkm - gadus morhua" id="{BA4EB1F9-6F98-45B7-A895-24E26D34C2F4}">
          <p14:sldIdLst>
            <p14:sldId id="259"/>
            <p14:sldId id="262"/>
          </p14:sldIdLst>
        </p14:section>
        <p14:section name="vae - all spp" id="{8F148BFE-7AEE-4126-AEA0-C8072BE307A7}">
          <p14:sldIdLst>
            <p14:sldId id="263"/>
            <p14:sldId id="264"/>
          </p14:sldIdLst>
        </p14:section>
        <p14:section name="vae - five spp" id="{4F13373D-6E6A-42A3-B29F-E1B6BDBCFFAA}">
          <p14:sldIdLst>
            <p14:sldId id="265"/>
            <p14:sldId id="266"/>
          </p14:sldIdLst>
        </p14:section>
        <p14:section name="vae - gadus morhua" id="{3962C957-CEA9-4734-88F2-4E7248CD5DDD}">
          <p14:sldIdLst>
            <p14:sldId id="267"/>
            <p14:sldId id="268"/>
          </p14:sldIdLst>
        </p14:section>
        <p14:section name="mkm - ensamble" id="{9ED4AFFB-662D-4003-AD23-FD99C1B60F6B}">
          <p14:sldIdLst>
            <p14:sldId id="269"/>
            <p14:sldId id="270"/>
          </p14:sldIdLst>
        </p14:section>
        <p14:section name="vae - ensamble" id="{1B3F18D0-6634-444B-9379-EA1D8A76E847}">
          <p14:sldIdLst>
            <p14:sldId id="271"/>
            <p14:sldId id="272"/>
          </p14:sldIdLst>
        </p14:section>
        <p14:section name="mkm + vae" id="{D7789E8E-696D-4013-9505-A8637F0CD33D}">
          <p14:sldIdLst>
            <p14:sldId id="273"/>
            <p14:sldId id="274"/>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CECE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6" autoAdjust="0"/>
    <p:restoredTop sz="94660"/>
  </p:normalViewPr>
  <p:slideViewPr>
    <p:cSldViewPr snapToGrid="0" showGuides="1">
      <p:cViewPr varScale="1">
        <p:scale>
          <a:sx n="145" d="100"/>
          <a:sy n="145" d="100"/>
        </p:scale>
        <p:origin x="124" y="184"/>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6BBE0A0-CBF8-A0EF-66AB-8F89817A127C}"/>
              </a:ext>
            </a:extLst>
          </p:cNvPr>
          <p:cNvSpPr>
            <a:spLocks noGrp="1"/>
          </p:cNvSpPr>
          <p:nvPr>
            <p:ph type="ctrTitle"/>
          </p:nvPr>
        </p:nvSpPr>
        <p:spPr>
          <a:xfrm>
            <a:off x="1524000" y="1122363"/>
            <a:ext cx="9144000" cy="2387600"/>
          </a:xfrm>
        </p:spPr>
        <p:txBody>
          <a:bodyPr anchor="b"/>
          <a:lstStyle>
            <a:lvl1pPr algn="ctr">
              <a:defRPr sz="6000"/>
            </a:lvl1pPr>
          </a:lstStyle>
          <a:p>
            <a:r>
              <a:rPr lang="it-IT"/>
              <a:t>Fare clic per modificare lo stile del titolo dello schema</a:t>
            </a:r>
          </a:p>
        </p:txBody>
      </p:sp>
      <p:sp>
        <p:nvSpPr>
          <p:cNvPr id="3" name="Sottotitolo 2">
            <a:extLst>
              <a:ext uri="{FF2B5EF4-FFF2-40B4-BE49-F238E27FC236}">
                <a16:creationId xmlns:a16="http://schemas.microsoft.com/office/drawing/2014/main" id="{33F7040D-11A4-CF1D-1272-84DEAD34FA6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it-IT"/>
              <a:t>Fare clic per modificare lo stile del sottotitolo dello schema</a:t>
            </a:r>
          </a:p>
        </p:txBody>
      </p:sp>
      <p:sp>
        <p:nvSpPr>
          <p:cNvPr id="4" name="Segnaposto data 3">
            <a:extLst>
              <a:ext uri="{FF2B5EF4-FFF2-40B4-BE49-F238E27FC236}">
                <a16:creationId xmlns:a16="http://schemas.microsoft.com/office/drawing/2014/main" id="{FFBDB4F6-4B81-794F-22B5-CD4866E68B8E}"/>
              </a:ext>
            </a:extLst>
          </p:cNvPr>
          <p:cNvSpPr>
            <a:spLocks noGrp="1"/>
          </p:cNvSpPr>
          <p:nvPr>
            <p:ph type="dt" sz="half" idx="10"/>
          </p:nvPr>
        </p:nvSpPr>
        <p:spPr/>
        <p:txBody>
          <a:bodyPr/>
          <a:lstStyle/>
          <a:p>
            <a:fld id="{8FD2010B-0304-4359-A36D-7ABB3F867AC8}" type="datetimeFigureOut">
              <a:rPr lang="it-IT" smtClean="0"/>
              <a:t>11/12/2025</a:t>
            </a:fld>
            <a:endParaRPr lang="it-IT"/>
          </a:p>
        </p:txBody>
      </p:sp>
      <p:sp>
        <p:nvSpPr>
          <p:cNvPr id="5" name="Segnaposto piè di pagina 4">
            <a:extLst>
              <a:ext uri="{FF2B5EF4-FFF2-40B4-BE49-F238E27FC236}">
                <a16:creationId xmlns:a16="http://schemas.microsoft.com/office/drawing/2014/main" id="{C9427516-1345-33C4-E15E-2299256B3181}"/>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594DDD7A-F440-879C-102E-DB95AB317D07}"/>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32304978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5A818FA-C53D-C5AE-6199-26C5AA2E216D}"/>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140B71BD-9098-04F8-D81D-BEBE134F9D46}"/>
              </a:ext>
            </a:extLst>
          </p:cNvPr>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AA05D9CD-BF74-F0E4-4AAE-9F430399EAB6}"/>
              </a:ext>
            </a:extLst>
          </p:cNvPr>
          <p:cNvSpPr>
            <a:spLocks noGrp="1"/>
          </p:cNvSpPr>
          <p:nvPr>
            <p:ph type="dt" sz="half" idx="10"/>
          </p:nvPr>
        </p:nvSpPr>
        <p:spPr/>
        <p:txBody>
          <a:bodyPr/>
          <a:lstStyle/>
          <a:p>
            <a:fld id="{8FD2010B-0304-4359-A36D-7ABB3F867AC8}" type="datetimeFigureOut">
              <a:rPr lang="it-IT" smtClean="0"/>
              <a:t>11/12/2025</a:t>
            </a:fld>
            <a:endParaRPr lang="it-IT"/>
          </a:p>
        </p:txBody>
      </p:sp>
      <p:sp>
        <p:nvSpPr>
          <p:cNvPr id="5" name="Segnaposto piè di pagina 4">
            <a:extLst>
              <a:ext uri="{FF2B5EF4-FFF2-40B4-BE49-F238E27FC236}">
                <a16:creationId xmlns:a16="http://schemas.microsoft.com/office/drawing/2014/main" id="{31C888C0-7D7E-D22E-B2C0-7DE2F644E335}"/>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5344CB40-9140-63AB-2615-8CA794AF999E}"/>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41629359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4382034-B89E-9573-3B68-81FC7437158A}"/>
              </a:ext>
            </a:extLst>
          </p:cNvPr>
          <p:cNvSpPr>
            <a:spLocks noGrp="1"/>
          </p:cNvSpPr>
          <p:nvPr>
            <p:ph type="title"/>
          </p:nvPr>
        </p:nvSpPr>
        <p:spPr>
          <a:xfrm>
            <a:off x="831850" y="1709738"/>
            <a:ext cx="10515600" cy="2852737"/>
          </a:xfrm>
        </p:spPr>
        <p:txBody>
          <a:bodyPr anchor="b"/>
          <a:lstStyle>
            <a:lvl1pPr>
              <a:defRPr sz="6000"/>
            </a:lvl1pPr>
          </a:lstStyle>
          <a:p>
            <a:r>
              <a:rPr lang="it-IT"/>
              <a:t>Fare clic per modificare lo stile del titolo dello schema</a:t>
            </a:r>
          </a:p>
        </p:txBody>
      </p:sp>
      <p:sp>
        <p:nvSpPr>
          <p:cNvPr id="3" name="Segnaposto testo 2">
            <a:extLst>
              <a:ext uri="{FF2B5EF4-FFF2-40B4-BE49-F238E27FC236}">
                <a16:creationId xmlns:a16="http://schemas.microsoft.com/office/drawing/2014/main" id="{30B0CA49-16B5-1608-E94D-C569AE4D5BC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it-IT"/>
              <a:t>Fare clic per modificare gli stili del testo dello schema</a:t>
            </a:r>
          </a:p>
        </p:txBody>
      </p:sp>
      <p:sp>
        <p:nvSpPr>
          <p:cNvPr id="4" name="Segnaposto data 3">
            <a:extLst>
              <a:ext uri="{FF2B5EF4-FFF2-40B4-BE49-F238E27FC236}">
                <a16:creationId xmlns:a16="http://schemas.microsoft.com/office/drawing/2014/main" id="{948EA4C0-8501-38B3-5469-B035799BA4F8}"/>
              </a:ext>
            </a:extLst>
          </p:cNvPr>
          <p:cNvSpPr>
            <a:spLocks noGrp="1"/>
          </p:cNvSpPr>
          <p:nvPr>
            <p:ph type="dt" sz="half" idx="10"/>
          </p:nvPr>
        </p:nvSpPr>
        <p:spPr/>
        <p:txBody>
          <a:bodyPr/>
          <a:lstStyle/>
          <a:p>
            <a:fld id="{8FD2010B-0304-4359-A36D-7ABB3F867AC8}" type="datetimeFigureOut">
              <a:rPr lang="it-IT" smtClean="0"/>
              <a:t>11/12/2025</a:t>
            </a:fld>
            <a:endParaRPr lang="it-IT"/>
          </a:p>
        </p:txBody>
      </p:sp>
      <p:sp>
        <p:nvSpPr>
          <p:cNvPr id="5" name="Segnaposto piè di pagina 4">
            <a:extLst>
              <a:ext uri="{FF2B5EF4-FFF2-40B4-BE49-F238E27FC236}">
                <a16:creationId xmlns:a16="http://schemas.microsoft.com/office/drawing/2014/main" id="{B091514B-FFFC-EAA7-C38D-031B4130ED81}"/>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5621FAB4-3F99-C15F-0CEE-C7D491815594}"/>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26069577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DC9BDA0-5EF4-EA9A-E147-DCAABB098BC7}"/>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4A02E991-1B5E-CB07-F1B0-0150F84B53DB}"/>
              </a:ext>
            </a:extLst>
          </p:cNvPr>
          <p:cNvSpPr>
            <a:spLocks noGrp="1"/>
          </p:cNvSpPr>
          <p:nvPr>
            <p:ph sz="half" idx="1"/>
          </p:nvPr>
        </p:nvSpPr>
        <p:spPr>
          <a:xfrm>
            <a:off x="838200" y="1825625"/>
            <a:ext cx="5181600"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contenuto 3">
            <a:extLst>
              <a:ext uri="{FF2B5EF4-FFF2-40B4-BE49-F238E27FC236}">
                <a16:creationId xmlns:a16="http://schemas.microsoft.com/office/drawing/2014/main" id="{6F7B740E-F8E7-3AEB-2DD9-32F1EE3454C0}"/>
              </a:ext>
            </a:extLst>
          </p:cNvPr>
          <p:cNvSpPr>
            <a:spLocks noGrp="1"/>
          </p:cNvSpPr>
          <p:nvPr>
            <p:ph sz="half" idx="2"/>
          </p:nvPr>
        </p:nvSpPr>
        <p:spPr>
          <a:xfrm>
            <a:off x="6172200" y="1825625"/>
            <a:ext cx="5181600"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data 4">
            <a:extLst>
              <a:ext uri="{FF2B5EF4-FFF2-40B4-BE49-F238E27FC236}">
                <a16:creationId xmlns:a16="http://schemas.microsoft.com/office/drawing/2014/main" id="{50909FF4-C43F-76FA-742E-2B9E28927F65}"/>
              </a:ext>
            </a:extLst>
          </p:cNvPr>
          <p:cNvSpPr>
            <a:spLocks noGrp="1"/>
          </p:cNvSpPr>
          <p:nvPr>
            <p:ph type="dt" sz="half" idx="10"/>
          </p:nvPr>
        </p:nvSpPr>
        <p:spPr/>
        <p:txBody>
          <a:bodyPr/>
          <a:lstStyle/>
          <a:p>
            <a:fld id="{8FD2010B-0304-4359-A36D-7ABB3F867AC8}" type="datetimeFigureOut">
              <a:rPr lang="it-IT" smtClean="0"/>
              <a:t>11/12/2025</a:t>
            </a:fld>
            <a:endParaRPr lang="it-IT"/>
          </a:p>
        </p:txBody>
      </p:sp>
      <p:sp>
        <p:nvSpPr>
          <p:cNvPr id="6" name="Segnaposto piè di pagina 5">
            <a:extLst>
              <a:ext uri="{FF2B5EF4-FFF2-40B4-BE49-F238E27FC236}">
                <a16:creationId xmlns:a16="http://schemas.microsoft.com/office/drawing/2014/main" id="{727AC408-A3B5-20F4-815D-585BAAE0DCEA}"/>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ED447E2D-0290-0DC9-4EB8-BE766BD8465C}"/>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34623171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A0400B7-74AE-CFF3-4A2D-CDB42C5BD265}"/>
              </a:ext>
            </a:extLst>
          </p:cNvPr>
          <p:cNvSpPr>
            <a:spLocks noGrp="1"/>
          </p:cNvSpPr>
          <p:nvPr>
            <p:ph type="title"/>
          </p:nvPr>
        </p:nvSpPr>
        <p:spPr>
          <a:xfrm>
            <a:off x="839788" y="365125"/>
            <a:ext cx="10515600" cy="1325563"/>
          </a:xfrm>
        </p:spPr>
        <p:txBody>
          <a:bodyPr/>
          <a:lstStyle/>
          <a:p>
            <a:r>
              <a:rPr lang="it-IT"/>
              <a:t>Fare clic per modificare lo stile del titolo dello schema</a:t>
            </a:r>
          </a:p>
        </p:txBody>
      </p:sp>
      <p:sp>
        <p:nvSpPr>
          <p:cNvPr id="3" name="Segnaposto testo 2">
            <a:extLst>
              <a:ext uri="{FF2B5EF4-FFF2-40B4-BE49-F238E27FC236}">
                <a16:creationId xmlns:a16="http://schemas.microsoft.com/office/drawing/2014/main" id="{0CA461D9-FED0-5BB7-A8DB-5A80C84D94F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Segnaposto contenuto 3">
            <a:extLst>
              <a:ext uri="{FF2B5EF4-FFF2-40B4-BE49-F238E27FC236}">
                <a16:creationId xmlns:a16="http://schemas.microsoft.com/office/drawing/2014/main" id="{E7F8C463-1EC1-DEAB-4BF9-659C97B08437}"/>
              </a:ext>
            </a:extLst>
          </p:cNvPr>
          <p:cNvSpPr>
            <a:spLocks noGrp="1"/>
          </p:cNvSpPr>
          <p:nvPr>
            <p:ph sz="half" idx="2"/>
          </p:nvPr>
        </p:nvSpPr>
        <p:spPr>
          <a:xfrm>
            <a:off x="839788" y="2505075"/>
            <a:ext cx="5157787" cy="368458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testo 4">
            <a:extLst>
              <a:ext uri="{FF2B5EF4-FFF2-40B4-BE49-F238E27FC236}">
                <a16:creationId xmlns:a16="http://schemas.microsoft.com/office/drawing/2014/main" id="{4AA83D10-5E45-B387-55C2-9DBBE08E8DD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Segnaposto contenuto 5">
            <a:extLst>
              <a:ext uri="{FF2B5EF4-FFF2-40B4-BE49-F238E27FC236}">
                <a16:creationId xmlns:a16="http://schemas.microsoft.com/office/drawing/2014/main" id="{D7C50233-38BE-B1CD-892D-CFD0B9BE542D}"/>
              </a:ext>
            </a:extLst>
          </p:cNvPr>
          <p:cNvSpPr>
            <a:spLocks noGrp="1"/>
          </p:cNvSpPr>
          <p:nvPr>
            <p:ph sz="quarter" idx="4"/>
          </p:nvPr>
        </p:nvSpPr>
        <p:spPr>
          <a:xfrm>
            <a:off x="6172200" y="2505075"/>
            <a:ext cx="5183188" cy="368458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7" name="Segnaposto data 6">
            <a:extLst>
              <a:ext uri="{FF2B5EF4-FFF2-40B4-BE49-F238E27FC236}">
                <a16:creationId xmlns:a16="http://schemas.microsoft.com/office/drawing/2014/main" id="{6F5F16F4-8F11-8C73-49F2-4E011C375F4C}"/>
              </a:ext>
            </a:extLst>
          </p:cNvPr>
          <p:cNvSpPr>
            <a:spLocks noGrp="1"/>
          </p:cNvSpPr>
          <p:nvPr>
            <p:ph type="dt" sz="half" idx="10"/>
          </p:nvPr>
        </p:nvSpPr>
        <p:spPr/>
        <p:txBody>
          <a:bodyPr/>
          <a:lstStyle/>
          <a:p>
            <a:fld id="{8FD2010B-0304-4359-A36D-7ABB3F867AC8}" type="datetimeFigureOut">
              <a:rPr lang="it-IT" smtClean="0"/>
              <a:t>11/12/2025</a:t>
            </a:fld>
            <a:endParaRPr lang="it-IT"/>
          </a:p>
        </p:txBody>
      </p:sp>
      <p:sp>
        <p:nvSpPr>
          <p:cNvPr id="8" name="Segnaposto piè di pagina 7">
            <a:extLst>
              <a:ext uri="{FF2B5EF4-FFF2-40B4-BE49-F238E27FC236}">
                <a16:creationId xmlns:a16="http://schemas.microsoft.com/office/drawing/2014/main" id="{4F7372DB-AA40-AC65-5B1F-3C89A809D561}"/>
              </a:ext>
            </a:extLst>
          </p:cNvPr>
          <p:cNvSpPr>
            <a:spLocks noGrp="1"/>
          </p:cNvSpPr>
          <p:nvPr>
            <p:ph type="ftr" sz="quarter" idx="11"/>
          </p:nvPr>
        </p:nvSpPr>
        <p:spPr/>
        <p:txBody>
          <a:bodyPr/>
          <a:lstStyle/>
          <a:p>
            <a:endParaRPr lang="it-IT"/>
          </a:p>
        </p:txBody>
      </p:sp>
      <p:sp>
        <p:nvSpPr>
          <p:cNvPr id="9" name="Segnaposto numero diapositiva 8">
            <a:extLst>
              <a:ext uri="{FF2B5EF4-FFF2-40B4-BE49-F238E27FC236}">
                <a16:creationId xmlns:a16="http://schemas.microsoft.com/office/drawing/2014/main" id="{FE492B74-C8F6-60CA-FDC7-EB18DCE85F5E}"/>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182211452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073C598-C749-B71B-97E5-83340FDCB3D1}"/>
              </a:ext>
            </a:extLst>
          </p:cNvPr>
          <p:cNvSpPr>
            <a:spLocks noGrp="1"/>
          </p:cNvSpPr>
          <p:nvPr>
            <p:ph type="title"/>
          </p:nvPr>
        </p:nvSpPr>
        <p:spPr/>
        <p:txBody>
          <a:bodyPr/>
          <a:lstStyle/>
          <a:p>
            <a:r>
              <a:rPr lang="it-IT"/>
              <a:t>Fare clic per modificare lo stile del titolo dello schema</a:t>
            </a:r>
          </a:p>
        </p:txBody>
      </p:sp>
      <p:sp>
        <p:nvSpPr>
          <p:cNvPr id="3" name="Segnaposto data 2">
            <a:extLst>
              <a:ext uri="{FF2B5EF4-FFF2-40B4-BE49-F238E27FC236}">
                <a16:creationId xmlns:a16="http://schemas.microsoft.com/office/drawing/2014/main" id="{993A9799-37B1-C52D-1845-CC4996003684}"/>
              </a:ext>
            </a:extLst>
          </p:cNvPr>
          <p:cNvSpPr>
            <a:spLocks noGrp="1"/>
          </p:cNvSpPr>
          <p:nvPr>
            <p:ph type="dt" sz="half" idx="10"/>
          </p:nvPr>
        </p:nvSpPr>
        <p:spPr/>
        <p:txBody>
          <a:bodyPr/>
          <a:lstStyle/>
          <a:p>
            <a:fld id="{8FD2010B-0304-4359-A36D-7ABB3F867AC8}" type="datetimeFigureOut">
              <a:rPr lang="it-IT" smtClean="0"/>
              <a:t>11/12/2025</a:t>
            </a:fld>
            <a:endParaRPr lang="it-IT"/>
          </a:p>
        </p:txBody>
      </p:sp>
      <p:sp>
        <p:nvSpPr>
          <p:cNvPr id="4" name="Segnaposto piè di pagina 3">
            <a:extLst>
              <a:ext uri="{FF2B5EF4-FFF2-40B4-BE49-F238E27FC236}">
                <a16:creationId xmlns:a16="http://schemas.microsoft.com/office/drawing/2014/main" id="{56836BD7-9F6A-D174-748B-07C939B47211}"/>
              </a:ext>
            </a:extLst>
          </p:cNvPr>
          <p:cNvSpPr>
            <a:spLocks noGrp="1"/>
          </p:cNvSpPr>
          <p:nvPr>
            <p:ph type="ftr" sz="quarter" idx="11"/>
          </p:nvPr>
        </p:nvSpPr>
        <p:spPr/>
        <p:txBody>
          <a:bodyPr/>
          <a:lstStyle/>
          <a:p>
            <a:endParaRPr lang="it-IT"/>
          </a:p>
        </p:txBody>
      </p:sp>
      <p:sp>
        <p:nvSpPr>
          <p:cNvPr id="5" name="Segnaposto numero diapositiva 4">
            <a:extLst>
              <a:ext uri="{FF2B5EF4-FFF2-40B4-BE49-F238E27FC236}">
                <a16:creationId xmlns:a16="http://schemas.microsoft.com/office/drawing/2014/main" id="{6088E0A9-C532-A01C-F682-24B9AAD0CC1A}"/>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10039885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Segnaposto data 1">
            <a:extLst>
              <a:ext uri="{FF2B5EF4-FFF2-40B4-BE49-F238E27FC236}">
                <a16:creationId xmlns:a16="http://schemas.microsoft.com/office/drawing/2014/main" id="{4C243262-14B8-B36C-1692-24880F80C039}"/>
              </a:ext>
            </a:extLst>
          </p:cNvPr>
          <p:cNvSpPr>
            <a:spLocks noGrp="1"/>
          </p:cNvSpPr>
          <p:nvPr>
            <p:ph type="dt" sz="half" idx="10"/>
          </p:nvPr>
        </p:nvSpPr>
        <p:spPr/>
        <p:txBody>
          <a:bodyPr/>
          <a:lstStyle/>
          <a:p>
            <a:fld id="{8FD2010B-0304-4359-A36D-7ABB3F867AC8}" type="datetimeFigureOut">
              <a:rPr lang="it-IT" smtClean="0"/>
              <a:t>11/12/2025</a:t>
            </a:fld>
            <a:endParaRPr lang="it-IT"/>
          </a:p>
        </p:txBody>
      </p:sp>
      <p:sp>
        <p:nvSpPr>
          <p:cNvPr id="3" name="Segnaposto piè di pagina 2">
            <a:extLst>
              <a:ext uri="{FF2B5EF4-FFF2-40B4-BE49-F238E27FC236}">
                <a16:creationId xmlns:a16="http://schemas.microsoft.com/office/drawing/2014/main" id="{93A8752F-C94B-2E82-DF15-31433EEF754A}"/>
              </a:ext>
            </a:extLst>
          </p:cNvPr>
          <p:cNvSpPr>
            <a:spLocks noGrp="1"/>
          </p:cNvSpPr>
          <p:nvPr>
            <p:ph type="ftr" sz="quarter" idx="11"/>
          </p:nvPr>
        </p:nvSpPr>
        <p:spPr/>
        <p:txBody>
          <a:bodyPr/>
          <a:lstStyle/>
          <a:p>
            <a:endParaRPr lang="it-IT"/>
          </a:p>
        </p:txBody>
      </p:sp>
      <p:sp>
        <p:nvSpPr>
          <p:cNvPr id="4" name="Segnaposto numero diapositiva 3">
            <a:extLst>
              <a:ext uri="{FF2B5EF4-FFF2-40B4-BE49-F238E27FC236}">
                <a16:creationId xmlns:a16="http://schemas.microsoft.com/office/drawing/2014/main" id="{5DB2BB79-9A68-76E9-63C9-26FB93787267}"/>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28634806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B9FF27C-4CB6-C5AD-FF2B-1989FF37085F}"/>
              </a:ext>
            </a:extLst>
          </p:cNvPr>
          <p:cNvSpPr>
            <a:spLocks noGrp="1"/>
          </p:cNvSpPr>
          <p:nvPr>
            <p:ph type="title"/>
          </p:nvPr>
        </p:nvSpPr>
        <p:spPr>
          <a:xfrm>
            <a:off x="839788" y="457200"/>
            <a:ext cx="3932237" cy="1600200"/>
          </a:xfrm>
        </p:spPr>
        <p:txBody>
          <a:bodyPr anchor="b"/>
          <a:lstStyle>
            <a:lvl1pPr>
              <a:defRPr sz="3200"/>
            </a:lvl1p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F12E4E98-1C0B-DB46-E2A7-D6A4B276DE3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testo 3">
            <a:extLst>
              <a:ext uri="{FF2B5EF4-FFF2-40B4-BE49-F238E27FC236}">
                <a16:creationId xmlns:a16="http://schemas.microsoft.com/office/drawing/2014/main" id="{111FF215-5A83-7627-335E-5C78579DC82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C7D04CF5-52F0-E6E8-E7BD-4F9391BC215C}"/>
              </a:ext>
            </a:extLst>
          </p:cNvPr>
          <p:cNvSpPr>
            <a:spLocks noGrp="1"/>
          </p:cNvSpPr>
          <p:nvPr>
            <p:ph type="dt" sz="half" idx="10"/>
          </p:nvPr>
        </p:nvSpPr>
        <p:spPr/>
        <p:txBody>
          <a:bodyPr/>
          <a:lstStyle/>
          <a:p>
            <a:fld id="{8FD2010B-0304-4359-A36D-7ABB3F867AC8}" type="datetimeFigureOut">
              <a:rPr lang="it-IT" smtClean="0"/>
              <a:t>11/12/2025</a:t>
            </a:fld>
            <a:endParaRPr lang="it-IT"/>
          </a:p>
        </p:txBody>
      </p:sp>
      <p:sp>
        <p:nvSpPr>
          <p:cNvPr id="6" name="Segnaposto piè di pagina 5">
            <a:extLst>
              <a:ext uri="{FF2B5EF4-FFF2-40B4-BE49-F238E27FC236}">
                <a16:creationId xmlns:a16="http://schemas.microsoft.com/office/drawing/2014/main" id="{B87EFF67-96C9-9EF1-7FB4-28FD53F57E6D}"/>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59C4DF7E-E2D4-9451-9970-777102C53F62}"/>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28282630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3E9D771-2F9B-FA04-1B37-34FF27D745C0}"/>
              </a:ext>
            </a:extLst>
          </p:cNvPr>
          <p:cNvSpPr>
            <a:spLocks noGrp="1"/>
          </p:cNvSpPr>
          <p:nvPr>
            <p:ph type="title"/>
          </p:nvPr>
        </p:nvSpPr>
        <p:spPr>
          <a:xfrm>
            <a:off x="839788" y="457200"/>
            <a:ext cx="3932237" cy="1600200"/>
          </a:xfrm>
        </p:spPr>
        <p:txBody>
          <a:bodyPr anchor="b"/>
          <a:lstStyle>
            <a:lvl1pPr>
              <a:defRPr sz="3200"/>
            </a:lvl1pPr>
          </a:lstStyle>
          <a:p>
            <a:r>
              <a:rPr lang="it-IT"/>
              <a:t>Fare clic per modificare lo stile del titolo dello schema</a:t>
            </a:r>
          </a:p>
        </p:txBody>
      </p:sp>
      <p:sp>
        <p:nvSpPr>
          <p:cNvPr id="3" name="Segnaposto immagine 2">
            <a:extLst>
              <a:ext uri="{FF2B5EF4-FFF2-40B4-BE49-F238E27FC236}">
                <a16:creationId xmlns:a16="http://schemas.microsoft.com/office/drawing/2014/main" id="{FB0C827E-9BE8-2E98-F5B2-E1323A23F66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it-IT"/>
          </a:p>
        </p:txBody>
      </p:sp>
      <p:sp>
        <p:nvSpPr>
          <p:cNvPr id="4" name="Segnaposto testo 3">
            <a:extLst>
              <a:ext uri="{FF2B5EF4-FFF2-40B4-BE49-F238E27FC236}">
                <a16:creationId xmlns:a16="http://schemas.microsoft.com/office/drawing/2014/main" id="{65796002-26C1-672C-8C0E-DA26A7D7E58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DDF69D20-0F19-7919-1F86-4ED89DFFB250}"/>
              </a:ext>
            </a:extLst>
          </p:cNvPr>
          <p:cNvSpPr>
            <a:spLocks noGrp="1"/>
          </p:cNvSpPr>
          <p:nvPr>
            <p:ph type="dt" sz="half" idx="10"/>
          </p:nvPr>
        </p:nvSpPr>
        <p:spPr/>
        <p:txBody>
          <a:bodyPr/>
          <a:lstStyle/>
          <a:p>
            <a:fld id="{8FD2010B-0304-4359-A36D-7ABB3F867AC8}" type="datetimeFigureOut">
              <a:rPr lang="it-IT" smtClean="0"/>
              <a:t>11/12/2025</a:t>
            </a:fld>
            <a:endParaRPr lang="it-IT"/>
          </a:p>
        </p:txBody>
      </p:sp>
      <p:sp>
        <p:nvSpPr>
          <p:cNvPr id="6" name="Segnaposto piè di pagina 5">
            <a:extLst>
              <a:ext uri="{FF2B5EF4-FFF2-40B4-BE49-F238E27FC236}">
                <a16:creationId xmlns:a16="http://schemas.microsoft.com/office/drawing/2014/main" id="{E352CF88-6B0C-81BE-5D8D-8FF2E8E526ED}"/>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DE24CF7D-0491-9667-C368-C38AD9D45F7F}"/>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119064516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2F5F81F-7189-97E5-5462-0A9085636380}"/>
              </a:ext>
            </a:extLst>
          </p:cNvPr>
          <p:cNvSpPr>
            <a:spLocks noGrp="1"/>
          </p:cNvSpPr>
          <p:nvPr>
            <p:ph type="title"/>
          </p:nvPr>
        </p:nvSpPr>
        <p:spPr/>
        <p:txBody>
          <a:bodyPr/>
          <a:lstStyle/>
          <a:p>
            <a:r>
              <a:rPr lang="it-IT"/>
              <a:t>Fare clic per modificare lo stile del titolo dello schema</a:t>
            </a:r>
          </a:p>
        </p:txBody>
      </p:sp>
      <p:sp>
        <p:nvSpPr>
          <p:cNvPr id="3" name="Segnaposto testo verticale 2">
            <a:extLst>
              <a:ext uri="{FF2B5EF4-FFF2-40B4-BE49-F238E27FC236}">
                <a16:creationId xmlns:a16="http://schemas.microsoft.com/office/drawing/2014/main" id="{1A5D2A5E-0F27-F010-17B3-9FA09A4AAFFE}"/>
              </a:ext>
            </a:extLst>
          </p:cNvPr>
          <p:cNvSpPr>
            <a:spLocks noGrp="1"/>
          </p:cNvSpPr>
          <p:nvPr>
            <p:ph type="body" orient="vert" idx="1"/>
          </p:nvPr>
        </p:nvSpPr>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82CA576B-3A62-85B0-5A3B-B06B0DB7ABFC}"/>
              </a:ext>
            </a:extLst>
          </p:cNvPr>
          <p:cNvSpPr>
            <a:spLocks noGrp="1"/>
          </p:cNvSpPr>
          <p:nvPr>
            <p:ph type="dt" sz="half" idx="10"/>
          </p:nvPr>
        </p:nvSpPr>
        <p:spPr/>
        <p:txBody>
          <a:bodyPr/>
          <a:lstStyle/>
          <a:p>
            <a:fld id="{8FD2010B-0304-4359-A36D-7ABB3F867AC8}" type="datetimeFigureOut">
              <a:rPr lang="it-IT" smtClean="0"/>
              <a:t>11/12/2025</a:t>
            </a:fld>
            <a:endParaRPr lang="it-IT"/>
          </a:p>
        </p:txBody>
      </p:sp>
      <p:sp>
        <p:nvSpPr>
          <p:cNvPr id="5" name="Segnaposto piè di pagina 4">
            <a:extLst>
              <a:ext uri="{FF2B5EF4-FFF2-40B4-BE49-F238E27FC236}">
                <a16:creationId xmlns:a16="http://schemas.microsoft.com/office/drawing/2014/main" id="{3B77D120-63AB-ECD1-4620-D6D01D118F8C}"/>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92B85CE9-4AAF-D723-1872-B5936019B05B}"/>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275891798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Titolo verticale 1">
            <a:extLst>
              <a:ext uri="{FF2B5EF4-FFF2-40B4-BE49-F238E27FC236}">
                <a16:creationId xmlns:a16="http://schemas.microsoft.com/office/drawing/2014/main" id="{C2EF1D34-BE4C-D40B-633A-CE1081D1C3C9}"/>
              </a:ext>
            </a:extLst>
          </p:cNvPr>
          <p:cNvSpPr>
            <a:spLocks noGrp="1"/>
          </p:cNvSpPr>
          <p:nvPr>
            <p:ph type="title" orient="vert"/>
          </p:nvPr>
        </p:nvSpPr>
        <p:spPr>
          <a:xfrm>
            <a:off x="8724900" y="365125"/>
            <a:ext cx="2628900" cy="5811838"/>
          </a:xfrm>
        </p:spPr>
        <p:txBody>
          <a:bodyPr vert="eaVert"/>
          <a:lstStyle/>
          <a:p>
            <a:r>
              <a:rPr lang="it-IT"/>
              <a:t>Fare clic per modificare lo stile del titolo dello schema</a:t>
            </a:r>
          </a:p>
        </p:txBody>
      </p:sp>
      <p:sp>
        <p:nvSpPr>
          <p:cNvPr id="3" name="Segnaposto testo verticale 2">
            <a:extLst>
              <a:ext uri="{FF2B5EF4-FFF2-40B4-BE49-F238E27FC236}">
                <a16:creationId xmlns:a16="http://schemas.microsoft.com/office/drawing/2014/main" id="{22EB05C5-F410-3AB6-9833-CEDCCF15A7BD}"/>
              </a:ext>
            </a:extLst>
          </p:cNvPr>
          <p:cNvSpPr>
            <a:spLocks noGrp="1"/>
          </p:cNvSpPr>
          <p:nvPr>
            <p:ph type="body" orient="vert" idx="1"/>
          </p:nvPr>
        </p:nvSpPr>
        <p:spPr>
          <a:xfrm>
            <a:off x="838200" y="365125"/>
            <a:ext cx="7734300" cy="5811838"/>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60B66FC0-C212-4EF8-C72D-B0DD2C506D10}"/>
              </a:ext>
            </a:extLst>
          </p:cNvPr>
          <p:cNvSpPr>
            <a:spLocks noGrp="1"/>
          </p:cNvSpPr>
          <p:nvPr>
            <p:ph type="dt" sz="half" idx="10"/>
          </p:nvPr>
        </p:nvSpPr>
        <p:spPr/>
        <p:txBody>
          <a:bodyPr/>
          <a:lstStyle/>
          <a:p>
            <a:fld id="{8FD2010B-0304-4359-A36D-7ABB3F867AC8}" type="datetimeFigureOut">
              <a:rPr lang="it-IT" smtClean="0"/>
              <a:t>11/12/2025</a:t>
            </a:fld>
            <a:endParaRPr lang="it-IT"/>
          </a:p>
        </p:txBody>
      </p:sp>
      <p:sp>
        <p:nvSpPr>
          <p:cNvPr id="5" name="Segnaposto piè di pagina 4">
            <a:extLst>
              <a:ext uri="{FF2B5EF4-FFF2-40B4-BE49-F238E27FC236}">
                <a16:creationId xmlns:a16="http://schemas.microsoft.com/office/drawing/2014/main" id="{CBBD3EDA-4080-57C3-7844-35C438F58539}"/>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CBF9DF2A-1C54-987C-D14B-02DBA9E7C353}"/>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23978380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titolo 1">
            <a:extLst>
              <a:ext uri="{FF2B5EF4-FFF2-40B4-BE49-F238E27FC236}">
                <a16:creationId xmlns:a16="http://schemas.microsoft.com/office/drawing/2014/main" id="{A38C893F-6660-6807-1189-CD19430D127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it-IT"/>
              <a:t>Fare clic per modificare lo stile del titolo dello schema</a:t>
            </a:r>
          </a:p>
        </p:txBody>
      </p:sp>
      <p:sp>
        <p:nvSpPr>
          <p:cNvPr id="3" name="Segnaposto testo 2">
            <a:extLst>
              <a:ext uri="{FF2B5EF4-FFF2-40B4-BE49-F238E27FC236}">
                <a16:creationId xmlns:a16="http://schemas.microsoft.com/office/drawing/2014/main" id="{6E02A44D-32F0-7545-D7F9-8CDFE20EBB8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6517CE55-1C6F-8D1B-EAAE-F57BE00D8EC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FD2010B-0304-4359-A36D-7ABB3F867AC8}" type="datetimeFigureOut">
              <a:rPr lang="it-IT" smtClean="0"/>
              <a:t>11/12/2025</a:t>
            </a:fld>
            <a:endParaRPr lang="it-IT"/>
          </a:p>
        </p:txBody>
      </p:sp>
      <p:sp>
        <p:nvSpPr>
          <p:cNvPr id="5" name="Segnaposto piè di pagina 4">
            <a:extLst>
              <a:ext uri="{FF2B5EF4-FFF2-40B4-BE49-F238E27FC236}">
                <a16:creationId xmlns:a16="http://schemas.microsoft.com/office/drawing/2014/main" id="{33ABF1CA-1DDE-9D8C-8B18-E59C8574224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it-IT"/>
          </a:p>
        </p:txBody>
      </p:sp>
      <p:sp>
        <p:nvSpPr>
          <p:cNvPr id="6" name="Segnaposto numero diapositiva 5">
            <a:extLst>
              <a:ext uri="{FF2B5EF4-FFF2-40B4-BE49-F238E27FC236}">
                <a16:creationId xmlns:a16="http://schemas.microsoft.com/office/drawing/2014/main" id="{D8E9A230-1255-CF33-71CA-32D5A27B2E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71EA57E-E379-4B46-AB2C-561019FDBF6D}" type="slidenum">
              <a:rPr lang="it-IT" smtClean="0"/>
              <a:t>‹N›</a:t>
            </a:fld>
            <a:endParaRPr lang="it-IT"/>
          </a:p>
        </p:txBody>
      </p:sp>
    </p:spTree>
    <p:extLst>
      <p:ext uri="{BB962C8B-B14F-4D97-AF65-F5344CB8AC3E}">
        <p14:creationId xmlns:p14="http://schemas.microsoft.com/office/powerpoint/2010/main" val="427819958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4.jp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5.jp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6.jp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7.jp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8.jp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magine 2" descr="Immagine che contiene mappa, testo, diagramma&#10;&#10;Descrizione generata automaticamente">
            <a:extLst>
              <a:ext uri="{FF2B5EF4-FFF2-40B4-BE49-F238E27FC236}">
                <a16:creationId xmlns:a16="http://schemas.microsoft.com/office/drawing/2014/main" id="{B38E7429-5060-5B7C-8506-655E1C8CF9E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007" y="0"/>
            <a:ext cx="9697986" cy="6858000"/>
          </a:xfrm>
          <a:prstGeom prst="rect">
            <a:avLst/>
          </a:prstGeom>
        </p:spPr>
      </p:pic>
      <p:sp>
        <p:nvSpPr>
          <p:cNvPr id="4" name="CasellaDiTesto 3">
            <a:extLst>
              <a:ext uri="{FF2B5EF4-FFF2-40B4-BE49-F238E27FC236}">
                <a16:creationId xmlns:a16="http://schemas.microsoft.com/office/drawing/2014/main" id="{D5FC6E3C-5C82-FF38-D4BD-308B60B78F72}"/>
              </a:ext>
            </a:extLst>
          </p:cNvPr>
          <p:cNvSpPr txBox="1"/>
          <p:nvPr/>
        </p:nvSpPr>
        <p:spPr>
          <a:xfrm>
            <a:off x="7934771" y="255092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5" name="CasellaDiTesto 4">
            <a:extLst>
              <a:ext uri="{FF2B5EF4-FFF2-40B4-BE49-F238E27FC236}">
                <a16:creationId xmlns:a16="http://schemas.microsoft.com/office/drawing/2014/main" id="{7E20C863-3CE8-982A-1618-B7955DB48271}"/>
              </a:ext>
            </a:extLst>
          </p:cNvPr>
          <p:cNvSpPr txBox="1"/>
          <p:nvPr/>
        </p:nvSpPr>
        <p:spPr>
          <a:xfrm>
            <a:off x="7318049" y="2734718"/>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6" name="CasellaDiTesto 5">
            <a:extLst>
              <a:ext uri="{FF2B5EF4-FFF2-40B4-BE49-F238E27FC236}">
                <a16:creationId xmlns:a16="http://schemas.microsoft.com/office/drawing/2014/main" id="{3702C876-8011-056C-CEAE-60D698DDA7DC}"/>
              </a:ext>
            </a:extLst>
          </p:cNvPr>
          <p:cNvSpPr txBox="1"/>
          <p:nvPr/>
        </p:nvSpPr>
        <p:spPr>
          <a:xfrm>
            <a:off x="6701327" y="2734718"/>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9" name="CasellaDiTesto 8">
            <a:extLst>
              <a:ext uri="{FF2B5EF4-FFF2-40B4-BE49-F238E27FC236}">
                <a16:creationId xmlns:a16="http://schemas.microsoft.com/office/drawing/2014/main" id="{FE895E89-1966-148F-927D-F38AB575517A}"/>
              </a:ext>
            </a:extLst>
          </p:cNvPr>
          <p:cNvSpPr txBox="1"/>
          <p:nvPr/>
        </p:nvSpPr>
        <p:spPr>
          <a:xfrm>
            <a:off x="7209802" y="3152001"/>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4</a:t>
            </a:r>
          </a:p>
        </p:txBody>
      </p:sp>
      <p:grpSp>
        <p:nvGrpSpPr>
          <p:cNvPr id="12" name="Gruppo 11">
            <a:extLst>
              <a:ext uri="{FF2B5EF4-FFF2-40B4-BE49-F238E27FC236}">
                <a16:creationId xmlns:a16="http://schemas.microsoft.com/office/drawing/2014/main" id="{70042BF6-2E50-EF9E-C984-DDC13CA0220F}"/>
              </a:ext>
            </a:extLst>
          </p:cNvPr>
          <p:cNvGrpSpPr/>
          <p:nvPr/>
        </p:nvGrpSpPr>
        <p:grpSpPr>
          <a:xfrm>
            <a:off x="5219879" y="3899677"/>
            <a:ext cx="5429784" cy="2325547"/>
            <a:chOff x="5219879" y="3899677"/>
            <a:chExt cx="5429784" cy="2325547"/>
          </a:xfrm>
        </p:grpSpPr>
        <p:sp>
          <p:nvSpPr>
            <p:cNvPr id="7" name="CasellaDiTesto 6">
              <a:extLst>
                <a:ext uri="{FF2B5EF4-FFF2-40B4-BE49-F238E27FC236}">
                  <a16:creationId xmlns:a16="http://schemas.microsoft.com/office/drawing/2014/main" id="{AC2AC8C7-85E6-2BDC-C429-2EE4A5DC7003}"/>
                </a:ext>
              </a:extLst>
            </p:cNvPr>
            <p:cNvSpPr txBox="1"/>
            <p:nvPr/>
          </p:nvSpPr>
          <p:spPr>
            <a:xfrm>
              <a:off x="5219879" y="4532453"/>
              <a:ext cx="5429784" cy="1692771"/>
            </a:xfrm>
            <a:prstGeom prst="rect">
              <a:avLst/>
            </a:prstGeom>
            <a:solidFill>
              <a:srgbClr val="ECECEC"/>
            </a:solidFill>
          </p:spPr>
          <p:txBody>
            <a:bodyPr wrap="square" rtlCol="0">
              <a:spAutoFit/>
            </a:bodyPr>
            <a:lstStyle/>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Very deep, cold areas with extremely low bottom oxygen levels and very low surface productivity. Very high biomass despite fair salinity and fair shipping traffic, combined with very low fishing activity and the presence of dumping sites.</a:t>
              </a:r>
              <a:r>
                <a:rPr lang="it-IT"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p>
            <a:p>
              <a:pPr marL="228600" indent="-228600" algn="just">
                <a:buFont typeface="+mj-lt"/>
                <a:buAutoNum type="arabicPeriod"/>
              </a:pPr>
              <a:endParaRPr lang="it-IT"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Very deep, cold areas with extremely low bottom oxygen and very low surface productivity. Very high biomass despite fair salinity, very low fishing activity, and moderate shipping traffic. Only a minimal presence of wind farms.</a:t>
              </a:r>
            </a:p>
            <a:p>
              <a:pPr marL="228600" indent="-228600" algn="just">
                <a:buFont typeface="+mj-l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Shallow, cold areas with moderately low bottom oxygen and very low surface productivity. Very high biomass despite low salinity, fair fishing activity, and moderate shipping traffic, with only minimal wind-farm presence.</a:t>
              </a:r>
            </a:p>
            <a:p>
              <a:pPr marL="228600" indent="-228600" algn="just">
                <a:buFont typeface="+mj-l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Very deep, cold areas with extremely low bottom oxygen and very low surface productivity. Very high biomass despite low salinity, slightly high fishing activity, moderate shipping traffic, and the presence of wind farms.</a:t>
              </a:r>
              <a:endPar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11" name="CasellaDiTesto 10">
              <a:extLst>
                <a:ext uri="{FF2B5EF4-FFF2-40B4-BE49-F238E27FC236}">
                  <a16:creationId xmlns:a16="http://schemas.microsoft.com/office/drawing/2014/main" id="{68BF044D-BE7B-5396-1843-2C875EAC56F7}"/>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Multi K-</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means</a:t>
              </a:r>
              <a:endPar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All</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species</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p:txBody>
        </p:sp>
      </p:grpSp>
    </p:spTree>
    <p:extLst>
      <p:ext uri="{BB962C8B-B14F-4D97-AF65-F5344CB8AC3E}">
        <p14:creationId xmlns:p14="http://schemas.microsoft.com/office/powerpoint/2010/main" val="23264663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magine 7" descr="Immagine che contiene mappa, testo, diagramma&#10;&#10;Descrizione generata automaticamente">
            <a:extLst>
              <a:ext uri="{FF2B5EF4-FFF2-40B4-BE49-F238E27FC236}">
                <a16:creationId xmlns:a16="http://schemas.microsoft.com/office/drawing/2014/main" id="{A8C9D8DD-2C70-37D5-C0E8-D975123D3E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007" y="0"/>
            <a:ext cx="9697986" cy="6858000"/>
          </a:xfrm>
          <a:prstGeom prst="rect">
            <a:avLst/>
          </a:prstGeom>
        </p:spPr>
      </p:pic>
      <p:sp>
        <p:nvSpPr>
          <p:cNvPr id="4" name="CasellaDiTesto 3">
            <a:extLst>
              <a:ext uri="{FF2B5EF4-FFF2-40B4-BE49-F238E27FC236}">
                <a16:creationId xmlns:a16="http://schemas.microsoft.com/office/drawing/2014/main" id="{D5FC6E3C-5C82-FF38-D4BD-308B60B78F72}"/>
              </a:ext>
            </a:extLst>
          </p:cNvPr>
          <p:cNvSpPr txBox="1"/>
          <p:nvPr/>
        </p:nvSpPr>
        <p:spPr>
          <a:xfrm>
            <a:off x="7934771" y="255092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5" name="CasellaDiTesto 4">
            <a:extLst>
              <a:ext uri="{FF2B5EF4-FFF2-40B4-BE49-F238E27FC236}">
                <a16:creationId xmlns:a16="http://schemas.microsoft.com/office/drawing/2014/main" id="{7E20C863-3CE8-982A-1618-B7955DB48271}"/>
              </a:ext>
            </a:extLst>
          </p:cNvPr>
          <p:cNvSpPr txBox="1"/>
          <p:nvPr/>
        </p:nvSpPr>
        <p:spPr>
          <a:xfrm>
            <a:off x="7318049" y="2734718"/>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6" name="CasellaDiTesto 5">
            <a:extLst>
              <a:ext uri="{FF2B5EF4-FFF2-40B4-BE49-F238E27FC236}">
                <a16:creationId xmlns:a16="http://schemas.microsoft.com/office/drawing/2014/main" id="{3702C876-8011-056C-CEAE-60D698DDA7DC}"/>
              </a:ext>
            </a:extLst>
          </p:cNvPr>
          <p:cNvSpPr txBox="1"/>
          <p:nvPr/>
        </p:nvSpPr>
        <p:spPr>
          <a:xfrm>
            <a:off x="6701327" y="2734718"/>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9" name="CasellaDiTesto 8">
            <a:extLst>
              <a:ext uri="{FF2B5EF4-FFF2-40B4-BE49-F238E27FC236}">
                <a16:creationId xmlns:a16="http://schemas.microsoft.com/office/drawing/2014/main" id="{FE895E89-1966-148F-927D-F38AB575517A}"/>
              </a:ext>
            </a:extLst>
          </p:cNvPr>
          <p:cNvSpPr txBox="1"/>
          <p:nvPr/>
        </p:nvSpPr>
        <p:spPr>
          <a:xfrm>
            <a:off x="7209802" y="3152001"/>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4</a:t>
            </a:r>
          </a:p>
        </p:txBody>
      </p:sp>
      <p:grpSp>
        <p:nvGrpSpPr>
          <p:cNvPr id="12" name="Gruppo 11">
            <a:extLst>
              <a:ext uri="{FF2B5EF4-FFF2-40B4-BE49-F238E27FC236}">
                <a16:creationId xmlns:a16="http://schemas.microsoft.com/office/drawing/2014/main" id="{70042BF6-2E50-EF9E-C984-DDC13CA0220F}"/>
              </a:ext>
            </a:extLst>
          </p:cNvPr>
          <p:cNvGrpSpPr/>
          <p:nvPr/>
        </p:nvGrpSpPr>
        <p:grpSpPr>
          <a:xfrm>
            <a:off x="5219879" y="3899677"/>
            <a:ext cx="5429784" cy="2325547"/>
            <a:chOff x="5219879" y="3899677"/>
            <a:chExt cx="5429784" cy="2325547"/>
          </a:xfrm>
        </p:grpSpPr>
        <p:sp>
          <p:nvSpPr>
            <p:cNvPr id="7" name="CasellaDiTesto 6">
              <a:extLst>
                <a:ext uri="{FF2B5EF4-FFF2-40B4-BE49-F238E27FC236}">
                  <a16:creationId xmlns:a16="http://schemas.microsoft.com/office/drawing/2014/main" id="{AC2AC8C7-85E6-2BDC-C429-2EE4A5DC7003}"/>
                </a:ext>
              </a:extLst>
            </p:cNvPr>
            <p:cNvSpPr txBox="1"/>
            <p:nvPr/>
          </p:nvSpPr>
          <p:spPr>
            <a:xfrm>
              <a:off x="5219879" y="4532453"/>
              <a:ext cx="5429784" cy="1692771"/>
            </a:xfrm>
            <a:prstGeom prst="rect">
              <a:avLst/>
            </a:prstGeom>
            <a:solidFill>
              <a:srgbClr val="ECECEC"/>
            </a:solidFill>
          </p:spPr>
          <p:txBody>
            <a:bodyPr wrap="square" rtlCol="0">
              <a:spAutoFit/>
            </a:bodyPr>
            <a:lstStyle/>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Very deep, cold areas with extremely low bottom oxygen levels and very low surface productivity. Very high biomass despite fair salinity and fair shipping traffic, combined with very low fishing activity and the presence of dumping sites.</a:t>
              </a:r>
              <a:r>
                <a:rPr lang="it-IT"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p>
            <a:p>
              <a:pPr marL="228600" indent="-228600" algn="just">
                <a:buFont typeface="+mj-lt"/>
                <a:buAutoNum type="arabicPeriod"/>
              </a:pPr>
              <a:endParaRPr lang="it-IT"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Very deep, cold areas with extremely low bottom oxygen and very low surface productivity. Very high biomass despite fair salinity, very low fishing activity, and moderate shipping traffic. Only a minimal presence of wind farms.</a:t>
              </a:r>
            </a:p>
            <a:p>
              <a:pPr marL="228600" indent="-228600" algn="just">
                <a:buFont typeface="+mj-l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Shallow, cold areas with moderately low bottom oxygen and very low surface productivity. Very high biomass despite low salinity, fair fishing activity, and moderate shipping traffic, with only minimal wind-farm presence.</a:t>
              </a:r>
            </a:p>
            <a:p>
              <a:pPr marL="228600" indent="-228600" algn="just">
                <a:buFont typeface="+mj-l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Very deep, cold areas with extremely low bottom oxygen and very low surface productivity. Very high biomass despite low salinity, slightly high fishing activity, moderate shipping traffic, and the presence of wind farms.</a:t>
              </a:r>
              <a:endPar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11" name="CasellaDiTesto 10">
              <a:extLst>
                <a:ext uri="{FF2B5EF4-FFF2-40B4-BE49-F238E27FC236}">
                  <a16:creationId xmlns:a16="http://schemas.microsoft.com/office/drawing/2014/main" id="{68BF044D-BE7B-5396-1843-2C875EAC56F7}"/>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Multi K-</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means</a:t>
              </a:r>
              <a:endPar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All</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species</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p:txBody>
        </p:sp>
      </p:grpSp>
    </p:spTree>
    <p:extLst>
      <p:ext uri="{BB962C8B-B14F-4D97-AF65-F5344CB8AC3E}">
        <p14:creationId xmlns:p14="http://schemas.microsoft.com/office/powerpoint/2010/main" val="219650323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magine 7" descr="Immagine che contiene mappa, testo, diagramma&#10;&#10;Descrizione generata automaticamente">
            <a:extLst>
              <a:ext uri="{FF2B5EF4-FFF2-40B4-BE49-F238E27FC236}">
                <a16:creationId xmlns:a16="http://schemas.microsoft.com/office/drawing/2014/main" id="{75BD8736-82B3-2322-49F8-3BCD921C34B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007" y="0"/>
            <a:ext cx="9697986" cy="6858000"/>
          </a:xfrm>
          <a:prstGeom prst="rect">
            <a:avLst/>
          </a:prstGeom>
        </p:spPr>
      </p:pic>
      <p:grpSp>
        <p:nvGrpSpPr>
          <p:cNvPr id="12" name="Gruppo 11">
            <a:extLst>
              <a:ext uri="{FF2B5EF4-FFF2-40B4-BE49-F238E27FC236}">
                <a16:creationId xmlns:a16="http://schemas.microsoft.com/office/drawing/2014/main" id="{70042BF6-2E50-EF9E-C984-DDC13CA0220F}"/>
              </a:ext>
            </a:extLst>
          </p:cNvPr>
          <p:cNvGrpSpPr/>
          <p:nvPr/>
        </p:nvGrpSpPr>
        <p:grpSpPr>
          <a:xfrm>
            <a:off x="5219879" y="3899677"/>
            <a:ext cx="5429784" cy="2125492"/>
            <a:chOff x="5219879" y="3899677"/>
            <a:chExt cx="5429784" cy="2125492"/>
          </a:xfrm>
        </p:grpSpPr>
        <p:sp>
          <p:nvSpPr>
            <p:cNvPr id="7" name="CasellaDiTesto 6">
              <a:extLst>
                <a:ext uri="{FF2B5EF4-FFF2-40B4-BE49-F238E27FC236}">
                  <a16:creationId xmlns:a16="http://schemas.microsoft.com/office/drawing/2014/main" id="{AC2AC8C7-85E6-2BDC-C429-2EE4A5DC7003}"/>
                </a:ext>
              </a:extLst>
            </p:cNvPr>
            <p:cNvSpPr txBox="1"/>
            <p:nvPr/>
          </p:nvSpPr>
          <p:spPr>
            <a:xfrm>
              <a:off x="5219879" y="4532453"/>
              <a:ext cx="5429784" cy="1492716"/>
            </a:xfrm>
            <a:prstGeom prst="rect">
              <a:avLst/>
            </a:prstGeom>
            <a:solidFill>
              <a:srgbClr val="ECECEC"/>
            </a:solidFill>
          </p:spPr>
          <p:txBody>
            <a:bodyPr wrap="square" rtlCol="0">
              <a:spAutoFit/>
            </a:bodyPr>
            <a:lstStyle/>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Very deep, cold areas with extremely low bottom oxygen and very low surface productivity. Very high biomass of five commercial demersal species, high salinity, high fishing activity, and fair shipping traffic. Strong anthropogenic influence with a dominant presence of dumping sites and minor military areas and wind farms.</a:t>
              </a:r>
            </a:p>
            <a:p>
              <a:pPr marL="228600" indent="-228600" algn="just">
                <a:buAutoNum type="arabicPeriod"/>
              </a:pPr>
              <a:endParaRPr lang="it-IT"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Very deep, cold areas with low bottom oxygen and fair surface productivity. Very high biomass of five commercial demersal species, extremely high fishing activity, moderate shipping traffic, and moderate salinity, with minor presence of military areas.</a:t>
              </a:r>
            </a:p>
            <a:p>
              <a:pPr marL="228600" indent="-228600" algn="just">
                <a:buFont typeface="+mj-l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Very deep, cold areas with low bottom oxygen and fair surface productivity. Very high biomass of five commercial demersal species, very high fishing activity, moderate shipping traffic, and low salinity.</a:t>
              </a:r>
            </a:p>
            <a:p>
              <a:pPr marL="228600" indent="-228600" algn="just">
                <a:buFont typeface="+mj-lt"/>
                <a:buAutoNum type="arabicPeriod"/>
              </a:pPr>
              <a:endPar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11" name="CasellaDiTesto 10">
              <a:extLst>
                <a:ext uri="{FF2B5EF4-FFF2-40B4-BE49-F238E27FC236}">
                  <a16:creationId xmlns:a16="http://schemas.microsoft.com/office/drawing/2014/main" id="{68BF044D-BE7B-5396-1843-2C875EAC56F7}"/>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Multi K-</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means</a:t>
              </a:r>
              <a:endPar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Five</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species</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p:txBody>
        </p:sp>
      </p:grpSp>
      <p:sp>
        <p:nvSpPr>
          <p:cNvPr id="4" name="CasellaDiTesto 3">
            <a:extLst>
              <a:ext uri="{FF2B5EF4-FFF2-40B4-BE49-F238E27FC236}">
                <a16:creationId xmlns:a16="http://schemas.microsoft.com/office/drawing/2014/main" id="{D5FC6E3C-5C82-FF38-D4BD-308B60B78F72}"/>
              </a:ext>
            </a:extLst>
          </p:cNvPr>
          <p:cNvSpPr txBox="1"/>
          <p:nvPr/>
        </p:nvSpPr>
        <p:spPr>
          <a:xfrm>
            <a:off x="6096000" y="3128401"/>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5" name="CasellaDiTesto 4">
            <a:extLst>
              <a:ext uri="{FF2B5EF4-FFF2-40B4-BE49-F238E27FC236}">
                <a16:creationId xmlns:a16="http://schemas.microsoft.com/office/drawing/2014/main" id="{7E20C863-3CE8-982A-1618-B7955DB48271}"/>
              </a:ext>
            </a:extLst>
          </p:cNvPr>
          <p:cNvSpPr txBox="1"/>
          <p:nvPr/>
        </p:nvSpPr>
        <p:spPr>
          <a:xfrm>
            <a:off x="7984050" y="342900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6" name="CasellaDiTesto 5">
            <a:extLst>
              <a:ext uri="{FF2B5EF4-FFF2-40B4-BE49-F238E27FC236}">
                <a16:creationId xmlns:a16="http://schemas.microsoft.com/office/drawing/2014/main" id="{3702C876-8011-056C-CEAE-60D698DDA7DC}"/>
              </a:ext>
            </a:extLst>
          </p:cNvPr>
          <p:cNvSpPr txBox="1"/>
          <p:nvPr/>
        </p:nvSpPr>
        <p:spPr>
          <a:xfrm>
            <a:off x="7138301" y="3128401"/>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Tree>
    <p:extLst>
      <p:ext uri="{BB962C8B-B14F-4D97-AF65-F5344CB8AC3E}">
        <p14:creationId xmlns:p14="http://schemas.microsoft.com/office/powerpoint/2010/main" val="14930328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magine 2" descr="Immagine che contiene mappa, testo, diagramma, atlante&#10;&#10;Descrizione generata automaticamente">
            <a:extLst>
              <a:ext uri="{FF2B5EF4-FFF2-40B4-BE49-F238E27FC236}">
                <a16:creationId xmlns:a16="http://schemas.microsoft.com/office/drawing/2014/main" id="{3BD079C5-40D5-77DD-77B0-6454F5DC12E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007" y="0"/>
            <a:ext cx="9697986" cy="6858000"/>
          </a:xfrm>
          <a:prstGeom prst="rect">
            <a:avLst/>
          </a:prstGeom>
        </p:spPr>
      </p:pic>
      <p:grpSp>
        <p:nvGrpSpPr>
          <p:cNvPr id="12" name="Gruppo 11">
            <a:extLst>
              <a:ext uri="{FF2B5EF4-FFF2-40B4-BE49-F238E27FC236}">
                <a16:creationId xmlns:a16="http://schemas.microsoft.com/office/drawing/2014/main" id="{70042BF6-2E50-EF9E-C984-DDC13CA0220F}"/>
              </a:ext>
            </a:extLst>
          </p:cNvPr>
          <p:cNvGrpSpPr/>
          <p:nvPr/>
        </p:nvGrpSpPr>
        <p:grpSpPr>
          <a:xfrm>
            <a:off x="5219879" y="3899677"/>
            <a:ext cx="5429784" cy="2125492"/>
            <a:chOff x="5219879" y="3899677"/>
            <a:chExt cx="5429784" cy="2125492"/>
          </a:xfrm>
        </p:grpSpPr>
        <p:sp>
          <p:nvSpPr>
            <p:cNvPr id="7" name="CasellaDiTesto 6">
              <a:extLst>
                <a:ext uri="{FF2B5EF4-FFF2-40B4-BE49-F238E27FC236}">
                  <a16:creationId xmlns:a16="http://schemas.microsoft.com/office/drawing/2014/main" id="{AC2AC8C7-85E6-2BDC-C429-2EE4A5DC7003}"/>
                </a:ext>
              </a:extLst>
            </p:cNvPr>
            <p:cNvSpPr txBox="1"/>
            <p:nvPr/>
          </p:nvSpPr>
          <p:spPr>
            <a:xfrm>
              <a:off x="5219879" y="4532453"/>
              <a:ext cx="5429784" cy="1492716"/>
            </a:xfrm>
            <a:prstGeom prst="rect">
              <a:avLst/>
            </a:prstGeom>
            <a:solidFill>
              <a:srgbClr val="ECECEC"/>
            </a:solidFill>
          </p:spPr>
          <p:txBody>
            <a:bodyPr wrap="square" rtlCol="0">
              <a:spAutoFit/>
            </a:bodyPr>
            <a:lstStyle/>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Very deep, cold areas with extremely low bottom oxygen and very low surface productivity. Very high biomass of five commercial demersal species, high salinity, high fishing activity, and fair shipping traffic. Strong anthropogenic influence with a dominant presence of dumping sites and minor military areas and wind farms.</a:t>
              </a:r>
            </a:p>
            <a:p>
              <a:pPr marL="228600" indent="-228600" algn="just">
                <a:buAutoNum type="arabicPeriod"/>
              </a:pPr>
              <a:endParaRPr lang="it-IT"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Very deep, cold areas with low bottom oxygen and fair surface productivity. Very high biomass of five commercial demersal species, extremely high fishing activity, moderate shipping traffic, and moderate salinity, with minor presence of military areas.</a:t>
              </a:r>
            </a:p>
            <a:p>
              <a:pPr marL="228600" indent="-228600" algn="just">
                <a:buFont typeface="+mj-l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Very deep, cold areas with low bottom oxygen and fair surface productivity. Very high biomass of five commercial demersal species, very high fishing activity, moderate shipping traffic, and low salinity.</a:t>
              </a:r>
            </a:p>
            <a:p>
              <a:pPr marL="228600" indent="-228600" algn="just">
                <a:buFont typeface="+mj-lt"/>
                <a:buAutoNum type="arabicPeriod"/>
              </a:pPr>
              <a:endPar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11" name="CasellaDiTesto 10">
              <a:extLst>
                <a:ext uri="{FF2B5EF4-FFF2-40B4-BE49-F238E27FC236}">
                  <a16:creationId xmlns:a16="http://schemas.microsoft.com/office/drawing/2014/main" id="{68BF044D-BE7B-5396-1843-2C875EAC56F7}"/>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Multi K-</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means</a:t>
              </a:r>
              <a:endPar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Five</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species</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p:txBody>
        </p:sp>
      </p:grpSp>
      <p:sp>
        <p:nvSpPr>
          <p:cNvPr id="4" name="CasellaDiTesto 3">
            <a:extLst>
              <a:ext uri="{FF2B5EF4-FFF2-40B4-BE49-F238E27FC236}">
                <a16:creationId xmlns:a16="http://schemas.microsoft.com/office/drawing/2014/main" id="{D5FC6E3C-5C82-FF38-D4BD-308B60B78F72}"/>
              </a:ext>
            </a:extLst>
          </p:cNvPr>
          <p:cNvSpPr txBox="1"/>
          <p:nvPr/>
        </p:nvSpPr>
        <p:spPr>
          <a:xfrm>
            <a:off x="6096000" y="3128401"/>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5" name="CasellaDiTesto 4">
            <a:extLst>
              <a:ext uri="{FF2B5EF4-FFF2-40B4-BE49-F238E27FC236}">
                <a16:creationId xmlns:a16="http://schemas.microsoft.com/office/drawing/2014/main" id="{7E20C863-3CE8-982A-1618-B7955DB48271}"/>
              </a:ext>
            </a:extLst>
          </p:cNvPr>
          <p:cNvSpPr txBox="1"/>
          <p:nvPr/>
        </p:nvSpPr>
        <p:spPr>
          <a:xfrm>
            <a:off x="7984050" y="342900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6" name="CasellaDiTesto 5">
            <a:extLst>
              <a:ext uri="{FF2B5EF4-FFF2-40B4-BE49-F238E27FC236}">
                <a16:creationId xmlns:a16="http://schemas.microsoft.com/office/drawing/2014/main" id="{3702C876-8011-056C-CEAE-60D698DDA7DC}"/>
              </a:ext>
            </a:extLst>
          </p:cNvPr>
          <p:cNvSpPr txBox="1"/>
          <p:nvPr/>
        </p:nvSpPr>
        <p:spPr>
          <a:xfrm>
            <a:off x="7138301" y="3128401"/>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Tree>
    <p:extLst>
      <p:ext uri="{BB962C8B-B14F-4D97-AF65-F5344CB8AC3E}">
        <p14:creationId xmlns:p14="http://schemas.microsoft.com/office/powerpoint/2010/main" val="25945515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magine 4" descr="Immagine che contiene mappa, testo, diagramma, atlante&#10;&#10;Descrizione generata automaticamente">
            <a:extLst>
              <a:ext uri="{FF2B5EF4-FFF2-40B4-BE49-F238E27FC236}">
                <a16:creationId xmlns:a16="http://schemas.microsoft.com/office/drawing/2014/main" id="{483F4012-9532-63EE-D0A2-F4852DC962C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007" y="0"/>
            <a:ext cx="9697986" cy="6858000"/>
          </a:xfrm>
          <a:prstGeom prst="rect">
            <a:avLst/>
          </a:prstGeom>
        </p:spPr>
      </p:pic>
      <p:grpSp>
        <p:nvGrpSpPr>
          <p:cNvPr id="6" name="Gruppo 5">
            <a:extLst>
              <a:ext uri="{FF2B5EF4-FFF2-40B4-BE49-F238E27FC236}">
                <a16:creationId xmlns:a16="http://schemas.microsoft.com/office/drawing/2014/main" id="{B74AEFEA-4FD0-B0B7-C9FB-5104C6A6979B}"/>
              </a:ext>
            </a:extLst>
          </p:cNvPr>
          <p:cNvGrpSpPr/>
          <p:nvPr/>
        </p:nvGrpSpPr>
        <p:grpSpPr>
          <a:xfrm>
            <a:off x="5219879" y="3899677"/>
            <a:ext cx="5429784" cy="2202305"/>
            <a:chOff x="5219879" y="3899677"/>
            <a:chExt cx="5429784" cy="2202305"/>
          </a:xfrm>
        </p:grpSpPr>
        <p:sp>
          <p:nvSpPr>
            <p:cNvPr id="7" name="CasellaDiTesto 6">
              <a:extLst>
                <a:ext uri="{FF2B5EF4-FFF2-40B4-BE49-F238E27FC236}">
                  <a16:creationId xmlns:a16="http://schemas.microsoft.com/office/drawing/2014/main" id="{FB9C796C-B593-02A0-402F-B29783ADA7D6}"/>
                </a:ext>
              </a:extLst>
            </p:cNvPr>
            <p:cNvSpPr txBox="1"/>
            <p:nvPr/>
          </p:nvSpPr>
          <p:spPr>
            <a:xfrm>
              <a:off x="5219879" y="4532322"/>
              <a:ext cx="5429784" cy="1569660"/>
            </a:xfrm>
            <a:prstGeom prst="rect">
              <a:avLst/>
            </a:prstGeom>
            <a:solidFill>
              <a:srgbClr val="ECECEC"/>
            </a:solidFill>
          </p:spPr>
          <p:txBody>
            <a:bodyPr wrap="square" rtlCol="0">
              <a:spAutoFit/>
            </a:bodyPr>
            <a:lstStyle/>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Shallow, warm areas with slightly low bottom oxygen and very high surface productivity. Moderate to high biomass of </a:t>
              </a:r>
              <a:r>
                <a:rPr lang="en-US" sz="8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moderately high fishing activity, moderate shipping traffic, and moderate salinity. Minor anthropogenic influence with light presence of dumping sites, military areas, and wind farms.</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Fairly deep, cool areas with extremely low bottom oxygen and high surface productivity. High biomass of </a:t>
              </a:r>
              <a:r>
                <a:rPr lang="en-US" sz="8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 </a:t>
              </a:r>
              <a:r>
                <a:rPr lang="en-US" sz="8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moderately high fishing activity, moderate shipping traffic, and fair salinity. Minimal presence of wind farms. Partly </a:t>
              </a:r>
              <a:r>
                <a:rPr lang="en-US" sz="8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hardrock</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seafloor.</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Fairly deep, cool areas with moderately low bottom oxygen and moderate surface productivity. High biomass of </a:t>
              </a:r>
              <a:r>
                <a:rPr lang="en-US" sz="8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moderately high fishing activity, moderate shipping traffic, and fair salinity. Minimal anthropogenic influence, with only light presence of dumping sites, military areas, and wind farms. Partly </a:t>
              </a:r>
              <a:r>
                <a:rPr lang="en-US" sz="8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hardrock</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seafloor.</a:t>
              </a:r>
            </a:p>
          </p:txBody>
        </p:sp>
        <p:sp>
          <p:nvSpPr>
            <p:cNvPr id="8" name="CasellaDiTesto 7">
              <a:extLst>
                <a:ext uri="{FF2B5EF4-FFF2-40B4-BE49-F238E27FC236}">
                  <a16:creationId xmlns:a16="http://schemas.microsoft.com/office/drawing/2014/main" id="{02E62B29-E12E-426E-E13E-639E86F2DB5B}"/>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Multi K-</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means</a:t>
              </a:r>
              <a:endPar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p>
          </p:txBody>
        </p:sp>
      </p:grpSp>
      <p:sp>
        <p:nvSpPr>
          <p:cNvPr id="9" name="CasellaDiTesto 8">
            <a:extLst>
              <a:ext uri="{FF2B5EF4-FFF2-40B4-BE49-F238E27FC236}">
                <a16:creationId xmlns:a16="http://schemas.microsoft.com/office/drawing/2014/main" id="{CE88400E-970D-F4CB-FFE1-A3EE8A3C68FD}"/>
              </a:ext>
            </a:extLst>
          </p:cNvPr>
          <p:cNvSpPr txBox="1"/>
          <p:nvPr/>
        </p:nvSpPr>
        <p:spPr>
          <a:xfrm>
            <a:off x="4363914" y="2962719"/>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10" name="CasellaDiTesto 9">
            <a:extLst>
              <a:ext uri="{FF2B5EF4-FFF2-40B4-BE49-F238E27FC236}">
                <a16:creationId xmlns:a16="http://schemas.microsoft.com/office/drawing/2014/main" id="{614DBA9D-0EDF-9CE0-FB2C-E5E723825D7F}"/>
              </a:ext>
            </a:extLst>
          </p:cNvPr>
          <p:cNvSpPr txBox="1"/>
          <p:nvPr/>
        </p:nvSpPr>
        <p:spPr>
          <a:xfrm>
            <a:off x="7242050" y="3206168"/>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11" name="CasellaDiTesto 10">
            <a:extLst>
              <a:ext uri="{FF2B5EF4-FFF2-40B4-BE49-F238E27FC236}">
                <a16:creationId xmlns:a16="http://schemas.microsoft.com/office/drawing/2014/main" id="{4C0B5442-9E58-9CB4-07EF-4870CD051E09}"/>
              </a:ext>
            </a:extLst>
          </p:cNvPr>
          <p:cNvSpPr txBox="1"/>
          <p:nvPr/>
        </p:nvSpPr>
        <p:spPr>
          <a:xfrm>
            <a:off x="6303698" y="3388812"/>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13" name="CasellaDiTesto 12">
            <a:extLst>
              <a:ext uri="{FF2B5EF4-FFF2-40B4-BE49-F238E27FC236}">
                <a16:creationId xmlns:a16="http://schemas.microsoft.com/office/drawing/2014/main" id="{4401768A-4A3A-D401-BDAE-92B0CBA0E1E6}"/>
              </a:ext>
            </a:extLst>
          </p:cNvPr>
          <p:cNvSpPr txBox="1"/>
          <p:nvPr/>
        </p:nvSpPr>
        <p:spPr>
          <a:xfrm>
            <a:off x="7834558" y="3388812"/>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Tree>
    <p:extLst>
      <p:ext uri="{BB962C8B-B14F-4D97-AF65-F5344CB8AC3E}">
        <p14:creationId xmlns:p14="http://schemas.microsoft.com/office/powerpoint/2010/main" val="19728422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magine 2" descr="Immagine che contiene mappa, testo, diagramma, atlante&#10;&#10;Descrizione generata automaticamente">
            <a:extLst>
              <a:ext uri="{FF2B5EF4-FFF2-40B4-BE49-F238E27FC236}">
                <a16:creationId xmlns:a16="http://schemas.microsoft.com/office/drawing/2014/main" id="{DBB7B2F1-07EE-479F-CA24-DD9EDD6D2D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007" y="0"/>
            <a:ext cx="9697986" cy="6858000"/>
          </a:xfrm>
          <a:prstGeom prst="rect">
            <a:avLst/>
          </a:prstGeom>
        </p:spPr>
      </p:pic>
      <p:grpSp>
        <p:nvGrpSpPr>
          <p:cNvPr id="6" name="Gruppo 5">
            <a:extLst>
              <a:ext uri="{FF2B5EF4-FFF2-40B4-BE49-F238E27FC236}">
                <a16:creationId xmlns:a16="http://schemas.microsoft.com/office/drawing/2014/main" id="{B74AEFEA-4FD0-B0B7-C9FB-5104C6A6979B}"/>
              </a:ext>
            </a:extLst>
          </p:cNvPr>
          <p:cNvGrpSpPr/>
          <p:nvPr/>
        </p:nvGrpSpPr>
        <p:grpSpPr>
          <a:xfrm>
            <a:off x="5219879" y="3899677"/>
            <a:ext cx="5429784" cy="2202305"/>
            <a:chOff x="5219879" y="3899677"/>
            <a:chExt cx="5429784" cy="2202305"/>
          </a:xfrm>
        </p:grpSpPr>
        <p:sp>
          <p:nvSpPr>
            <p:cNvPr id="7" name="CasellaDiTesto 6">
              <a:extLst>
                <a:ext uri="{FF2B5EF4-FFF2-40B4-BE49-F238E27FC236}">
                  <a16:creationId xmlns:a16="http://schemas.microsoft.com/office/drawing/2014/main" id="{FB9C796C-B593-02A0-402F-B29783ADA7D6}"/>
                </a:ext>
              </a:extLst>
            </p:cNvPr>
            <p:cNvSpPr txBox="1"/>
            <p:nvPr/>
          </p:nvSpPr>
          <p:spPr>
            <a:xfrm>
              <a:off x="5219879" y="4532322"/>
              <a:ext cx="5429784" cy="1569660"/>
            </a:xfrm>
            <a:prstGeom prst="rect">
              <a:avLst/>
            </a:prstGeom>
            <a:solidFill>
              <a:srgbClr val="ECECEC"/>
            </a:solidFill>
          </p:spPr>
          <p:txBody>
            <a:bodyPr wrap="square" rtlCol="0">
              <a:spAutoFit/>
            </a:bodyPr>
            <a:lstStyle/>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Shallow, warm areas with slightly low bottom oxygen and very high surface productivity. Moderate to high biomass of </a:t>
              </a:r>
              <a:r>
                <a:rPr lang="en-US" sz="8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moderately high fishing activity, moderate shipping traffic, and moderate salinity. Minor anthropogenic influence with light presence of dumping sites, military areas, and wind farms.</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Fairly deep, cool areas with extremely low bottom oxygen and high surface productivity. High biomass of </a:t>
              </a:r>
              <a:r>
                <a:rPr lang="en-US" sz="8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 </a:t>
              </a:r>
              <a:r>
                <a:rPr lang="en-US" sz="8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moderately high fishing activity, moderate shipping traffic, and fair salinity. Minimal presence of wind farms. Partly </a:t>
              </a:r>
              <a:r>
                <a:rPr lang="en-US" sz="8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hardrock</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seafloor.</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Fairly deep, cool areas with moderately low bottom oxygen and moderate surface productivity. High biomass of </a:t>
              </a:r>
              <a:r>
                <a:rPr lang="en-US" sz="8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moderately high fishing activity, moderate shipping traffic, and fair salinity. Minimal anthropogenic influence, with only light presence of dumping sites, military areas, and wind farms. Partly </a:t>
              </a:r>
              <a:r>
                <a:rPr lang="en-US" sz="8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hardrock</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seafloor.</a:t>
              </a:r>
            </a:p>
          </p:txBody>
        </p:sp>
        <p:sp>
          <p:nvSpPr>
            <p:cNvPr id="8" name="CasellaDiTesto 7">
              <a:extLst>
                <a:ext uri="{FF2B5EF4-FFF2-40B4-BE49-F238E27FC236}">
                  <a16:creationId xmlns:a16="http://schemas.microsoft.com/office/drawing/2014/main" id="{02E62B29-E12E-426E-E13E-639E86F2DB5B}"/>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Multi K-</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means</a:t>
              </a:r>
              <a:endPar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p>
          </p:txBody>
        </p:sp>
      </p:grpSp>
      <p:sp>
        <p:nvSpPr>
          <p:cNvPr id="9" name="CasellaDiTesto 8">
            <a:extLst>
              <a:ext uri="{FF2B5EF4-FFF2-40B4-BE49-F238E27FC236}">
                <a16:creationId xmlns:a16="http://schemas.microsoft.com/office/drawing/2014/main" id="{CE88400E-970D-F4CB-FFE1-A3EE8A3C68FD}"/>
              </a:ext>
            </a:extLst>
          </p:cNvPr>
          <p:cNvSpPr txBox="1"/>
          <p:nvPr/>
        </p:nvSpPr>
        <p:spPr>
          <a:xfrm>
            <a:off x="4363914" y="2962719"/>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10" name="CasellaDiTesto 9">
            <a:extLst>
              <a:ext uri="{FF2B5EF4-FFF2-40B4-BE49-F238E27FC236}">
                <a16:creationId xmlns:a16="http://schemas.microsoft.com/office/drawing/2014/main" id="{614DBA9D-0EDF-9CE0-FB2C-E5E723825D7F}"/>
              </a:ext>
            </a:extLst>
          </p:cNvPr>
          <p:cNvSpPr txBox="1"/>
          <p:nvPr/>
        </p:nvSpPr>
        <p:spPr>
          <a:xfrm>
            <a:off x="7242050" y="3206168"/>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11" name="CasellaDiTesto 10">
            <a:extLst>
              <a:ext uri="{FF2B5EF4-FFF2-40B4-BE49-F238E27FC236}">
                <a16:creationId xmlns:a16="http://schemas.microsoft.com/office/drawing/2014/main" id="{4C0B5442-9E58-9CB4-07EF-4870CD051E09}"/>
              </a:ext>
            </a:extLst>
          </p:cNvPr>
          <p:cNvSpPr txBox="1"/>
          <p:nvPr/>
        </p:nvSpPr>
        <p:spPr>
          <a:xfrm>
            <a:off x="6303698" y="3388812"/>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13" name="CasellaDiTesto 12">
            <a:extLst>
              <a:ext uri="{FF2B5EF4-FFF2-40B4-BE49-F238E27FC236}">
                <a16:creationId xmlns:a16="http://schemas.microsoft.com/office/drawing/2014/main" id="{4401768A-4A3A-D401-BDAE-92B0CBA0E1E6}"/>
              </a:ext>
            </a:extLst>
          </p:cNvPr>
          <p:cNvSpPr txBox="1"/>
          <p:nvPr/>
        </p:nvSpPr>
        <p:spPr>
          <a:xfrm>
            <a:off x="7834558" y="3388812"/>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Tree>
    <p:extLst>
      <p:ext uri="{BB962C8B-B14F-4D97-AF65-F5344CB8AC3E}">
        <p14:creationId xmlns:p14="http://schemas.microsoft.com/office/powerpoint/2010/main" val="37453617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magine 3" descr="Immagine che contiene mappa, testo, diagramma&#10;&#10;Descrizione generata automaticamente">
            <a:extLst>
              <a:ext uri="{FF2B5EF4-FFF2-40B4-BE49-F238E27FC236}">
                <a16:creationId xmlns:a16="http://schemas.microsoft.com/office/drawing/2014/main" id="{8DE16B32-7DA1-D0CF-3C5C-7C80C38A629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007" y="0"/>
            <a:ext cx="9697986" cy="6858000"/>
          </a:xfrm>
          <a:prstGeom prst="rect">
            <a:avLst/>
          </a:prstGeom>
        </p:spPr>
      </p:pic>
      <p:grpSp>
        <p:nvGrpSpPr>
          <p:cNvPr id="2" name="Gruppo 1">
            <a:extLst>
              <a:ext uri="{FF2B5EF4-FFF2-40B4-BE49-F238E27FC236}">
                <a16:creationId xmlns:a16="http://schemas.microsoft.com/office/drawing/2014/main" id="{E378CCE6-F51C-D331-7738-90A74702CCAD}"/>
              </a:ext>
            </a:extLst>
          </p:cNvPr>
          <p:cNvGrpSpPr/>
          <p:nvPr/>
        </p:nvGrpSpPr>
        <p:grpSpPr>
          <a:xfrm>
            <a:off x="5219879" y="3899677"/>
            <a:ext cx="5429784" cy="2392442"/>
            <a:chOff x="5219879" y="3899677"/>
            <a:chExt cx="5429784" cy="2392442"/>
          </a:xfrm>
        </p:grpSpPr>
        <p:sp>
          <p:nvSpPr>
            <p:cNvPr id="3" name="CasellaDiTesto 2">
              <a:extLst>
                <a:ext uri="{FF2B5EF4-FFF2-40B4-BE49-F238E27FC236}">
                  <a16:creationId xmlns:a16="http://schemas.microsoft.com/office/drawing/2014/main" id="{CF3F7C6E-12B9-11EF-A3F9-6589C51248EF}"/>
                </a:ext>
              </a:extLst>
            </p:cNvPr>
            <p:cNvSpPr txBox="1"/>
            <p:nvPr/>
          </p:nvSpPr>
          <p:spPr>
            <a:xfrm>
              <a:off x="5219879" y="4476237"/>
              <a:ext cx="5429784" cy="1815882"/>
            </a:xfrm>
            <a:prstGeom prst="rect">
              <a:avLst/>
            </a:prstGeom>
            <a:solidFill>
              <a:srgbClr val="ECECEC"/>
            </a:solidFill>
          </p:spPr>
          <p:txBody>
            <a:bodyPr wrap="square" rtlCol="0">
              <a:spAutoFit/>
            </a:bodyPr>
            <a:lstStyle/>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Shallow, cold areas with high bottom oxygen and moderate surface productivity. Very high biomass, moderately high fishing activity, moderate shipping traffic, and low salinity. Minimal anthropogenic influence, limited to minor military areas, with partly </a:t>
              </a:r>
              <a:r>
                <a:rPr lang="en-US" sz="8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hardrock</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seafloor.</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Shallow areas with cool bottom waters, very high biomass, and moderate surface productivity. Moderately high fishing activity, moderate shipping traffic, and low salinity, with high bottom oxygen levels. Minimal anthropogenic influence, limited to minor military areas.</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Deep, cold areas with low bottom oxygen and low surface productivity. Very high biomass, moderate fishing activity, moderate shipping traffic, and moderate to high salinity. Strong presence of dumping sites and only minimal military influence.</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Fairly deep, cold areas with low bottom oxygen and moderate surface productivity. High biomass, moderate to high fishing activity, high shipping traffic, and low salinity. Minimal presence of wind farms.</a:t>
              </a:r>
            </a:p>
          </p:txBody>
        </p:sp>
        <p:sp>
          <p:nvSpPr>
            <p:cNvPr id="14" name="CasellaDiTesto 13">
              <a:extLst>
                <a:ext uri="{FF2B5EF4-FFF2-40B4-BE49-F238E27FC236}">
                  <a16:creationId xmlns:a16="http://schemas.microsoft.com/office/drawing/2014/main" id="{44FF6EB3-7153-BF5C-AFAF-B520DF247DD5}"/>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VAE (+ </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mkm</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All</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species</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p:txBody>
        </p:sp>
      </p:grpSp>
      <p:sp>
        <p:nvSpPr>
          <p:cNvPr id="15" name="CasellaDiTesto 14">
            <a:extLst>
              <a:ext uri="{FF2B5EF4-FFF2-40B4-BE49-F238E27FC236}">
                <a16:creationId xmlns:a16="http://schemas.microsoft.com/office/drawing/2014/main" id="{E59A58FD-55F2-835E-7D51-08EAB0B646B0}"/>
              </a:ext>
            </a:extLst>
          </p:cNvPr>
          <p:cNvSpPr txBox="1"/>
          <p:nvPr/>
        </p:nvSpPr>
        <p:spPr>
          <a:xfrm>
            <a:off x="6354283" y="2695589"/>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16" name="CasellaDiTesto 15">
            <a:extLst>
              <a:ext uri="{FF2B5EF4-FFF2-40B4-BE49-F238E27FC236}">
                <a16:creationId xmlns:a16="http://schemas.microsoft.com/office/drawing/2014/main" id="{6F15B647-15E6-B7A0-01F4-88074FCBFA41}"/>
              </a:ext>
            </a:extLst>
          </p:cNvPr>
          <p:cNvSpPr txBox="1"/>
          <p:nvPr/>
        </p:nvSpPr>
        <p:spPr>
          <a:xfrm>
            <a:off x="5692440" y="275373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17" name="CasellaDiTesto 16">
            <a:extLst>
              <a:ext uri="{FF2B5EF4-FFF2-40B4-BE49-F238E27FC236}">
                <a16:creationId xmlns:a16="http://schemas.microsoft.com/office/drawing/2014/main" id="{EA6231AF-B43E-8156-A410-44C30CDE7CB2}"/>
              </a:ext>
            </a:extLst>
          </p:cNvPr>
          <p:cNvSpPr txBox="1"/>
          <p:nvPr/>
        </p:nvSpPr>
        <p:spPr>
          <a:xfrm>
            <a:off x="8228838" y="3297633"/>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18" name="CasellaDiTesto 17">
            <a:extLst>
              <a:ext uri="{FF2B5EF4-FFF2-40B4-BE49-F238E27FC236}">
                <a16:creationId xmlns:a16="http://schemas.microsoft.com/office/drawing/2014/main" id="{8ECC0F65-B1A2-EF80-293A-B28F2B211515}"/>
              </a:ext>
            </a:extLst>
          </p:cNvPr>
          <p:cNvSpPr txBox="1"/>
          <p:nvPr/>
        </p:nvSpPr>
        <p:spPr>
          <a:xfrm>
            <a:off x="7934771" y="261523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19" name="CasellaDiTesto 18">
            <a:extLst>
              <a:ext uri="{FF2B5EF4-FFF2-40B4-BE49-F238E27FC236}">
                <a16:creationId xmlns:a16="http://schemas.microsoft.com/office/drawing/2014/main" id="{4D554DD6-4C9C-D04D-8CF7-59F59A94E64C}"/>
              </a:ext>
            </a:extLst>
          </p:cNvPr>
          <p:cNvSpPr txBox="1"/>
          <p:nvPr/>
        </p:nvSpPr>
        <p:spPr>
          <a:xfrm>
            <a:off x="8957134" y="2439405"/>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20" name="CasellaDiTesto 19">
            <a:extLst>
              <a:ext uri="{FF2B5EF4-FFF2-40B4-BE49-F238E27FC236}">
                <a16:creationId xmlns:a16="http://schemas.microsoft.com/office/drawing/2014/main" id="{86ABEABA-61A4-CE03-6391-9DED0586BA39}"/>
              </a:ext>
            </a:extLst>
          </p:cNvPr>
          <p:cNvSpPr txBox="1"/>
          <p:nvPr/>
        </p:nvSpPr>
        <p:spPr>
          <a:xfrm>
            <a:off x="6837105" y="3020634"/>
            <a:ext cx="565119"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4</a:t>
            </a:r>
          </a:p>
        </p:txBody>
      </p:sp>
    </p:spTree>
    <p:extLst>
      <p:ext uri="{BB962C8B-B14F-4D97-AF65-F5344CB8AC3E}">
        <p14:creationId xmlns:p14="http://schemas.microsoft.com/office/powerpoint/2010/main" val="19849002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magine 2" descr="Immagine che contiene mappa, testo, diagramma&#10;&#10;Descrizione generata automaticamente">
            <a:extLst>
              <a:ext uri="{FF2B5EF4-FFF2-40B4-BE49-F238E27FC236}">
                <a16:creationId xmlns:a16="http://schemas.microsoft.com/office/drawing/2014/main" id="{F9507DFE-CD8F-1F16-C86F-419562F9918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007" y="0"/>
            <a:ext cx="9697986" cy="6858000"/>
          </a:xfrm>
          <a:prstGeom prst="rect">
            <a:avLst/>
          </a:prstGeom>
        </p:spPr>
      </p:pic>
      <p:sp>
        <p:nvSpPr>
          <p:cNvPr id="7" name="CasellaDiTesto 6">
            <a:extLst>
              <a:ext uri="{FF2B5EF4-FFF2-40B4-BE49-F238E27FC236}">
                <a16:creationId xmlns:a16="http://schemas.microsoft.com/office/drawing/2014/main" id="{FB9C796C-B593-02A0-402F-B29783ADA7D6}"/>
              </a:ext>
            </a:extLst>
          </p:cNvPr>
          <p:cNvSpPr txBox="1"/>
          <p:nvPr/>
        </p:nvSpPr>
        <p:spPr>
          <a:xfrm>
            <a:off x="5219879" y="4532322"/>
            <a:ext cx="5429784" cy="215444"/>
          </a:xfrm>
          <a:prstGeom prst="rect">
            <a:avLst/>
          </a:prstGeom>
          <a:solidFill>
            <a:srgbClr val="ECECEC"/>
          </a:solidFill>
        </p:spPr>
        <p:txBody>
          <a:bodyPr wrap="square" rtlCol="0">
            <a:spAutoFit/>
          </a:bodyPr>
          <a:lstStyle/>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ABC…..</a:t>
            </a:r>
          </a:p>
        </p:txBody>
      </p:sp>
      <p:grpSp>
        <p:nvGrpSpPr>
          <p:cNvPr id="12" name="Gruppo 11">
            <a:extLst>
              <a:ext uri="{FF2B5EF4-FFF2-40B4-BE49-F238E27FC236}">
                <a16:creationId xmlns:a16="http://schemas.microsoft.com/office/drawing/2014/main" id="{FDDD8365-C09C-F2DF-D512-3917AD40B1C2}"/>
              </a:ext>
            </a:extLst>
          </p:cNvPr>
          <p:cNvGrpSpPr/>
          <p:nvPr/>
        </p:nvGrpSpPr>
        <p:grpSpPr>
          <a:xfrm>
            <a:off x="5219879" y="3899677"/>
            <a:ext cx="5429784" cy="2392442"/>
            <a:chOff x="5219879" y="3899677"/>
            <a:chExt cx="5429784" cy="2392442"/>
          </a:xfrm>
        </p:grpSpPr>
        <p:sp>
          <p:nvSpPr>
            <p:cNvPr id="14" name="CasellaDiTesto 13">
              <a:extLst>
                <a:ext uri="{FF2B5EF4-FFF2-40B4-BE49-F238E27FC236}">
                  <a16:creationId xmlns:a16="http://schemas.microsoft.com/office/drawing/2014/main" id="{63DB16E8-7673-DF06-070D-482732244F8D}"/>
                </a:ext>
              </a:extLst>
            </p:cNvPr>
            <p:cNvSpPr txBox="1"/>
            <p:nvPr/>
          </p:nvSpPr>
          <p:spPr>
            <a:xfrm>
              <a:off x="5219879" y="4476237"/>
              <a:ext cx="5429784" cy="1815882"/>
            </a:xfrm>
            <a:prstGeom prst="rect">
              <a:avLst/>
            </a:prstGeom>
            <a:solidFill>
              <a:srgbClr val="ECECEC"/>
            </a:solidFill>
          </p:spPr>
          <p:txBody>
            <a:bodyPr wrap="square" rtlCol="0">
              <a:spAutoFit/>
            </a:bodyPr>
            <a:lstStyle/>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Shallow, cold areas with high bottom oxygen and moderate surface productivity. Very high biomass, moderately high fishing activity, moderate shipping traffic, and low salinity. Minimal anthropogenic influence, limited to minor military areas, with partly </a:t>
              </a:r>
              <a:r>
                <a:rPr lang="en-US" sz="8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hardrock</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seafloor.</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Shallow areas with cool bottom waters, very high biomass, and moderate surface productivity. Moderately high fishing activity, moderate shipping traffic, and low salinity, with high bottom oxygen levels. Minimal anthropogenic influence, limited to minor military areas.</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Deep, cold areas with low bottom oxygen and low surface productivity. Very high biomass, moderate fishing activity, moderate shipping traffic, and moderate to high salinity. Strong presence of dumping sites and only minimal military influence.</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Fairly deep, cold areas with low bottom oxygen and moderate surface productivity. High biomass, moderate to high fishing activity, high shipping traffic, and low salinity. Minimal presence of wind farms.</a:t>
              </a:r>
            </a:p>
          </p:txBody>
        </p:sp>
        <p:sp>
          <p:nvSpPr>
            <p:cNvPr id="15" name="CasellaDiTesto 14">
              <a:extLst>
                <a:ext uri="{FF2B5EF4-FFF2-40B4-BE49-F238E27FC236}">
                  <a16:creationId xmlns:a16="http://schemas.microsoft.com/office/drawing/2014/main" id="{9410F135-8E8A-D277-EDF5-20623186786D}"/>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VAE (+ </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mkm</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All</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species</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p:txBody>
        </p:sp>
      </p:grpSp>
      <p:sp>
        <p:nvSpPr>
          <p:cNvPr id="16" name="CasellaDiTesto 15">
            <a:extLst>
              <a:ext uri="{FF2B5EF4-FFF2-40B4-BE49-F238E27FC236}">
                <a16:creationId xmlns:a16="http://schemas.microsoft.com/office/drawing/2014/main" id="{CBD5D4D5-2C6A-1A5D-D09D-F4320726F0F1}"/>
              </a:ext>
            </a:extLst>
          </p:cNvPr>
          <p:cNvSpPr txBox="1"/>
          <p:nvPr/>
        </p:nvSpPr>
        <p:spPr>
          <a:xfrm>
            <a:off x="6354283" y="2695589"/>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17" name="CasellaDiTesto 16">
            <a:extLst>
              <a:ext uri="{FF2B5EF4-FFF2-40B4-BE49-F238E27FC236}">
                <a16:creationId xmlns:a16="http://schemas.microsoft.com/office/drawing/2014/main" id="{C32DF3A5-0213-118F-CF75-8249A8B012E5}"/>
              </a:ext>
            </a:extLst>
          </p:cNvPr>
          <p:cNvSpPr txBox="1"/>
          <p:nvPr/>
        </p:nvSpPr>
        <p:spPr>
          <a:xfrm>
            <a:off x="5692440" y="275373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18" name="CasellaDiTesto 17">
            <a:extLst>
              <a:ext uri="{FF2B5EF4-FFF2-40B4-BE49-F238E27FC236}">
                <a16:creationId xmlns:a16="http://schemas.microsoft.com/office/drawing/2014/main" id="{24910F9C-CEB2-8D27-B566-AB4976ABBBCD}"/>
              </a:ext>
            </a:extLst>
          </p:cNvPr>
          <p:cNvSpPr txBox="1"/>
          <p:nvPr/>
        </p:nvSpPr>
        <p:spPr>
          <a:xfrm>
            <a:off x="8228838" y="3297633"/>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19" name="CasellaDiTesto 18">
            <a:extLst>
              <a:ext uri="{FF2B5EF4-FFF2-40B4-BE49-F238E27FC236}">
                <a16:creationId xmlns:a16="http://schemas.microsoft.com/office/drawing/2014/main" id="{9AB21391-CAA1-333C-FEF4-18DE19E9C9F3}"/>
              </a:ext>
            </a:extLst>
          </p:cNvPr>
          <p:cNvSpPr txBox="1"/>
          <p:nvPr/>
        </p:nvSpPr>
        <p:spPr>
          <a:xfrm>
            <a:off x="7934771" y="261523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20" name="CasellaDiTesto 19">
            <a:extLst>
              <a:ext uri="{FF2B5EF4-FFF2-40B4-BE49-F238E27FC236}">
                <a16:creationId xmlns:a16="http://schemas.microsoft.com/office/drawing/2014/main" id="{8BD24711-16A5-E3D2-167B-CB43E937DB40}"/>
              </a:ext>
            </a:extLst>
          </p:cNvPr>
          <p:cNvSpPr txBox="1"/>
          <p:nvPr/>
        </p:nvSpPr>
        <p:spPr>
          <a:xfrm>
            <a:off x="8957134" y="2439405"/>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21" name="CasellaDiTesto 20">
            <a:extLst>
              <a:ext uri="{FF2B5EF4-FFF2-40B4-BE49-F238E27FC236}">
                <a16:creationId xmlns:a16="http://schemas.microsoft.com/office/drawing/2014/main" id="{EF14A826-C238-0924-B4F2-1EA9251B60BA}"/>
              </a:ext>
            </a:extLst>
          </p:cNvPr>
          <p:cNvSpPr txBox="1"/>
          <p:nvPr/>
        </p:nvSpPr>
        <p:spPr>
          <a:xfrm>
            <a:off x="6837105" y="3020634"/>
            <a:ext cx="565119"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4</a:t>
            </a:r>
          </a:p>
        </p:txBody>
      </p:sp>
    </p:spTree>
    <p:extLst>
      <p:ext uri="{BB962C8B-B14F-4D97-AF65-F5344CB8AC3E}">
        <p14:creationId xmlns:p14="http://schemas.microsoft.com/office/powerpoint/2010/main" val="30293712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magine 3" descr="Immagine che contiene mappa, testo, diagramma, atlante&#10;&#10;Descrizione generata automaticamente">
            <a:extLst>
              <a:ext uri="{FF2B5EF4-FFF2-40B4-BE49-F238E27FC236}">
                <a16:creationId xmlns:a16="http://schemas.microsoft.com/office/drawing/2014/main" id="{0C1B4426-3ACF-300C-B8B7-A3948F54263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007" y="0"/>
            <a:ext cx="9697986" cy="6858000"/>
          </a:xfrm>
          <a:prstGeom prst="rect">
            <a:avLst/>
          </a:prstGeom>
        </p:spPr>
      </p:pic>
      <p:sp>
        <p:nvSpPr>
          <p:cNvPr id="7" name="CasellaDiTesto 6">
            <a:extLst>
              <a:ext uri="{FF2B5EF4-FFF2-40B4-BE49-F238E27FC236}">
                <a16:creationId xmlns:a16="http://schemas.microsoft.com/office/drawing/2014/main" id="{FB9C796C-B593-02A0-402F-B29783ADA7D6}"/>
              </a:ext>
            </a:extLst>
          </p:cNvPr>
          <p:cNvSpPr txBox="1"/>
          <p:nvPr/>
        </p:nvSpPr>
        <p:spPr>
          <a:xfrm>
            <a:off x="5219879" y="4532322"/>
            <a:ext cx="5429784" cy="215444"/>
          </a:xfrm>
          <a:prstGeom prst="rect">
            <a:avLst/>
          </a:prstGeom>
          <a:solidFill>
            <a:srgbClr val="ECECEC"/>
          </a:solidFill>
        </p:spPr>
        <p:txBody>
          <a:bodyPr wrap="square" rtlCol="0">
            <a:spAutoFit/>
          </a:bodyPr>
          <a:lstStyle/>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ABC…..</a:t>
            </a:r>
          </a:p>
        </p:txBody>
      </p:sp>
      <p:grpSp>
        <p:nvGrpSpPr>
          <p:cNvPr id="12" name="Gruppo 11">
            <a:extLst>
              <a:ext uri="{FF2B5EF4-FFF2-40B4-BE49-F238E27FC236}">
                <a16:creationId xmlns:a16="http://schemas.microsoft.com/office/drawing/2014/main" id="{FDDD8365-C09C-F2DF-D512-3917AD40B1C2}"/>
              </a:ext>
            </a:extLst>
          </p:cNvPr>
          <p:cNvGrpSpPr/>
          <p:nvPr/>
        </p:nvGrpSpPr>
        <p:grpSpPr>
          <a:xfrm>
            <a:off x="5219879" y="3899677"/>
            <a:ext cx="5429784" cy="2333426"/>
            <a:chOff x="5219879" y="3899677"/>
            <a:chExt cx="5429784" cy="2333426"/>
          </a:xfrm>
        </p:grpSpPr>
        <p:sp>
          <p:nvSpPr>
            <p:cNvPr id="14" name="CasellaDiTesto 13">
              <a:extLst>
                <a:ext uri="{FF2B5EF4-FFF2-40B4-BE49-F238E27FC236}">
                  <a16:creationId xmlns:a16="http://schemas.microsoft.com/office/drawing/2014/main" id="{63DB16E8-7673-DF06-070D-482732244F8D}"/>
                </a:ext>
              </a:extLst>
            </p:cNvPr>
            <p:cNvSpPr txBox="1"/>
            <p:nvPr/>
          </p:nvSpPr>
          <p:spPr>
            <a:xfrm>
              <a:off x="5219879" y="4540332"/>
              <a:ext cx="5429784" cy="1692771"/>
            </a:xfrm>
            <a:prstGeom prst="rect">
              <a:avLst/>
            </a:prstGeom>
            <a:solidFill>
              <a:srgbClr val="ECECEC"/>
            </a:solidFill>
          </p:spPr>
          <p:txBody>
            <a:bodyPr wrap="square" rtlCol="0">
              <a:spAutoFit/>
            </a:bodyPr>
            <a:lstStyle/>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Deep, cold areas with low bottom oxygen and high salinity, and fairly high surface productivity. Very high biomass of five commercial species, intense fishing activity, and moderate shipping traffic. Strong anthropogenic influence with dominant dumping sites, military areas, and minimal presence of wind farms.</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Shallow, cool areas with low bottom oxygen and moderately high salinity, and moderate surface productivity. High biomass of five commercial species, intense fishing activity, moderate shipping traffic. Minimal anthropogenic influence, limited to minor military areas and wind farms.</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Deep, cold areas with low bottom oxygen and moderately high salinity, and moderate to high surface productivity. High biomass of five commercial species, intense fishing activity, moderate shipping traffic. Minimal anthropogenic influence, with only minor wind farms, and partly hardbottom seafloor.</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15" name="CasellaDiTesto 14">
              <a:extLst>
                <a:ext uri="{FF2B5EF4-FFF2-40B4-BE49-F238E27FC236}">
                  <a16:creationId xmlns:a16="http://schemas.microsoft.com/office/drawing/2014/main" id="{9410F135-8E8A-D277-EDF5-20623186786D}"/>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VAE (+ </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mkm</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Five</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species</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p:txBody>
        </p:sp>
      </p:grpSp>
      <p:sp>
        <p:nvSpPr>
          <p:cNvPr id="16" name="CasellaDiTesto 15">
            <a:extLst>
              <a:ext uri="{FF2B5EF4-FFF2-40B4-BE49-F238E27FC236}">
                <a16:creationId xmlns:a16="http://schemas.microsoft.com/office/drawing/2014/main" id="{CBD5D4D5-2C6A-1A5D-D09D-F4320726F0F1}"/>
              </a:ext>
            </a:extLst>
          </p:cNvPr>
          <p:cNvSpPr txBox="1"/>
          <p:nvPr/>
        </p:nvSpPr>
        <p:spPr>
          <a:xfrm>
            <a:off x="6147669" y="3195899"/>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19" name="CasellaDiTesto 18">
            <a:extLst>
              <a:ext uri="{FF2B5EF4-FFF2-40B4-BE49-F238E27FC236}">
                <a16:creationId xmlns:a16="http://schemas.microsoft.com/office/drawing/2014/main" id="{9AB21391-CAA1-333C-FEF4-18DE19E9C9F3}"/>
              </a:ext>
            </a:extLst>
          </p:cNvPr>
          <p:cNvSpPr txBox="1"/>
          <p:nvPr/>
        </p:nvSpPr>
        <p:spPr>
          <a:xfrm>
            <a:off x="7258991" y="313248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20" name="CasellaDiTesto 19">
            <a:extLst>
              <a:ext uri="{FF2B5EF4-FFF2-40B4-BE49-F238E27FC236}">
                <a16:creationId xmlns:a16="http://schemas.microsoft.com/office/drawing/2014/main" id="{8BD24711-16A5-E3D2-167B-CB43E937DB40}"/>
              </a:ext>
            </a:extLst>
          </p:cNvPr>
          <p:cNvSpPr txBox="1"/>
          <p:nvPr/>
        </p:nvSpPr>
        <p:spPr>
          <a:xfrm>
            <a:off x="5422786" y="2993981"/>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5" name="CasellaDiTesto 4">
            <a:extLst>
              <a:ext uri="{FF2B5EF4-FFF2-40B4-BE49-F238E27FC236}">
                <a16:creationId xmlns:a16="http://schemas.microsoft.com/office/drawing/2014/main" id="{F18249C7-7F35-45EE-E69E-4984E50DDE54}"/>
              </a:ext>
            </a:extLst>
          </p:cNvPr>
          <p:cNvSpPr txBox="1"/>
          <p:nvPr/>
        </p:nvSpPr>
        <p:spPr>
          <a:xfrm>
            <a:off x="7834039" y="329050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Tree>
    <p:extLst>
      <p:ext uri="{BB962C8B-B14F-4D97-AF65-F5344CB8AC3E}">
        <p14:creationId xmlns:p14="http://schemas.microsoft.com/office/powerpoint/2010/main" val="24081880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magine 2" descr="Immagine che contiene mappa, testo, diagramma, atlante&#10;&#10;Descrizione generata automaticamente">
            <a:extLst>
              <a:ext uri="{FF2B5EF4-FFF2-40B4-BE49-F238E27FC236}">
                <a16:creationId xmlns:a16="http://schemas.microsoft.com/office/drawing/2014/main" id="{815862A8-0EC0-3593-8C1C-378AFB1F5DD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007" y="0"/>
            <a:ext cx="9697986" cy="6858000"/>
          </a:xfrm>
          <a:prstGeom prst="rect">
            <a:avLst/>
          </a:prstGeom>
        </p:spPr>
      </p:pic>
      <p:sp>
        <p:nvSpPr>
          <p:cNvPr id="4" name="CasellaDiTesto 3">
            <a:extLst>
              <a:ext uri="{FF2B5EF4-FFF2-40B4-BE49-F238E27FC236}">
                <a16:creationId xmlns:a16="http://schemas.microsoft.com/office/drawing/2014/main" id="{F225F658-5F13-3124-D001-CF7A98C6F58F}"/>
              </a:ext>
            </a:extLst>
          </p:cNvPr>
          <p:cNvSpPr txBox="1"/>
          <p:nvPr/>
        </p:nvSpPr>
        <p:spPr>
          <a:xfrm>
            <a:off x="6147669" y="3195899"/>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5" name="CasellaDiTesto 4">
            <a:extLst>
              <a:ext uri="{FF2B5EF4-FFF2-40B4-BE49-F238E27FC236}">
                <a16:creationId xmlns:a16="http://schemas.microsoft.com/office/drawing/2014/main" id="{11A3D605-F61B-4B31-C66A-3E928A34B391}"/>
              </a:ext>
            </a:extLst>
          </p:cNvPr>
          <p:cNvSpPr txBox="1"/>
          <p:nvPr/>
        </p:nvSpPr>
        <p:spPr>
          <a:xfrm>
            <a:off x="7258991" y="313248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6" name="CasellaDiTesto 5">
            <a:extLst>
              <a:ext uri="{FF2B5EF4-FFF2-40B4-BE49-F238E27FC236}">
                <a16:creationId xmlns:a16="http://schemas.microsoft.com/office/drawing/2014/main" id="{A4E9D876-8BD4-1AD3-64B5-8725D22C3A6A}"/>
              </a:ext>
            </a:extLst>
          </p:cNvPr>
          <p:cNvSpPr txBox="1"/>
          <p:nvPr/>
        </p:nvSpPr>
        <p:spPr>
          <a:xfrm>
            <a:off x="5422786" y="2993981"/>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7" name="CasellaDiTesto 6">
            <a:extLst>
              <a:ext uri="{FF2B5EF4-FFF2-40B4-BE49-F238E27FC236}">
                <a16:creationId xmlns:a16="http://schemas.microsoft.com/office/drawing/2014/main" id="{CF9C4FEB-2D14-2E2A-F783-D22285879739}"/>
              </a:ext>
            </a:extLst>
          </p:cNvPr>
          <p:cNvSpPr txBox="1"/>
          <p:nvPr/>
        </p:nvSpPr>
        <p:spPr>
          <a:xfrm>
            <a:off x="7834039" y="329050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8" name="CasellaDiTesto 7">
            <a:extLst>
              <a:ext uri="{FF2B5EF4-FFF2-40B4-BE49-F238E27FC236}">
                <a16:creationId xmlns:a16="http://schemas.microsoft.com/office/drawing/2014/main" id="{071CAC81-1C56-67C2-EDAB-5146A2856516}"/>
              </a:ext>
            </a:extLst>
          </p:cNvPr>
          <p:cNvSpPr txBox="1"/>
          <p:nvPr/>
        </p:nvSpPr>
        <p:spPr>
          <a:xfrm>
            <a:off x="5219879" y="4540332"/>
            <a:ext cx="5429784" cy="1692771"/>
          </a:xfrm>
          <a:prstGeom prst="rect">
            <a:avLst/>
          </a:prstGeom>
          <a:solidFill>
            <a:srgbClr val="ECECEC"/>
          </a:solidFill>
        </p:spPr>
        <p:txBody>
          <a:bodyPr wrap="square" rtlCol="0">
            <a:spAutoFit/>
          </a:bodyPr>
          <a:lstStyle/>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Deep, cold areas with low bottom oxygen and high salinity, and fairly high surface productivity. Very high biomass of five commercial species, intense fishing activity, and moderate shipping traffic. Strong anthropogenic influence with dominant dumping sites, military areas, and minimal presence of wind farms.</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Shallow, cool areas with low bottom oxygen and moderately high salinity, and moderate surface productivity. High biomass of five commercial species, intense fishing activity, moderate shipping traffic. Minimal anthropogenic influence, limited to minor military areas and wind farms.</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Deep, cold areas with low bottom oxygen and moderately high salinity, and moderate to high surface productivity. High biomass of five commercial species, intense fishing activity, moderate shipping traffic. Minimal anthropogenic influence, with only minor wind farms, and partly hardbottom seafloor.</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9" name="CasellaDiTesto 8">
            <a:extLst>
              <a:ext uri="{FF2B5EF4-FFF2-40B4-BE49-F238E27FC236}">
                <a16:creationId xmlns:a16="http://schemas.microsoft.com/office/drawing/2014/main" id="{0A1FDFF8-6493-B097-3DF9-6E7C326995F0}"/>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VAE (+ </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mkm</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Five</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species</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p:txBody>
      </p:sp>
    </p:spTree>
    <p:extLst>
      <p:ext uri="{BB962C8B-B14F-4D97-AF65-F5344CB8AC3E}">
        <p14:creationId xmlns:p14="http://schemas.microsoft.com/office/powerpoint/2010/main" val="17401239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magine 9" descr="Immagine che contiene mappa, testo, diagramma&#10;&#10;Descrizione generata automaticamente">
            <a:extLst>
              <a:ext uri="{FF2B5EF4-FFF2-40B4-BE49-F238E27FC236}">
                <a16:creationId xmlns:a16="http://schemas.microsoft.com/office/drawing/2014/main" id="{5E6BB94B-A657-E297-1F04-D6AE5D55B09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007" y="0"/>
            <a:ext cx="9697986" cy="6858000"/>
          </a:xfrm>
          <a:prstGeom prst="rect">
            <a:avLst/>
          </a:prstGeom>
        </p:spPr>
      </p:pic>
      <p:grpSp>
        <p:nvGrpSpPr>
          <p:cNvPr id="11" name="Gruppo 10">
            <a:extLst>
              <a:ext uri="{FF2B5EF4-FFF2-40B4-BE49-F238E27FC236}">
                <a16:creationId xmlns:a16="http://schemas.microsoft.com/office/drawing/2014/main" id="{690E625F-7570-EF19-668A-81020222F920}"/>
              </a:ext>
            </a:extLst>
          </p:cNvPr>
          <p:cNvGrpSpPr/>
          <p:nvPr/>
        </p:nvGrpSpPr>
        <p:grpSpPr>
          <a:xfrm>
            <a:off x="5219879" y="3899677"/>
            <a:ext cx="5429784" cy="2392442"/>
            <a:chOff x="5219879" y="3899677"/>
            <a:chExt cx="5429784" cy="2392442"/>
          </a:xfrm>
        </p:grpSpPr>
        <p:sp>
          <p:nvSpPr>
            <p:cNvPr id="12" name="CasellaDiTesto 11">
              <a:extLst>
                <a:ext uri="{FF2B5EF4-FFF2-40B4-BE49-F238E27FC236}">
                  <a16:creationId xmlns:a16="http://schemas.microsoft.com/office/drawing/2014/main" id="{EC6DDEC8-A314-8EC4-D51B-B831DC5FAFB5}"/>
                </a:ext>
              </a:extLst>
            </p:cNvPr>
            <p:cNvSpPr txBox="1"/>
            <p:nvPr/>
          </p:nvSpPr>
          <p:spPr>
            <a:xfrm>
              <a:off x="5219879" y="4476237"/>
              <a:ext cx="5429784" cy="1815882"/>
            </a:xfrm>
            <a:prstGeom prst="rect">
              <a:avLst/>
            </a:prstGeom>
            <a:solidFill>
              <a:srgbClr val="ECECEC"/>
            </a:solidFill>
          </p:spPr>
          <p:txBody>
            <a:bodyPr wrap="square" rtlCol="0">
              <a:spAutoFit/>
            </a:bodyPr>
            <a:lstStyle/>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Deep, very cold areas with extremely low bottom oxygen, moderately high salinity, and high surface productivity. High biomass of </a:t>
              </a:r>
              <a:r>
                <a:rPr lang="en-US" sz="8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very intense fishing activity, and heavy shipping traffic.</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Deep, very cold areas with high salinity, extremely low bottom oxygen, and high surface productivity. High biomass of </a:t>
              </a:r>
              <a:r>
                <a:rPr lang="en-US" sz="8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 </a:t>
              </a:r>
              <a:r>
                <a:rPr lang="en-US" sz="8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intense fishing activity, and heavy shipping traffic, with only minimal hard-bottom substrate present.</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Tx/>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Deep, cold areas with low bottom oxygen and high salinity, and fairly high surface productivity. Very high biomass of </a:t>
              </a:r>
              <a:r>
                <a:rPr lang="en-US" sz="8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very intense fishing activity, and moderate shipping traffic. Strong anthropogenic influence with dominant dumping sites, military areas, and minimal presence of wind farms.</a:t>
              </a:r>
            </a:p>
            <a:p>
              <a:pPr marL="228600" indent="-228600" algn="just">
                <a:buFontTx/>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Tx/>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Deep, very cold areas with moderately high salinity, extremely low bottom oxygen and very high surface productivity. High biomass of </a:t>
              </a:r>
              <a:r>
                <a:rPr lang="en-US" sz="8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very intense fishing activity and heavy shipping traffic, with only minimal anthropogenic presence from limited military areas.</a:t>
              </a:r>
            </a:p>
          </p:txBody>
        </p:sp>
        <p:sp>
          <p:nvSpPr>
            <p:cNvPr id="13" name="CasellaDiTesto 12">
              <a:extLst>
                <a:ext uri="{FF2B5EF4-FFF2-40B4-BE49-F238E27FC236}">
                  <a16:creationId xmlns:a16="http://schemas.microsoft.com/office/drawing/2014/main" id="{DC652620-C7DC-38D7-BEB0-7BAC564F305C}"/>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VAE (+ </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mkm</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p:txBody>
        </p:sp>
      </p:grpSp>
      <p:sp>
        <p:nvSpPr>
          <p:cNvPr id="14" name="CasellaDiTesto 13">
            <a:extLst>
              <a:ext uri="{FF2B5EF4-FFF2-40B4-BE49-F238E27FC236}">
                <a16:creationId xmlns:a16="http://schemas.microsoft.com/office/drawing/2014/main" id="{D6BF471C-4AF5-CCE3-F13E-139BF2B48699}"/>
              </a:ext>
            </a:extLst>
          </p:cNvPr>
          <p:cNvSpPr txBox="1"/>
          <p:nvPr/>
        </p:nvSpPr>
        <p:spPr>
          <a:xfrm>
            <a:off x="6147669" y="3195899"/>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16" name="CasellaDiTesto 15">
            <a:extLst>
              <a:ext uri="{FF2B5EF4-FFF2-40B4-BE49-F238E27FC236}">
                <a16:creationId xmlns:a16="http://schemas.microsoft.com/office/drawing/2014/main" id="{165D436A-FF37-CDF6-2361-1812835DFE2A}"/>
              </a:ext>
            </a:extLst>
          </p:cNvPr>
          <p:cNvSpPr txBox="1"/>
          <p:nvPr/>
        </p:nvSpPr>
        <p:spPr>
          <a:xfrm>
            <a:off x="7834039" y="329050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19" name="CasellaDiTesto 18">
            <a:extLst>
              <a:ext uri="{FF2B5EF4-FFF2-40B4-BE49-F238E27FC236}">
                <a16:creationId xmlns:a16="http://schemas.microsoft.com/office/drawing/2014/main" id="{4B4D68A2-5F7C-9523-CA58-3FC50DAA9DC6}"/>
              </a:ext>
            </a:extLst>
          </p:cNvPr>
          <p:cNvSpPr txBox="1"/>
          <p:nvPr/>
        </p:nvSpPr>
        <p:spPr>
          <a:xfrm>
            <a:off x="8201508" y="3510669"/>
            <a:ext cx="290555"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4</a:t>
            </a:r>
          </a:p>
        </p:txBody>
      </p:sp>
      <p:sp>
        <p:nvSpPr>
          <p:cNvPr id="20" name="CasellaDiTesto 19">
            <a:extLst>
              <a:ext uri="{FF2B5EF4-FFF2-40B4-BE49-F238E27FC236}">
                <a16:creationId xmlns:a16="http://schemas.microsoft.com/office/drawing/2014/main" id="{2DA73D47-20BB-B5AD-A487-F89EE0A17974}"/>
              </a:ext>
            </a:extLst>
          </p:cNvPr>
          <p:cNvSpPr txBox="1"/>
          <p:nvPr/>
        </p:nvSpPr>
        <p:spPr>
          <a:xfrm>
            <a:off x="7243489" y="3085241"/>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Tree>
    <p:extLst>
      <p:ext uri="{BB962C8B-B14F-4D97-AF65-F5344CB8AC3E}">
        <p14:creationId xmlns:p14="http://schemas.microsoft.com/office/powerpoint/2010/main" val="32036460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magine 9" descr="Immagine che contiene mappa, testo, diagramma, atlante&#10;&#10;Descrizione generata automaticamente">
            <a:extLst>
              <a:ext uri="{FF2B5EF4-FFF2-40B4-BE49-F238E27FC236}">
                <a16:creationId xmlns:a16="http://schemas.microsoft.com/office/drawing/2014/main" id="{2B3868DB-A5DF-7180-8867-9F26E07ED0F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007" y="0"/>
            <a:ext cx="9697986" cy="6858000"/>
          </a:xfrm>
          <a:prstGeom prst="rect">
            <a:avLst/>
          </a:prstGeom>
        </p:spPr>
      </p:pic>
      <p:grpSp>
        <p:nvGrpSpPr>
          <p:cNvPr id="11" name="Gruppo 10">
            <a:extLst>
              <a:ext uri="{FF2B5EF4-FFF2-40B4-BE49-F238E27FC236}">
                <a16:creationId xmlns:a16="http://schemas.microsoft.com/office/drawing/2014/main" id="{90D5CFE6-925F-2B0D-E994-53F2E00CF9A3}"/>
              </a:ext>
            </a:extLst>
          </p:cNvPr>
          <p:cNvGrpSpPr/>
          <p:nvPr/>
        </p:nvGrpSpPr>
        <p:grpSpPr>
          <a:xfrm>
            <a:off x="5219879" y="3899677"/>
            <a:ext cx="5429784" cy="2392442"/>
            <a:chOff x="5219879" y="3899677"/>
            <a:chExt cx="5429784" cy="2392442"/>
          </a:xfrm>
        </p:grpSpPr>
        <p:sp>
          <p:nvSpPr>
            <p:cNvPr id="12" name="CasellaDiTesto 11">
              <a:extLst>
                <a:ext uri="{FF2B5EF4-FFF2-40B4-BE49-F238E27FC236}">
                  <a16:creationId xmlns:a16="http://schemas.microsoft.com/office/drawing/2014/main" id="{8869BD5C-AA84-F561-84C4-9A01349619BF}"/>
                </a:ext>
              </a:extLst>
            </p:cNvPr>
            <p:cNvSpPr txBox="1"/>
            <p:nvPr/>
          </p:nvSpPr>
          <p:spPr>
            <a:xfrm>
              <a:off x="5219879" y="4476237"/>
              <a:ext cx="5429784" cy="1815882"/>
            </a:xfrm>
            <a:prstGeom prst="rect">
              <a:avLst/>
            </a:prstGeom>
            <a:solidFill>
              <a:srgbClr val="ECECEC"/>
            </a:solidFill>
          </p:spPr>
          <p:txBody>
            <a:bodyPr wrap="square" rtlCol="0">
              <a:spAutoFit/>
            </a:bodyPr>
            <a:lstStyle/>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Deep, very cold areas with extremely low bottom oxygen, moderately high salinity, and high surface productivity. High biomass of </a:t>
              </a:r>
              <a:r>
                <a:rPr lang="en-US" sz="8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very intense fishing activity, and heavy shipping traffic.</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Deep, very cold areas with high salinity, extremely low bottom oxygen, and high surface productivity. High biomass of </a:t>
              </a:r>
              <a:r>
                <a:rPr lang="en-US" sz="8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 </a:t>
              </a:r>
              <a:r>
                <a:rPr lang="en-US" sz="8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intense fishing activity, and heavy shipping traffic, with only minimal hard-bottom substrate present.</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Tx/>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Deep, cold areas with low bottom oxygen and high salinity, and fairly high surface productivity. Very high biomass of </a:t>
              </a:r>
              <a:r>
                <a:rPr lang="en-US" sz="8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very intense fishing activity, and moderate shipping traffic. Strong anthropogenic influence with dominant dumping sites, military areas, and minimal presence of wind farms.</a:t>
              </a:r>
            </a:p>
            <a:p>
              <a:pPr marL="228600" indent="-228600" algn="just">
                <a:buFontTx/>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Tx/>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Deep, very cold areas with moderately high salinity, extremely low bottom oxygen and very high surface productivity. High biomass of </a:t>
              </a:r>
              <a:r>
                <a:rPr lang="en-US" sz="8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very intense fishing activity and heavy shipping traffic, with only minimal anthropogenic presence from limited military areas.</a:t>
              </a:r>
            </a:p>
          </p:txBody>
        </p:sp>
        <p:sp>
          <p:nvSpPr>
            <p:cNvPr id="13" name="CasellaDiTesto 12">
              <a:extLst>
                <a:ext uri="{FF2B5EF4-FFF2-40B4-BE49-F238E27FC236}">
                  <a16:creationId xmlns:a16="http://schemas.microsoft.com/office/drawing/2014/main" id="{F3D42F10-5F0D-945E-6C45-7644625071ED}"/>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VAE (+ </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mkm</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p:txBody>
        </p:sp>
      </p:grpSp>
      <p:sp>
        <p:nvSpPr>
          <p:cNvPr id="14" name="CasellaDiTesto 13">
            <a:extLst>
              <a:ext uri="{FF2B5EF4-FFF2-40B4-BE49-F238E27FC236}">
                <a16:creationId xmlns:a16="http://schemas.microsoft.com/office/drawing/2014/main" id="{B79B0DBD-B498-2B6A-79CF-825F837DF36D}"/>
              </a:ext>
            </a:extLst>
          </p:cNvPr>
          <p:cNvSpPr txBox="1"/>
          <p:nvPr/>
        </p:nvSpPr>
        <p:spPr>
          <a:xfrm>
            <a:off x="6147669" y="3195899"/>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15" name="CasellaDiTesto 14">
            <a:extLst>
              <a:ext uri="{FF2B5EF4-FFF2-40B4-BE49-F238E27FC236}">
                <a16:creationId xmlns:a16="http://schemas.microsoft.com/office/drawing/2014/main" id="{6DB7BE91-2A84-20D3-71BA-9ACBC75B63D8}"/>
              </a:ext>
            </a:extLst>
          </p:cNvPr>
          <p:cNvSpPr txBox="1"/>
          <p:nvPr/>
        </p:nvSpPr>
        <p:spPr>
          <a:xfrm>
            <a:off x="7834039" y="329050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16" name="CasellaDiTesto 15">
            <a:extLst>
              <a:ext uri="{FF2B5EF4-FFF2-40B4-BE49-F238E27FC236}">
                <a16:creationId xmlns:a16="http://schemas.microsoft.com/office/drawing/2014/main" id="{E159CBBD-1511-9156-857E-D44D5C4C68E9}"/>
              </a:ext>
            </a:extLst>
          </p:cNvPr>
          <p:cNvSpPr txBox="1"/>
          <p:nvPr/>
        </p:nvSpPr>
        <p:spPr>
          <a:xfrm>
            <a:off x="8201508" y="3510669"/>
            <a:ext cx="290555"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4</a:t>
            </a:r>
          </a:p>
        </p:txBody>
      </p:sp>
      <p:sp>
        <p:nvSpPr>
          <p:cNvPr id="17" name="CasellaDiTesto 16">
            <a:extLst>
              <a:ext uri="{FF2B5EF4-FFF2-40B4-BE49-F238E27FC236}">
                <a16:creationId xmlns:a16="http://schemas.microsoft.com/office/drawing/2014/main" id="{462DF6AE-9DCE-5A73-EEA6-C313E26599EF}"/>
              </a:ext>
            </a:extLst>
          </p:cNvPr>
          <p:cNvSpPr txBox="1"/>
          <p:nvPr/>
        </p:nvSpPr>
        <p:spPr>
          <a:xfrm>
            <a:off x="7243489" y="3085241"/>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Tree>
    <p:extLst>
      <p:ext uri="{BB962C8B-B14F-4D97-AF65-F5344CB8AC3E}">
        <p14:creationId xmlns:p14="http://schemas.microsoft.com/office/powerpoint/2010/main" val="23261581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magine 2" descr="Immagine che contiene mappa, testo, diagramma&#10;&#10;Descrizione generata automaticamente">
            <a:extLst>
              <a:ext uri="{FF2B5EF4-FFF2-40B4-BE49-F238E27FC236}">
                <a16:creationId xmlns:a16="http://schemas.microsoft.com/office/drawing/2014/main" id="{F8E13866-629F-D39D-7794-D476BDD1B96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007" y="0"/>
            <a:ext cx="9697986" cy="6858000"/>
          </a:xfrm>
          <a:prstGeom prst="rect">
            <a:avLst/>
          </a:prstGeom>
        </p:spPr>
      </p:pic>
      <p:grpSp>
        <p:nvGrpSpPr>
          <p:cNvPr id="4" name="Gruppo 3">
            <a:extLst>
              <a:ext uri="{FF2B5EF4-FFF2-40B4-BE49-F238E27FC236}">
                <a16:creationId xmlns:a16="http://schemas.microsoft.com/office/drawing/2014/main" id="{E8F0C9A9-9FDC-E8AD-C96F-5E34E77298BA}"/>
              </a:ext>
            </a:extLst>
          </p:cNvPr>
          <p:cNvGrpSpPr/>
          <p:nvPr/>
        </p:nvGrpSpPr>
        <p:grpSpPr>
          <a:xfrm>
            <a:off x="5219879" y="3899677"/>
            <a:ext cx="5429784" cy="2146220"/>
            <a:chOff x="5219879" y="3899677"/>
            <a:chExt cx="5429784" cy="2146220"/>
          </a:xfrm>
        </p:grpSpPr>
        <p:sp>
          <p:nvSpPr>
            <p:cNvPr id="5" name="CasellaDiTesto 4">
              <a:extLst>
                <a:ext uri="{FF2B5EF4-FFF2-40B4-BE49-F238E27FC236}">
                  <a16:creationId xmlns:a16="http://schemas.microsoft.com/office/drawing/2014/main" id="{237BFFEA-CF0A-C973-7F4F-99D1CA979C5E}"/>
                </a:ext>
              </a:extLst>
            </p:cNvPr>
            <p:cNvSpPr txBox="1"/>
            <p:nvPr/>
          </p:nvSpPr>
          <p:spPr>
            <a:xfrm>
              <a:off x="5219879" y="4476237"/>
              <a:ext cx="5429784" cy="1569660"/>
            </a:xfrm>
            <a:prstGeom prst="rect">
              <a:avLst/>
            </a:prstGeom>
            <a:solidFill>
              <a:srgbClr val="ECECEC"/>
            </a:solidFill>
          </p:spPr>
          <p:txBody>
            <a:bodyPr wrap="square" rtlCol="0">
              <a:spAutoFit/>
            </a:bodyPr>
            <a:lstStyle/>
            <a:p>
              <a:pPr marL="228600" indent="-228600" algn="just">
                <a:buAutoNum type="arabicPeriod"/>
              </a:pPr>
              <a:r>
                <a:rPr lang="en-US" sz="8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Abc</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6" name="CasellaDiTesto 5">
              <a:extLst>
                <a:ext uri="{FF2B5EF4-FFF2-40B4-BE49-F238E27FC236}">
                  <a16:creationId xmlns:a16="http://schemas.microsoft.com/office/drawing/2014/main" id="{972B0385-9675-ED69-D055-78322829BE8B}"/>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Multi K-</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means</a:t>
              </a:r>
              <a:endPar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Ensamble</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p:txBody>
        </p:sp>
      </p:grpSp>
      <p:sp>
        <p:nvSpPr>
          <p:cNvPr id="7" name="CasellaDiTesto 6">
            <a:extLst>
              <a:ext uri="{FF2B5EF4-FFF2-40B4-BE49-F238E27FC236}">
                <a16:creationId xmlns:a16="http://schemas.microsoft.com/office/drawing/2014/main" id="{B8175458-641F-A2FF-C91C-DFB6AF09A392}"/>
              </a:ext>
            </a:extLst>
          </p:cNvPr>
          <p:cNvSpPr txBox="1"/>
          <p:nvPr/>
        </p:nvSpPr>
        <p:spPr>
          <a:xfrm>
            <a:off x="6147669" y="3195899"/>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8" name="CasellaDiTesto 7">
            <a:extLst>
              <a:ext uri="{FF2B5EF4-FFF2-40B4-BE49-F238E27FC236}">
                <a16:creationId xmlns:a16="http://schemas.microsoft.com/office/drawing/2014/main" id="{7A3CB8C4-AA0A-0C4C-D0EA-77C9AC16F701}"/>
              </a:ext>
            </a:extLst>
          </p:cNvPr>
          <p:cNvSpPr txBox="1"/>
          <p:nvPr/>
        </p:nvSpPr>
        <p:spPr>
          <a:xfrm>
            <a:off x="7834039" y="329050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9" name="CasellaDiTesto 8">
            <a:extLst>
              <a:ext uri="{FF2B5EF4-FFF2-40B4-BE49-F238E27FC236}">
                <a16:creationId xmlns:a16="http://schemas.microsoft.com/office/drawing/2014/main" id="{8339F146-5E39-B835-C2A7-B325FC94E80C}"/>
              </a:ext>
            </a:extLst>
          </p:cNvPr>
          <p:cNvSpPr txBox="1"/>
          <p:nvPr/>
        </p:nvSpPr>
        <p:spPr>
          <a:xfrm>
            <a:off x="8201508" y="3510669"/>
            <a:ext cx="290555"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4</a:t>
            </a:r>
          </a:p>
        </p:txBody>
      </p:sp>
      <p:sp>
        <p:nvSpPr>
          <p:cNvPr id="10" name="CasellaDiTesto 9">
            <a:extLst>
              <a:ext uri="{FF2B5EF4-FFF2-40B4-BE49-F238E27FC236}">
                <a16:creationId xmlns:a16="http://schemas.microsoft.com/office/drawing/2014/main" id="{D8375868-28E8-E101-4E1F-0C8CCBC4B2A0}"/>
              </a:ext>
            </a:extLst>
          </p:cNvPr>
          <p:cNvSpPr txBox="1"/>
          <p:nvPr/>
        </p:nvSpPr>
        <p:spPr>
          <a:xfrm>
            <a:off x="7243489" y="3085241"/>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Tree>
    <p:extLst>
      <p:ext uri="{BB962C8B-B14F-4D97-AF65-F5344CB8AC3E}">
        <p14:creationId xmlns:p14="http://schemas.microsoft.com/office/powerpoint/2010/main" val="30043193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magine 2" descr="Immagine che contiene mappa, testo, diagramma&#10;&#10;Descrizione generata automaticamente">
            <a:extLst>
              <a:ext uri="{FF2B5EF4-FFF2-40B4-BE49-F238E27FC236}">
                <a16:creationId xmlns:a16="http://schemas.microsoft.com/office/drawing/2014/main" id="{262002EA-7DA4-69A2-A33C-EB480D97D29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007" y="0"/>
            <a:ext cx="9697986" cy="6858000"/>
          </a:xfrm>
          <a:prstGeom prst="rect">
            <a:avLst/>
          </a:prstGeom>
        </p:spPr>
      </p:pic>
      <p:grpSp>
        <p:nvGrpSpPr>
          <p:cNvPr id="4" name="Gruppo 3">
            <a:extLst>
              <a:ext uri="{FF2B5EF4-FFF2-40B4-BE49-F238E27FC236}">
                <a16:creationId xmlns:a16="http://schemas.microsoft.com/office/drawing/2014/main" id="{07707B10-FB73-4FCD-EB4F-84A4C0C2DC9D}"/>
              </a:ext>
            </a:extLst>
          </p:cNvPr>
          <p:cNvGrpSpPr/>
          <p:nvPr/>
        </p:nvGrpSpPr>
        <p:grpSpPr>
          <a:xfrm>
            <a:off x="5219879" y="3899677"/>
            <a:ext cx="5429784" cy="2146220"/>
            <a:chOff x="5219879" y="3899677"/>
            <a:chExt cx="5429784" cy="2146220"/>
          </a:xfrm>
        </p:grpSpPr>
        <p:sp>
          <p:nvSpPr>
            <p:cNvPr id="5" name="CasellaDiTesto 4">
              <a:extLst>
                <a:ext uri="{FF2B5EF4-FFF2-40B4-BE49-F238E27FC236}">
                  <a16:creationId xmlns:a16="http://schemas.microsoft.com/office/drawing/2014/main" id="{B172D1E2-ABDC-06F9-D37E-5930AB41B59F}"/>
                </a:ext>
              </a:extLst>
            </p:cNvPr>
            <p:cNvSpPr txBox="1"/>
            <p:nvPr/>
          </p:nvSpPr>
          <p:spPr>
            <a:xfrm>
              <a:off x="5219879" y="4476237"/>
              <a:ext cx="5429784" cy="1569660"/>
            </a:xfrm>
            <a:prstGeom prst="rect">
              <a:avLst/>
            </a:prstGeom>
            <a:solidFill>
              <a:srgbClr val="ECECEC"/>
            </a:solidFill>
          </p:spPr>
          <p:txBody>
            <a:bodyPr wrap="square" rtlCol="0">
              <a:spAutoFit/>
            </a:bodyPr>
            <a:lstStyle/>
            <a:p>
              <a:pPr marL="228600" indent="-228600" algn="just">
                <a:buAutoNum type="arabicPeriod"/>
              </a:pPr>
              <a:r>
                <a:rPr lang="en-US" sz="8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Abc</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6" name="CasellaDiTesto 5">
              <a:extLst>
                <a:ext uri="{FF2B5EF4-FFF2-40B4-BE49-F238E27FC236}">
                  <a16:creationId xmlns:a16="http://schemas.microsoft.com/office/drawing/2014/main" id="{4A099EDE-6021-63D9-8289-DDF35946F66F}"/>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Multi K-</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means</a:t>
              </a:r>
              <a:endPar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Ensamble</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p:txBody>
        </p:sp>
      </p:grpSp>
      <p:sp>
        <p:nvSpPr>
          <p:cNvPr id="7" name="CasellaDiTesto 6">
            <a:extLst>
              <a:ext uri="{FF2B5EF4-FFF2-40B4-BE49-F238E27FC236}">
                <a16:creationId xmlns:a16="http://schemas.microsoft.com/office/drawing/2014/main" id="{DCCBC0F8-E9C8-3090-5DC8-12731D97236E}"/>
              </a:ext>
            </a:extLst>
          </p:cNvPr>
          <p:cNvSpPr txBox="1"/>
          <p:nvPr/>
        </p:nvSpPr>
        <p:spPr>
          <a:xfrm>
            <a:off x="6147669" y="3195899"/>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8" name="CasellaDiTesto 7">
            <a:extLst>
              <a:ext uri="{FF2B5EF4-FFF2-40B4-BE49-F238E27FC236}">
                <a16:creationId xmlns:a16="http://schemas.microsoft.com/office/drawing/2014/main" id="{31E7F5F5-A287-4C82-5C2A-B48C70696996}"/>
              </a:ext>
            </a:extLst>
          </p:cNvPr>
          <p:cNvSpPr txBox="1"/>
          <p:nvPr/>
        </p:nvSpPr>
        <p:spPr>
          <a:xfrm>
            <a:off x="7834039" y="329050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9" name="CasellaDiTesto 8">
            <a:extLst>
              <a:ext uri="{FF2B5EF4-FFF2-40B4-BE49-F238E27FC236}">
                <a16:creationId xmlns:a16="http://schemas.microsoft.com/office/drawing/2014/main" id="{0E95339A-FDE6-7071-18C7-E0AE23329AE3}"/>
              </a:ext>
            </a:extLst>
          </p:cNvPr>
          <p:cNvSpPr txBox="1"/>
          <p:nvPr/>
        </p:nvSpPr>
        <p:spPr>
          <a:xfrm>
            <a:off x="8201508" y="3510669"/>
            <a:ext cx="290555"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4</a:t>
            </a:r>
          </a:p>
        </p:txBody>
      </p:sp>
      <p:sp>
        <p:nvSpPr>
          <p:cNvPr id="10" name="CasellaDiTesto 9">
            <a:extLst>
              <a:ext uri="{FF2B5EF4-FFF2-40B4-BE49-F238E27FC236}">
                <a16:creationId xmlns:a16="http://schemas.microsoft.com/office/drawing/2014/main" id="{0965CC61-E8AE-CF88-D9EF-FD2F5130E45B}"/>
              </a:ext>
            </a:extLst>
          </p:cNvPr>
          <p:cNvSpPr txBox="1"/>
          <p:nvPr/>
        </p:nvSpPr>
        <p:spPr>
          <a:xfrm>
            <a:off x="7243489" y="3085241"/>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Tree>
    <p:extLst>
      <p:ext uri="{BB962C8B-B14F-4D97-AF65-F5344CB8AC3E}">
        <p14:creationId xmlns:p14="http://schemas.microsoft.com/office/powerpoint/2010/main" val="30799481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magine 2" descr="Immagine che contiene mappa, testo, diagramma&#10;&#10;Descrizione generata automaticamente">
            <a:extLst>
              <a:ext uri="{FF2B5EF4-FFF2-40B4-BE49-F238E27FC236}">
                <a16:creationId xmlns:a16="http://schemas.microsoft.com/office/drawing/2014/main" id="{C691FCE8-F272-E5EF-77E9-14E691C0DE8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007" y="0"/>
            <a:ext cx="9697986" cy="6858000"/>
          </a:xfrm>
          <a:prstGeom prst="rect">
            <a:avLst/>
          </a:prstGeom>
        </p:spPr>
      </p:pic>
      <p:grpSp>
        <p:nvGrpSpPr>
          <p:cNvPr id="4" name="Gruppo 3">
            <a:extLst>
              <a:ext uri="{FF2B5EF4-FFF2-40B4-BE49-F238E27FC236}">
                <a16:creationId xmlns:a16="http://schemas.microsoft.com/office/drawing/2014/main" id="{5857829E-2489-D2E3-4CAF-B3626136986A}"/>
              </a:ext>
            </a:extLst>
          </p:cNvPr>
          <p:cNvGrpSpPr/>
          <p:nvPr/>
        </p:nvGrpSpPr>
        <p:grpSpPr>
          <a:xfrm>
            <a:off x="5219879" y="3899677"/>
            <a:ext cx="5429784" cy="2146220"/>
            <a:chOff x="5219879" y="3899677"/>
            <a:chExt cx="5429784" cy="2146220"/>
          </a:xfrm>
        </p:grpSpPr>
        <p:sp>
          <p:nvSpPr>
            <p:cNvPr id="5" name="CasellaDiTesto 4">
              <a:extLst>
                <a:ext uri="{FF2B5EF4-FFF2-40B4-BE49-F238E27FC236}">
                  <a16:creationId xmlns:a16="http://schemas.microsoft.com/office/drawing/2014/main" id="{C8098931-19F8-3CBD-38C0-0EBED3BCF2AA}"/>
                </a:ext>
              </a:extLst>
            </p:cNvPr>
            <p:cNvSpPr txBox="1"/>
            <p:nvPr/>
          </p:nvSpPr>
          <p:spPr>
            <a:xfrm>
              <a:off x="5219879" y="4476237"/>
              <a:ext cx="5429784" cy="1569660"/>
            </a:xfrm>
            <a:prstGeom prst="rect">
              <a:avLst/>
            </a:prstGeom>
            <a:solidFill>
              <a:srgbClr val="ECECEC"/>
            </a:solidFill>
          </p:spPr>
          <p:txBody>
            <a:bodyPr wrap="square" rtlCol="0">
              <a:spAutoFit/>
            </a:bodyPr>
            <a:lstStyle/>
            <a:p>
              <a:pPr marL="228600" indent="-228600" algn="just">
                <a:buAutoNum type="arabicPeriod"/>
              </a:pPr>
              <a:r>
                <a:rPr lang="en-US" sz="8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Abc</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6" name="CasellaDiTesto 5">
              <a:extLst>
                <a:ext uri="{FF2B5EF4-FFF2-40B4-BE49-F238E27FC236}">
                  <a16:creationId xmlns:a16="http://schemas.microsoft.com/office/drawing/2014/main" id="{683CAA8A-703E-FFCC-0E0C-0E06FA7FF18F}"/>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VAE (+ </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mkm</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Ensamble</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p:txBody>
        </p:sp>
      </p:grpSp>
      <p:sp>
        <p:nvSpPr>
          <p:cNvPr id="7" name="CasellaDiTesto 6">
            <a:extLst>
              <a:ext uri="{FF2B5EF4-FFF2-40B4-BE49-F238E27FC236}">
                <a16:creationId xmlns:a16="http://schemas.microsoft.com/office/drawing/2014/main" id="{38EB0D34-4497-9501-52EF-87CC5FCD93DB}"/>
              </a:ext>
            </a:extLst>
          </p:cNvPr>
          <p:cNvSpPr txBox="1"/>
          <p:nvPr/>
        </p:nvSpPr>
        <p:spPr>
          <a:xfrm>
            <a:off x="6147669" y="3195899"/>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8" name="CasellaDiTesto 7">
            <a:extLst>
              <a:ext uri="{FF2B5EF4-FFF2-40B4-BE49-F238E27FC236}">
                <a16:creationId xmlns:a16="http://schemas.microsoft.com/office/drawing/2014/main" id="{1228B22B-ADB7-9DD7-8279-833E4FD29146}"/>
              </a:ext>
            </a:extLst>
          </p:cNvPr>
          <p:cNvSpPr txBox="1"/>
          <p:nvPr/>
        </p:nvSpPr>
        <p:spPr>
          <a:xfrm>
            <a:off x="7834039" y="329050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9" name="CasellaDiTesto 8">
            <a:extLst>
              <a:ext uri="{FF2B5EF4-FFF2-40B4-BE49-F238E27FC236}">
                <a16:creationId xmlns:a16="http://schemas.microsoft.com/office/drawing/2014/main" id="{EFE0CE38-FBD6-BEF8-EB3E-BDB076C7D2F0}"/>
              </a:ext>
            </a:extLst>
          </p:cNvPr>
          <p:cNvSpPr txBox="1"/>
          <p:nvPr/>
        </p:nvSpPr>
        <p:spPr>
          <a:xfrm>
            <a:off x="8201508" y="3510669"/>
            <a:ext cx="290555"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4</a:t>
            </a:r>
          </a:p>
        </p:txBody>
      </p:sp>
      <p:sp>
        <p:nvSpPr>
          <p:cNvPr id="10" name="CasellaDiTesto 9">
            <a:extLst>
              <a:ext uri="{FF2B5EF4-FFF2-40B4-BE49-F238E27FC236}">
                <a16:creationId xmlns:a16="http://schemas.microsoft.com/office/drawing/2014/main" id="{00E01150-6D27-8BA5-9CAB-C49FC02EC25A}"/>
              </a:ext>
            </a:extLst>
          </p:cNvPr>
          <p:cNvSpPr txBox="1"/>
          <p:nvPr/>
        </p:nvSpPr>
        <p:spPr>
          <a:xfrm>
            <a:off x="7243489" y="3085241"/>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Tree>
    <p:extLst>
      <p:ext uri="{BB962C8B-B14F-4D97-AF65-F5344CB8AC3E}">
        <p14:creationId xmlns:p14="http://schemas.microsoft.com/office/powerpoint/2010/main" val="3055553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magine 2" descr="Immagine che contiene mappa, testo, diagramma&#10;&#10;Descrizione generata automaticamente">
            <a:extLst>
              <a:ext uri="{FF2B5EF4-FFF2-40B4-BE49-F238E27FC236}">
                <a16:creationId xmlns:a16="http://schemas.microsoft.com/office/drawing/2014/main" id="{1B56FC8C-C4C2-4A17-1CE5-3275B10307C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007" y="0"/>
            <a:ext cx="9697986" cy="6858000"/>
          </a:xfrm>
          <a:prstGeom prst="rect">
            <a:avLst/>
          </a:prstGeom>
        </p:spPr>
      </p:pic>
      <p:grpSp>
        <p:nvGrpSpPr>
          <p:cNvPr id="4" name="Gruppo 3">
            <a:extLst>
              <a:ext uri="{FF2B5EF4-FFF2-40B4-BE49-F238E27FC236}">
                <a16:creationId xmlns:a16="http://schemas.microsoft.com/office/drawing/2014/main" id="{05C5415A-689F-B0CE-8830-5B0FDBE11FF1}"/>
              </a:ext>
            </a:extLst>
          </p:cNvPr>
          <p:cNvGrpSpPr/>
          <p:nvPr/>
        </p:nvGrpSpPr>
        <p:grpSpPr>
          <a:xfrm>
            <a:off x="5219879" y="3899677"/>
            <a:ext cx="5429784" cy="2146220"/>
            <a:chOff x="5219879" y="3899677"/>
            <a:chExt cx="5429784" cy="2146220"/>
          </a:xfrm>
        </p:grpSpPr>
        <p:sp>
          <p:nvSpPr>
            <p:cNvPr id="5" name="CasellaDiTesto 4">
              <a:extLst>
                <a:ext uri="{FF2B5EF4-FFF2-40B4-BE49-F238E27FC236}">
                  <a16:creationId xmlns:a16="http://schemas.microsoft.com/office/drawing/2014/main" id="{7E0BE7AD-44CA-E5D9-9911-88EBB720399B}"/>
                </a:ext>
              </a:extLst>
            </p:cNvPr>
            <p:cNvSpPr txBox="1"/>
            <p:nvPr/>
          </p:nvSpPr>
          <p:spPr>
            <a:xfrm>
              <a:off x="5219879" y="4476237"/>
              <a:ext cx="5429784" cy="1569660"/>
            </a:xfrm>
            <a:prstGeom prst="rect">
              <a:avLst/>
            </a:prstGeom>
            <a:solidFill>
              <a:srgbClr val="ECECEC"/>
            </a:solidFill>
          </p:spPr>
          <p:txBody>
            <a:bodyPr wrap="square" rtlCol="0">
              <a:spAutoFit/>
            </a:bodyPr>
            <a:lstStyle/>
            <a:p>
              <a:pPr marL="228600" indent="-228600" algn="just">
                <a:buAutoNum type="arabicPeriod"/>
              </a:pPr>
              <a:r>
                <a:rPr lang="en-US" sz="8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Abc</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6" name="CasellaDiTesto 5">
              <a:extLst>
                <a:ext uri="{FF2B5EF4-FFF2-40B4-BE49-F238E27FC236}">
                  <a16:creationId xmlns:a16="http://schemas.microsoft.com/office/drawing/2014/main" id="{AD1A2F20-C491-DC54-9C2B-C37E74D979A6}"/>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VAE (+ </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mkm</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Ensamble</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p:txBody>
        </p:sp>
      </p:grpSp>
      <p:sp>
        <p:nvSpPr>
          <p:cNvPr id="7" name="CasellaDiTesto 6">
            <a:extLst>
              <a:ext uri="{FF2B5EF4-FFF2-40B4-BE49-F238E27FC236}">
                <a16:creationId xmlns:a16="http://schemas.microsoft.com/office/drawing/2014/main" id="{ECB396E5-7949-7EF4-F13C-4CACDC6E3273}"/>
              </a:ext>
            </a:extLst>
          </p:cNvPr>
          <p:cNvSpPr txBox="1"/>
          <p:nvPr/>
        </p:nvSpPr>
        <p:spPr>
          <a:xfrm>
            <a:off x="6147669" y="3195899"/>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8" name="CasellaDiTesto 7">
            <a:extLst>
              <a:ext uri="{FF2B5EF4-FFF2-40B4-BE49-F238E27FC236}">
                <a16:creationId xmlns:a16="http://schemas.microsoft.com/office/drawing/2014/main" id="{BC5996CF-0CAB-200A-FAD3-E3C6074F5B1F}"/>
              </a:ext>
            </a:extLst>
          </p:cNvPr>
          <p:cNvSpPr txBox="1"/>
          <p:nvPr/>
        </p:nvSpPr>
        <p:spPr>
          <a:xfrm>
            <a:off x="7834039" y="329050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9" name="CasellaDiTesto 8">
            <a:extLst>
              <a:ext uri="{FF2B5EF4-FFF2-40B4-BE49-F238E27FC236}">
                <a16:creationId xmlns:a16="http://schemas.microsoft.com/office/drawing/2014/main" id="{70ECD605-FC40-B38F-078A-C5F1C02E1FBD}"/>
              </a:ext>
            </a:extLst>
          </p:cNvPr>
          <p:cNvSpPr txBox="1"/>
          <p:nvPr/>
        </p:nvSpPr>
        <p:spPr>
          <a:xfrm>
            <a:off x="8201508" y="3510669"/>
            <a:ext cx="290555"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4</a:t>
            </a:r>
          </a:p>
        </p:txBody>
      </p:sp>
      <p:sp>
        <p:nvSpPr>
          <p:cNvPr id="10" name="CasellaDiTesto 9">
            <a:extLst>
              <a:ext uri="{FF2B5EF4-FFF2-40B4-BE49-F238E27FC236}">
                <a16:creationId xmlns:a16="http://schemas.microsoft.com/office/drawing/2014/main" id="{286A79A6-469F-2307-0DCB-53BEDFF8F686}"/>
              </a:ext>
            </a:extLst>
          </p:cNvPr>
          <p:cNvSpPr txBox="1"/>
          <p:nvPr/>
        </p:nvSpPr>
        <p:spPr>
          <a:xfrm>
            <a:off x="7243489" y="3085241"/>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Tree>
    <p:extLst>
      <p:ext uri="{BB962C8B-B14F-4D97-AF65-F5344CB8AC3E}">
        <p14:creationId xmlns:p14="http://schemas.microsoft.com/office/powerpoint/2010/main" val="24939684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magine 2">
            <a:extLst>
              <a:ext uri="{FF2B5EF4-FFF2-40B4-BE49-F238E27FC236}">
                <a16:creationId xmlns:a16="http://schemas.microsoft.com/office/drawing/2014/main" id="{6ADEA0F5-74CA-62E4-88B9-CD2EA0EE3A9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007" y="0"/>
            <a:ext cx="9697986" cy="6858000"/>
          </a:xfrm>
          <a:prstGeom prst="rect">
            <a:avLst/>
          </a:prstGeom>
        </p:spPr>
      </p:pic>
      <p:grpSp>
        <p:nvGrpSpPr>
          <p:cNvPr id="4" name="Gruppo 3">
            <a:extLst>
              <a:ext uri="{FF2B5EF4-FFF2-40B4-BE49-F238E27FC236}">
                <a16:creationId xmlns:a16="http://schemas.microsoft.com/office/drawing/2014/main" id="{D0B0A35A-75F3-A185-B404-1928FA3E51B9}"/>
              </a:ext>
            </a:extLst>
          </p:cNvPr>
          <p:cNvGrpSpPr/>
          <p:nvPr/>
        </p:nvGrpSpPr>
        <p:grpSpPr>
          <a:xfrm>
            <a:off x="5219879" y="3899677"/>
            <a:ext cx="5429784" cy="2146220"/>
            <a:chOff x="5219879" y="3899677"/>
            <a:chExt cx="5429784" cy="2146220"/>
          </a:xfrm>
        </p:grpSpPr>
        <p:sp>
          <p:nvSpPr>
            <p:cNvPr id="5" name="CasellaDiTesto 4">
              <a:extLst>
                <a:ext uri="{FF2B5EF4-FFF2-40B4-BE49-F238E27FC236}">
                  <a16:creationId xmlns:a16="http://schemas.microsoft.com/office/drawing/2014/main" id="{04C2AD2E-722F-2626-3CD1-8BE649AF0AA7}"/>
                </a:ext>
              </a:extLst>
            </p:cNvPr>
            <p:cNvSpPr txBox="1"/>
            <p:nvPr/>
          </p:nvSpPr>
          <p:spPr>
            <a:xfrm>
              <a:off x="5219879" y="4476237"/>
              <a:ext cx="5429784" cy="1569660"/>
            </a:xfrm>
            <a:prstGeom prst="rect">
              <a:avLst/>
            </a:prstGeom>
            <a:solidFill>
              <a:srgbClr val="ECECEC"/>
            </a:solidFill>
          </p:spPr>
          <p:txBody>
            <a:bodyPr wrap="square" rtlCol="0">
              <a:spAutoFit/>
            </a:bodyPr>
            <a:lstStyle/>
            <a:p>
              <a:pPr marL="228600" indent="-228600" algn="just">
                <a:buAutoNum type="arabicPeriod"/>
              </a:pPr>
              <a:r>
                <a:rPr lang="en-US" sz="8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Abc</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6" name="CasellaDiTesto 5">
              <a:extLst>
                <a:ext uri="{FF2B5EF4-FFF2-40B4-BE49-F238E27FC236}">
                  <a16:creationId xmlns:a16="http://schemas.microsoft.com/office/drawing/2014/main" id="{A2EAB924-8023-A0A2-BA1E-7DBFAC214170}"/>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Multi K-</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means</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&amp; VAE (+ </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mkm</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Ensamble</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p:txBody>
        </p:sp>
      </p:grpSp>
      <p:sp>
        <p:nvSpPr>
          <p:cNvPr id="7" name="CasellaDiTesto 6">
            <a:extLst>
              <a:ext uri="{FF2B5EF4-FFF2-40B4-BE49-F238E27FC236}">
                <a16:creationId xmlns:a16="http://schemas.microsoft.com/office/drawing/2014/main" id="{F24A3A85-6F17-8F7A-154E-D6260768A701}"/>
              </a:ext>
            </a:extLst>
          </p:cNvPr>
          <p:cNvSpPr txBox="1"/>
          <p:nvPr/>
        </p:nvSpPr>
        <p:spPr>
          <a:xfrm>
            <a:off x="6147669" y="3195899"/>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8" name="CasellaDiTesto 7">
            <a:extLst>
              <a:ext uri="{FF2B5EF4-FFF2-40B4-BE49-F238E27FC236}">
                <a16:creationId xmlns:a16="http://schemas.microsoft.com/office/drawing/2014/main" id="{06300A62-A3E0-852E-6A2C-A8E98AF40943}"/>
              </a:ext>
            </a:extLst>
          </p:cNvPr>
          <p:cNvSpPr txBox="1"/>
          <p:nvPr/>
        </p:nvSpPr>
        <p:spPr>
          <a:xfrm>
            <a:off x="7834039" y="329050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9" name="CasellaDiTesto 8">
            <a:extLst>
              <a:ext uri="{FF2B5EF4-FFF2-40B4-BE49-F238E27FC236}">
                <a16:creationId xmlns:a16="http://schemas.microsoft.com/office/drawing/2014/main" id="{D41A40D0-84FD-EA13-96CB-218770501C6A}"/>
              </a:ext>
            </a:extLst>
          </p:cNvPr>
          <p:cNvSpPr txBox="1"/>
          <p:nvPr/>
        </p:nvSpPr>
        <p:spPr>
          <a:xfrm>
            <a:off x="8201508" y="3510669"/>
            <a:ext cx="290555"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4</a:t>
            </a:r>
          </a:p>
        </p:txBody>
      </p:sp>
      <p:sp>
        <p:nvSpPr>
          <p:cNvPr id="10" name="CasellaDiTesto 9">
            <a:extLst>
              <a:ext uri="{FF2B5EF4-FFF2-40B4-BE49-F238E27FC236}">
                <a16:creationId xmlns:a16="http://schemas.microsoft.com/office/drawing/2014/main" id="{7A955787-8D14-5AC3-E64C-4349D96A6243}"/>
              </a:ext>
            </a:extLst>
          </p:cNvPr>
          <p:cNvSpPr txBox="1"/>
          <p:nvPr/>
        </p:nvSpPr>
        <p:spPr>
          <a:xfrm>
            <a:off x="7243489" y="3085241"/>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Tree>
    <p:extLst>
      <p:ext uri="{BB962C8B-B14F-4D97-AF65-F5344CB8AC3E}">
        <p14:creationId xmlns:p14="http://schemas.microsoft.com/office/powerpoint/2010/main" val="647371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magine 2" descr="Immagine che contiene mappa, testo, diagramma&#10;&#10;Descrizione generata automaticamente">
            <a:extLst>
              <a:ext uri="{FF2B5EF4-FFF2-40B4-BE49-F238E27FC236}">
                <a16:creationId xmlns:a16="http://schemas.microsoft.com/office/drawing/2014/main" id="{0AE49346-D89E-2E43-E10A-CC7B13CAE09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007" y="0"/>
            <a:ext cx="9697986" cy="6858000"/>
          </a:xfrm>
          <a:prstGeom prst="rect">
            <a:avLst/>
          </a:prstGeom>
        </p:spPr>
      </p:pic>
      <p:grpSp>
        <p:nvGrpSpPr>
          <p:cNvPr id="4" name="Gruppo 3">
            <a:extLst>
              <a:ext uri="{FF2B5EF4-FFF2-40B4-BE49-F238E27FC236}">
                <a16:creationId xmlns:a16="http://schemas.microsoft.com/office/drawing/2014/main" id="{3F722F55-F6F7-7A7A-9F81-772E484AC25D}"/>
              </a:ext>
            </a:extLst>
          </p:cNvPr>
          <p:cNvGrpSpPr/>
          <p:nvPr/>
        </p:nvGrpSpPr>
        <p:grpSpPr>
          <a:xfrm>
            <a:off x="5219879" y="3899677"/>
            <a:ext cx="5429784" cy="2146220"/>
            <a:chOff x="5219879" y="3899677"/>
            <a:chExt cx="5429784" cy="2146220"/>
          </a:xfrm>
        </p:grpSpPr>
        <p:sp>
          <p:nvSpPr>
            <p:cNvPr id="5" name="CasellaDiTesto 4">
              <a:extLst>
                <a:ext uri="{FF2B5EF4-FFF2-40B4-BE49-F238E27FC236}">
                  <a16:creationId xmlns:a16="http://schemas.microsoft.com/office/drawing/2014/main" id="{DED3305E-FC3F-611E-E3AD-1E44231BA171}"/>
                </a:ext>
              </a:extLst>
            </p:cNvPr>
            <p:cNvSpPr txBox="1"/>
            <p:nvPr/>
          </p:nvSpPr>
          <p:spPr>
            <a:xfrm>
              <a:off x="5219879" y="4476237"/>
              <a:ext cx="5429784" cy="1569660"/>
            </a:xfrm>
            <a:prstGeom prst="rect">
              <a:avLst/>
            </a:prstGeom>
            <a:solidFill>
              <a:srgbClr val="ECECEC"/>
            </a:solidFill>
          </p:spPr>
          <p:txBody>
            <a:bodyPr wrap="square" rtlCol="0">
              <a:spAutoFit/>
            </a:bodyPr>
            <a:lstStyle/>
            <a:p>
              <a:pPr marL="228600" indent="-228600" algn="just">
                <a:buAutoNum type="arabicPeriod"/>
              </a:pPr>
              <a:r>
                <a:rPr lang="en-US" sz="8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Abc</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6" name="CasellaDiTesto 5">
              <a:extLst>
                <a:ext uri="{FF2B5EF4-FFF2-40B4-BE49-F238E27FC236}">
                  <a16:creationId xmlns:a16="http://schemas.microsoft.com/office/drawing/2014/main" id="{55B0AD18-DB5A-02BF-ABE9-33F07DC10A3C}"/>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Multi K-</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means</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&amp; VAE (+ </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mkm</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Ensamble</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p:txBody>
        </p:sp>
      </p:grpSp>
      <p:sp>
        <p:nvSpPr>
          <p:cNvPr id="7" name="CasellaDiTesto 6">
            <a:extLst>
              <a:ext uri="{FF2B5EF4-FFF2-40B4-BE49-F238E27FC236}">
                <a16:creationId xmlns:a16="http://schemas.microsoft.com/office/drawing/2014/main" id="{333F3FBC-FD55-5224-11BA-ED2D225ED2DC}"/>
              </a:ext>
            </a:extLst>
          </p:cNvPr>
          <p:cNvSpPr txBox="1"/>
          <p:nvPr/>
        </p:nvSpPr>
        <p:spPr>
          <a:xfrm>
            <a:off x="6147669" y="3195899"/>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8" name="CasellaDiTesto 7">
            <a:extLst>
              <a:ext uri="{FF2B5EF4-FFF2-40B4-BE49-F238E27FC236}">
                <a16:creationId xmlns:a16="http://schemas.microsoft.com/office/drawing/2014/main" id="{8796D50C-CC72-3826-41BB-9778A5691B72}"/>
              </a:ext>
            </a:extLst>
          </p:cNvPr>
          <p:cNvSpPr txBox="1"/>
          <p:nvPr/>
        </p:nvSpPr>
        <p:spPr>
          <a:xfrm>
            <a:off x="7834039" y="329050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9" name="CasellaDiTesto 8">
            <a:extLst>
              <a:ext uri="{FF2B5EF4-FFF2-40B4-BE49-F238E27FC236}">
                <a16:creationId xmlns:a16="http://schemas.microsoft.com/office/drawing/2014/main" id="{58252813-5986-00C6-3910-0DC61366A590}"/>
              </a:ext>
            </a:extLst>
          </p:cNvPr>
          <p:cNvSpPr txBox="1"/>
          <p:nvPr/>
        </p:nvSpPr>
        <p:spPr>
          <a:xfrm>
            <a:off x="8201508" y="3510669"/>
            <a:ext cx="290555"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4</a:t>
            </a:r>
          </a:p>
        </p:txBody>
      </p:sp>
      <p:sp>
        <p:nvSpPr>
          <p:cNvPr id="10" name="CasellaDiTesto 9">
            <a:extLst>
              <a:ext uri="{FF2B5EF4-FFF2-40B4-BE49-F238E27FC236}">
                <a16:creationId xmlns:a16="http://schemas.microsoft.com/office/drawing/2014/main" id="{46991A98-4AE2-A4E7-DF0C-F2DF334A767E}"/>
              </a:ext>
            </a:extLst>
          </p:cNvPr>
          <p:cNvSpPr txBox="1"/>
          <p:nvPr/>
        </p:nvSpPr>
        <p:spPr>
          <a:xfrm>
            <a:off x="7243489" y="3085241"/>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Tree>
    <p:extLst>
      <p:ext uri="{BB962C8B-B14F-4D97-AF65-F5344CB8AC3E}">
        <p14:creationId xmlns:p14="http://schemas.microsoft.com/office/powerpoint/2010/main" val="250655776"/>
      </p:ext>
    </p:extLst>
  </p:cSld>
  <p:clrMapOvr>
    <a:masterClrMapping/>
  </p:clrMapOvr>
</p:sld>
</file>

<file path=ppt/theme/theme1.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839</TotalTime>
  <Words>2150</Words>
  <Application>Microsoft Office PowerPoint</Application>
  <PresentationFormat>Widescreen</PresentationFormat>
  <Paragraphs>262</Paragraphs>
  <Slides>18</Slides>
  <Notes>0</Notes>
  <HiddenSlides>0</HiddenSlides>
  <MMClips>0</MMClips>
  <ScaleCrop>false</ScaleCrop>
  <HeadingPairs>
    <vt:vector size="6" baseType="variant">
      <vt:variant>
        <vt:lpstr>Caratteri utilizzati</vt:lpstr>
      </vt:variant>
      <vt:variant>
        <vt:i4>4</vt:i4>
      </vt:variant>
      <vt:variant>
        <vt:lpstr>Tema</vt:lpstr>
      </vt:variant>
      <vt:variant>
        <vt:i4>1</vt:i4>
      </vt:variant>
      <vt:variant>
        <vt:lpstr>Titoli diapositive</vt:lpstr>
      </vt:variant>
      <vt:variant>
        <vt:i4>18</vt:i4>
      </vt:variant>
    </vt:vector>
  </HeadingPairs>
  <TitlesOfParts>
    <vt:vector size="23" baseType="lpstr">
      <vt:lpstr>Aptos</vt:lpstr>
      <vt:lpstr>Aptos Display</vt:lpstr>
      <vt:lpstr>Arial</vt:lpstr>
      <vt:lpstr>MS Shell Dlg 2</vt:lpstr>
      <vt:lpstr>Tema di Office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 standard di PowerPoint</dc:title>
  <dc:creator>Laura Pavirani</dc:creator>
  <cp:lastModifiedBy>Laura Pavirani</cp:lastModifiedBy>
  <cp:revision>23</cp:revision>
  <dcterms:created xsi:type="dcterms:W3CDTF">2025-12-10T09:17:21Z</dcterms:created>
  <dcterms:modified xsi:type="dcterms:W3CDTF">2025-12-11T16:05:11Z</dcterms:modified>
</cp:coreProperties>
</file>