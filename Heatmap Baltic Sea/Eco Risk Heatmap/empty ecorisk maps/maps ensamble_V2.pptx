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4" r:id="rId5"/>
    <p:sldId id="266" r:id="rId6"/>
    <p:sldId id="268" r:id="rId7"/>
    <p:sldId id="270" r:id="rId8"/>
    <p:sldId id="276" r:id="rId9"/>
    <p:sldId id="272" r:id="rId10"/>
    <p:sldId id="278" r:id="rId11"/>
    <p:sldId id="274" r:id="rId12"/>
    <p:sldId id="279" r:id="rId13"/>
    <p:sldId id="281" r:id="rId14"/>
    <p:sldId id="257" r:id="rId15"/>
    <p:sldId id="258" r:id="rId16"/>
    <p:sldId id="259" r:id="rId17"/>
    <p:sldId id="263" r:id="rId18"/>
    <p:sldId id="265" r:id="rId19"/>
    <p:sldId id="267" r:id="rId20"/>
    <p:sldId id="269" r:id="rId21"/>
    <p:sldId id="275" r:id="rId22"/>
    <p:sldId id="271" r:id="rId23"/>
    <p:sldId id="277" r:id="rId24"/>
    <p:sldId id="273" r:id="rId25"/>
    <p:sldId id="280" r:id="rId26"/>
  </p:sldIdLst>
  <p:sldSz cx="12192000" cy="6858000"/>
  <p:notesSz cx="6735763" cy="98663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km - all spp" id="{A805E225-AFCB-41F4-A93F-3547F6EC7C98}">
          <p14:sldIdLst>
            <p14:sldId id="260"/>
          </p14:sldIdLst>
        </p14:section>
        <p14:section name="mkm - five spp" id="{1C7B0101-1060-4B33-913A-3F9859A7BEEF}">
          <p14:sldIdLst>
            <p14:sldId id="261"/>
          </p14:sldIdLst>
        </p14:section>
        <p14:section name="mkm - gadus morhua" id="{BA4EB1F9-6F98-45B7-A895-24E26D34C2F4}">
          <p14:sldIdLst>
            <p14:sldId id="262"/>
          </p14:sldIdLst>
        </p14:section>
        <p14:section name="vae - all spp" id="{8F148BFE-7AEE-4126-AEA0-C8072BE307A7}">
          <p14:sldIdLst>
            <p14:sldId id="264"/>
          </p14:sldIdLst>
        </p14:section>
        <p14:section name="vae - five spp" id="{4F13373D-6E6A-42A3-B29F-E1B6BDBCFFAA}">
          <p14:sldIdLst>
            <p14:sldId id="266"/>
          </p14:sldIdLst>
        </p14:section>
        <p14:section name="vae - gadus morhua" id="{3962C957-CEA9-4734-88F2-4E7248CD5DDD}">
          <p14:sldIdLst>
            <p14:sldId id="268"/>
          </p14:sldIdLst>
        </p14:section>
        <p14:section name="mkm - ensamble" id="{9ED4AFFB-662D-4003-AD23-FD99C1B60F6B}">
          <p14:sldIdLst>
            <p14:sldId id="270"/>
            <p14:sldId id="276"/>
          </p14:sldIdLst>
        </p14:section>
        <p14:section name="vae - ensamble" id="{1B3F18D0-6634-444B-9379-EA1D8A76E847}">
          <p14:sldIdLst>
            <p14:sldId id="272"/>
            <p14:sldId id="278"/>
          </p14:sldIdLst>
        </p14:section>
        <p14:section name="mkm + vae" id="{D7789E8E-696D-4013-9505-A8637F0CD33D}">
          <p14:sldIdLst>
            <p14:sldId id="274"/>
            <p14:sldId id="279"/>
            <p14:sldId id="281"/>
          </p14:sldIdLst>
        </p14:section>
        <p14:section name="Red maps" id="{CC4A3A1A-DB0C-4802-AED9-4F580F8E532F}">
          <p14:sldIdLst>
            <p14:sldId id="257"/>
            <p14:sldId id="258"/>
            <p14:sldId id="259"/>
            <p14:sldId id="263"/>
            <p14:sldId id="265"/>
            <p14:sldId id="267"/>
            <p14:sldId id="269"/>
            <p14:sldId id="275"/>
            <p14:sldId id="271"/>
            <p14:sldId id="277"/>
            <p14:sldId id="273"/>
            <p14:sldId id="28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showGuides="1">
      <p:cViewPr>
        <p:scale>
          <a:sx n="125" d="100"/>
          <a:sy n="125" d="100"/>
        </p:scale>
        <p:origin x="1596" y="60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BBE0A0-CBF8-A0EF-66AB-8F89817A127C}"/>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33F7040D-11A4-CF1D-1272-84DEAD34FA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FBDB4F6-4B81-794F-22B5-CD4866E68B8E}"/>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C9427516-1345-33C4-E15E-2299256B318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94DDD7A-F440-879C-102E-DB95AB317D07}"/>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3230497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A818FA-C53D-C5AE-6199-26C5AA2E216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40B71BD-9098-04F8-D81D-BEBE134F9D4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A05D9CD-BF74-F0E4-4AAE-9F430399EAB6}"/>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31C888C0-7D7E-D22E-B2C0-7DE2F644E3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344CB40-9140-63AB-2615-8CA794AF999E}"/>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4162935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4382034-B89E-9573-3B68-81FC7437158A}"/>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30B0CA49-16B5-1608-E94D-C569AE4D5B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948EA4C0-8501-38B3-5469-B035799BA4F8}"/>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B091514B-FFFC-EAA7-C38D-031B4130ED8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621FAB4-3F99-C15F-0CEE-C7D491815594}"/>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606957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C9BDA0-5EF4-EA9A-E147-DCAABB098BC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A02E991-1B5E-CB07-F1B0-0150F84B53DB}"/>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6F7B740E-F8E7-3AEB-2DD9-32F1EE3454C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0909FF4-C43F-76FA-742E-2B9E28927F65}"/>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6" name="Segnaposto piè di pagina 5">
            <a:extLst>
              <a:ext uri="{FF2B5EF4-FFF2-40B4-BE49-F238E27FC236}">
                <a16:creationId xmlns:a16="http://schemas.microsoft.com/office/drawing/2014/main" id="{727AC408-A3B5-20F4-815D-585BAAE0DCE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D447E2D-0290-0DC9-4EB8-BE766BD8465C}"/>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3462317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0400B7-74AE-CFF3-4A2D-CDB42C5BD265}"/>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CA461D9-FED0-5BB7-A8DB-5A80C84D94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7F8C463-1EC1-DEAB-4BF9-659C97B08437}"/>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AA83D10-5E45-B387-55C2-9DBBE08E8D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D7C50233-38BE-B1CD-892D-CFD0B9BE542D}"/>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6F5F16F4-8F11-8C73-49F2-4E011C375F4C}"/>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8" name="Segnaposto piè di pagina 7">
            <a:extLst>
              <a:ext uri="{FF2B5EF4-FFF2-40B4-BE49-F238E27FC236}">
                <a16:creationId xmlns:a16="http://schemas.microsoft.com/office/drawing/2014/main" id="{4F7372DB-AA40-AC65-5B1F-3C89A809D561}"/>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FE492B74-C8F6-60CA-FDC7-EB18DCE85F5E}"/>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822114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73C598-C749-B71B-97E5-83340FDCB3D1}"/>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993A9799-37B1-C52D-1845-CC4996003684}"/>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4" name="Segnaposto piè di pagina 3">
            <a:extLst>
              <a:ext uri="{FF2B5EF4-FFF2-40B4-BE49-F238E27FC236}">
                <a16:creationId xmlns:a16="http://schemas.microsoft.com/office/drawing/2014/main" id="{56836BD7-9F6A-D174-748B-07C939B47211}"/>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6088E0A9-C532-A01C-F682-24B9AAD0CC1A}"/>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00398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C243262-14B8-B36C-1692-24880F80C039}"/>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3" name="Segnaposto piè di pagina 2">
            <a:extLst>
              <a:ext uri="{FF2B5EF4-FFF2-40B4-BE49-F238E27FC236}">
                <a16:creationId xmlns:a16="http://schemas.microsoft.com/office/drawing/2014/main" id="{93A8752F-C94B-2E82-DF15-31433EEF754A}"/>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5DB2BB79-9A68-76E9-63C9-26FB93787267}"/>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863480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9FF27C-4CB6-C5AD-FF2B-1989FF37085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12E4E98-1C0B-DB46-E2A7-D6A4B276DE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111FF215-5A83-7627-335E-5C78579DC8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7D04CF5-52F0-E6E8-E7BD-4F9391BC215C}"/>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6" name="Segnaposto piè di pagina 5">
            <a:extLst>
              <a:ext uri="{FF2B5EF4-FFF2-40B4-BE49-F238E27FC236}">
                <a16:creationId xmlns:a16="http://schemas.microsoft.com/office/drawing/2014/main" id="{B87EFF67-96C9-9EF1-7FB4-28FD53F57E6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9C4DF7E-E2D4-9451-9970-777102C53F62}"/>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828263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E9D771-2F9B-FA04-1B37-34FF27D745C0}"/>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FB0C827E-9BE8-2E98-F5B2-E1323A23F6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5796002-26C1-672C-8C0E-DA26A7D7E5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DF69D20-0F19-7919-1F86-4ED89DFFB250}"/>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6" name="Segnaposto piè di pagina 5">
            <a:extLst>
              <a:ext uri="{FF2B5EF4-FFF2-40B4-BE49-F238E27FC236}">
                <a16:creationId xmlns:a16="http://schemas.microsoft.com/office/drawing/2014/main" id="{E352CF88-6B0C-81BE-5D8D-8FF2E8E526E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E24CF7D-0491-9667-C368-C38AD9D45F7F}"/>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190645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F5F81F-7189-97E5-5462-0A908563638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A5D2A5E-0F27-F010-17B3-9FA09A4AAFF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2CA576B-3A62-85B0-5A3B-B06B0DB7ABFC}"/>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3B77D120-63AB-ECD1-4620-D6D01D118F8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2B85CE9-4AAF-D723-1872-B5936019B05B}"/>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758917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2EF1D34-BE4C-D40B-633A-CE1081D1C3C9}"/>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2EB05C5-F410-3AB6-9833-CEDCCF15A7B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B66FC0-C212-4EF8-C72D-B0DD2C506D10}"/>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CBBD3EDA-4080-57C3-7844-35C438F5853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BF9DF2A-1C54-987C-D14B-02DBA9E7C353}"/>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39783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38C893F-6660-6807-1189-CD19430D12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6E02A44D-32F0-7545-D7F9-8CDFE20EBB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517CE55-1C6F-8D1B-EAAE-F57BE00D8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33ABF1CA-1DDE-9D8C-8B18-E59C857422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D8E9A230-1255-CF33-71CA-32D5A27B2E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1EA57E-E379-4B46-AB2C-561019FDBF6D}" type="slidenum">
              <a:rPr lang="it-IT" smtClean="0"/>
              <a:t>‹N›</a:t>
            </a:fld>
            <a:endParaRPr lang="it-IT"/>
          </a:p>
        </p:txBody>
      </p:sp>
    </p:spTree>
    <p:extLst>
      <p:ext uri="{BB962C8B-B14F-4D97-AF65-F5344CB8AC3E}">
        <p14:creationId xmlns:p14="http://schemas.microsoft.com/office/powerpoint/2010/main" val="4278199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descr="Immagine che contiene mappa, testo, diagramma&#10;&#10;Descrizione generata automaticamente">
            <a:extLst>
              <a:ext uri="{FF2B5EF4-FFF2-40B4-BE49-F238E27FC236}">
                <a16:creationId xmlns:a16="http://schemas.microsoft.com/office/drawing/2014/main" id="{A8C9D8DD-2C70-37D5-C0E8-D975123D3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sp>
        <p:nvSpPr>
          <p:cNvPr id="4" name="CasellaDiTesto 3">
            <a:extLst>
              <a:ext uri="{FF2B5EF4-FFF2-40B4-BE49-F238E27FC236}">
                <a16:creationId xmlns:a16="http://schemas.microsoft.com/office/drawing/2014/main" id="{D5FC6E3C-5C82-FF38-D4BD-308B60B78F72}"/>
              </a:ext>
            </a:extLst>
          </p:cNvPr>
          <p:cNvSpPr txBox="1"/>
          <p:nvPr/>
        </p:nvSpPr>
        <p:spPr>
          <a:xfrm>
            <a:off x="7934771" y="255092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7318049" y="273471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6701327" y="273471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9" name="CasellaDiTesto 8">
            <a:extLst>
              <a:ext uri="{FF2B5EF4-FFF2-40B4-BE49-F238E27FC236}">
                <a16:creationId xmlns:a16="http://schemas.microsoft.com/office/drawing/2014/main" id="{FE895E89-1966-148F-927D-F38AB575517A}"/>
              </a:ext>
            </a:extLst>
          </p:cNvPr>
          <p:cNvSpPr txBox="1"/>
          <p:nvPr/>
        </p:nvSpPr>
        <p:spPr>
          <a:xfrm>
            <a:off x="7209802" y="31520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grpSp>
        <p:nvGrpSpPr>
          <p:cNvPr id="10" name="Gruppo 9">
            <a:extLst>
              <a:ext uri="{FF2B5EF4-FFF2-40B4-BE49-F238E27FC236}">
                <a16:creationId xmlns:a16="http://schemas.microsoft.com/office/drawing/2014/main" id="{CD2A974A-C917-13A8-51D6-599E4BC48FD9}"/>
              </a:ext>
            </a:extLst>
          </p:cNvPr>
          <p:cNvGrpSpPr/>
          <p:nvPr/>
        </p:nvGrpSpPr>
        <p:grpSpPr>
          <a:xfrm>
            <a:off x="5219879" y="3899677"/>
            <a:ext cx="5429784" cy="2387103"/>
            <a:chOff x="5219879" y="3899677"/>
            <a:chExt cx="5429784" cy="2387103"/>
          </a:xfrm>
        </p:grpSpPr>
        <p:sp>
          <p:nvSpPr>
            <p:cNvPr id="13" name="CasellaDiTesto 12">
              <a:extLst>
                <a:ext uri="{FF2B5EF4-FFF2-40B4-BE49-F238E27FC236}">
                  <a16:creationId xmlns:a16="http://schemas.microsoft.com/office/drawing/2014/main" id="{ECF69955-A394-C267-B14A-7E40C5130151}"/>
                </a:ext>
              </a:extLst>
            </p:cNvPr>
            <p:cNvSpPr txBox="1"/>
            <p:nvPr/>
          </p:nvSpPr>
          <p:spPr>
            <a:xfrm>
              <a:off x="5219879" y="4470898"/>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to high salinity, and low surface productivity. Very high biomass. Fishing activity is low to fair, and shipping traffic is moderate. Strong anthropogenic influence with a marked presence of dumping sites and very few wind farms.</a:t>
              </a:r>
            </a:p>
            <a:p>
              <a:pPr marL="228600" indent="-228600" algn="just">
                <a:buFont typeface="+mj-lt"/>
                <a:buAutoNum type="arabicPeriod"/>
              </a:pPr>
              <a:endParaRPr lang="it-IT"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low bottom salinity, and quite low surface productivity. Very high biomass. Fair to moderate fishing activity, and fair shipping traffic. Minor anthropogenic influence with the presence of wind farms.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Very high biomass. Fair fishing activity and moderate shipping traffic. Moderate to high anthropogenic influence, with dumping sites and wind farms.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fair surface productivity. Very high biomass, low salinity, slightly high fishing activity, moderate shipping traffic, and the presence of wind farms.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4" name="CasellaDiTesto 13">
              <a:extLst>
                <a:ext uri="{FF2B5EF4-FFF2-40B4-BE49-F238E27FC236}">
                  <a16:creationId xmlns:a16="http://schemas.microsoft.com/office/drawing/2014/main" id="{79BCF7B0-422A-A9CA-E75A-7ECBE1E9F98F}"/>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All</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Tree>
    <p:extLst>
      <p:ext uri="{BB962C8B-B14F-4D97-AF65-F5344CB8AC3E}">
        <p14:creationId xmlns:p14="http://schemas.microsoft.com/office/powerpoint/2010/main" val="2196503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 atlante&#10;&#10;Descrizione generata automaticamente">
            <a:extLst>
              <a:ext uri="{FF2B5EF4-FFF2-40B4-BE49-F238E27FC236}">
                <a16:creationId xmlns:a16="http://schemas.microsoft.com/office/drawing/2014/main" id="{3BD079C5-40D5-77DD-77B0-6454F5DC12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12" name="Gruppo 11">
            <a:extLst>
              <a:ext uri="{FF2B5EF4-FFF2-40B4-BE49-F238E27FC236}">
                <a16:creationId xmlns:a16="http://schemas.microsoft.com/office/drawing/2014/main" id="{70042BF6-2E50-EF9E-C984-DDC13CA0220F}"/>
              </a:ext>
            </a:extLst>
          </p:cNvPr>
          <p:cNvGrpSpPr/>
          <p:nvPr/>
        </p:nvGrpSpPr>
        <p:grpSpPr>
          <a:xfrm>
            <a:off x="5219879" y="3899677"/>
            <a:ext cx="5429784" cy="2125492"/>
            <a:chOff x="5219879" y="3899677"/>
            <a:chExt cx="5429784" cy="2125492"/>
          </a:xfrm>
        </p:grpSpPr>
        <p:sp>
          <p:nvSpPr>
            <p:cNvPr id="7" name="CasellaDiTesto 6">
              <a:extLst>
                <a:ext uri="{FF2B5EF4-FFF2-40B4-BE49-F238E27FC236}">
                  <a16:creationId xmlns:a16="http://schemas.microsoft.com/office/drawing/2014/main" id="{AC2AC8C7-85E6-2BDC-C429-2EE4A5DC7003}"/>
                </a:ext>
              </a:extLst>
            </p:cNvPr>
            <p:cNvSpPr txBox="1"/>
            <p:nvPr/>
          </p:nvSpPr>
          <p:spPr>
            <a:xfrm>
              <a:off x="5219879" y="4532453"/>
              <a:ext cx="5429784" cy="1492716"/>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very low surface productivity. Very high biomass of five commercial demersal species, high salinity, high fishing activity, and fair shipping traffic. Strong anthropogenic influence with a dominant presence of dumping sites and minor military areas and wind farms.</a:t>
              </a:r>
            </a:p>
            <a:p>
              <a:pPr marL="228600" indent="-228600" algn="just">
                <a:buAutoNum type="arabicPeriod"/>
              </a:pPr>
              <a:endParaRPr lang="it-IT"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low bottom oxygen and fair surface productivity. Very high biomass of five commercial demersal species, extremely high fishing activity, moderate shipping traffic, and moderate salinity, with minor presence of military areas.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low bottom oxygen and fair surface productivity. Very high biomass of five commercial demersal species, very high fishing activity, moderate shipping traffic, and low/fair salinity.</a:t>
              </a:r>
            </a:p>
            <a:p>
              <a:pPr marL="228600" indent="-228600" algn="just">
                <a:buFont typeface="+mj-lt"/>
                <a:buAutoNum type="arabicPeriod"/>
              </a:pP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1" name="CasellaDiTesto 10">
              <a:extLst>
                <a:ext uri="{FF2B5EF4-FFF2-40B4-BE49-F238E27FC236}">
                  <a16:creationId xmlns:a16="http://schemas.microsoft.com/office/drawing/2014/main" id="{68BF044D-BE7B-5396-1843-2C875EAC56F7}"/>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Five</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4" name="CasellaDiTesto 3">
            <a:extLst>
              <a:ext uri="{FF2B5EF4-FFF2-40B4-BE49-F238E27FC236}">
                <a16:creationId xmlns:a16="http://schemas.microsoft.com/office/drawing/2014/main" id="{D5FC6E3C-5C82-FF38-D4BD-308B60B78F72}"/>
              </a:ext>
            </a:extLst>
          </p:cNvPr>
          <p:cNvSpPr txBox="1"/>
          <p:nvPr/>
        </p:nvSpPr>
        <p:spPr>
          <a:xfrm>
            <a:off x="6096000" y="31284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7984050" y="34290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7138301" y="31284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Tree>
    <p:extLst>
      <p:ext uri="{BB962C8B-B14F-4D97-AF65-F5344CB8AC3E}">
        <p14:creationId xmlns:p14="http://schemas.microsoft.com/office/powerpoint/2010/main" val="2594551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 atlante&#10;&#10;Descrizione generata automaticamente">
            <a:extLst>
              <a:ext uri="{FF2B5EF4-FFF2-40B4-BE49-F238E27FC236}">
                <a16:creationId xmlns:a16="http://schemas.microsoft.com/office/drawing/2014/main" id="{DBB7B2F1-07EE-479F-CA24-DD9EDD6D2D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6" name="Gruppo 5">
            <a:extLst>
              <a:ext uri="{FF2B5EF4-FFF2-40B4-BE49-F238E27FC236}">
                <a16:creationId xmlns:a16="http://schemas.microsoft.com/office/drawing/2014/main" id="{B74AEFEA-4FD0-B0B7-C9FB-5104C6A6979B}"/>
              </a:ext>
            </a:extLst>
          </p:cNvPr>
          <p:cNvGrpSpPr/>
          <p:nvPr/>
        </p:nvGrpSpPr>
        <p:grpSpPr>
          <a:xfrm>
            <a:off x="5219879" y="3899677"/>
            <a:ext cx="5429784" cy="2202305"/>
            <a:chOff x="5219879" y="3899677"/>
            <a:chExt cx="5429784" cy="2202305"/>
          </a:xfrm>
        </p:grpSpPr>
        <p:sp>
          <p:nvSpPr>
            <p:cNvPr id="7" name="CasellaDiTesto 6">
              <a:extLst>
                <a:ext uri="{FF2B5EF4-FFF2-40B4-BE49-F238E27FC236}">
                  <a16:creationId xmlns:a16="http://schemas.microsoft.com/office/drawing/2014/main" id="{FB9C796C-B593-02A0-402F-B29783ADA7D6}"/>
                </a:ext>
              </a:extLst>
            </p:cNvPr>
            <p:cNvSpPr txBox="1"/>
            <p:nvPr/>
          </p:nvSpPr>
          <p:spPr>
            <a:xfrm>
              <a:off x="5219879" y="4532322"/>
              <a:ext cx="5429784" cy="1569660"/>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warm areas with slightly low bottom oxygen and very high surface productivity. Moderate to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moderate salinity. Minor anthropogenic influence with light presence of dumping sites, military areas, and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cool areas with extremely low bottom oxygen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fair salinity. Minimal presence of wind farms.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cool areas with moderately low bottom oxygen and moderate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fair salinity. Minimal anthropogenic influence, with only light presence of dumping sites, military areas, and wind farms.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p:txBody>
        </p:sp>
        <p:sp>
          <p:nvSpPr>
            <p:cNvPr id="8" name="CasellaDiTesto 7">
              <a:extLst>
                <a:ext uri="{FF2B5EF4-FFF2-40B4-BE49-F238E27FC236}">
                  <a16:creationId xmlns:a16="http://schemas.microsoft.com/office/drawing/2014/main" id="{02E62B29-E12E-426E-E13E-639E86F2DB5B}"/>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p>
          </p:txBody>
        </p:sp>
      </p:grpSp>
      <p:sp>
        <p:nvSpPr>
          <p:cNvPr id="9" name="CasellaDiTesto 8">
            <a:extLst>
              <a:ext uri="{FF2B5EF4-FFF2-40B4-BE49-F238E27FC236}">
                <a16:creationId xmlns:a16="http://schemas.microsoft.com/office/drawing/2014/main" id="{CE88400E-970D-F4CB-FFE1-A3EE8A3C68FD}"/>
              </a:ext>
            </a:extLst>
          </p:cNvPr>
          <p:cNvSpPr txBox="1"/>
          <p:nvPr/>
        </p:nvSpPr>
        <p:spPr>
          <a:xfrm>
            <a:off x="4363914" y="296271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0" name="CasellaDiTesto 9">
            <a:extLst>
              <a:ext uri="{FF2B5EF4-FFF2-40B4-BE49-F238E27FC236}">
                <a16:creationId xmlns:a16="http://schemas.microsoft.com/office/drawing/2014/main" id="{614DBA9D-0EDF-9CE0-FB2C-E5E723825D7F}"/>
              </a:ext>
            </a:extLst>
          </p:cNvPr>
          <p:cNvSpPr txBox="1"/>
          <p:nvPr/>
        </p:nvSpPr>
        <p:spPr>
          <a:xfrm>
            <a:off x="7242050" y="320616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1" name="CasellaDiTesto 10">
            <a:extLst>
              <a:ext uri="{FF2B5EF4-FFF2-40B4-BE49-F238E27FC236}">
                <a16:creationId xmlns:a16="http://schemas.microsoft.com/office/drawing/2014/main" id="{4C0B5442-9E58-9CB4-07EF-4870CD051E09}"/>
              </a:ext>
            </a:extLst>
          </p:cNvPr>
          <p:cNvSpPr txBox="1"/>
          <p:nvPr/>
        </p:nvSpPr>
        <p:spPr>
          <a:xfrm>
            <a:off x="6303698" y="3388812"/>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3" name="CasellaDiTesto 12">
            <a:extLst>
              <a:ext uri="{FF2B5EF4-FFF2-40B4-BE49-F238E27FC236}">
                <a16:creationId xmlns:a16="http://schemas.microsoft.com/office/drawing/2014/main" id="{4401768A-4A3A-D401-BDAE-92B0CBA0E1E6}"/>
              </a:ext>
            </a:extLst>
          </p:cNvPr>
          <p:cNvSpPr txBox="1"/>
          <p:nvPr/>
        </p:nvSpPr>
        <p:spPr>
          <a:xfrm>
            <a:off x="7834558" y="3388812"/>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Tree>
    <p:extLst>
      <p:ext uri="{BB962C8B-B14F-4D97-AF65-F5344CB8AC3E}">
        <p14:creationId xmlns:p14="http://schemas.microsoft.com/office/powerpoint/2010/main" val="3745361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10;&#10;Descrizione generata automaticamente">
            <a:extLst>
              <a:ext uri="{FF2B5EF4-FFF2-40B4-BE49-F238E27FC236}">
                <a16:creationId xmlns:a16="http://schemas.microsoft.com/office/drawing/2014/main" id="{F9507DFE-CD8F-1F16-C86F-419562F991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sp>
        <p:nvSpPr>
          <p:cNvPr id="7" name="CasellaDiTesto 6">
            <a:extLst>
              <a:ext uri="{FF2B5EF4-FFF2-40B4-BE49-F238E27FC236}">
                <a16:creationId xmlns:a16="http://schemas.microsoft.com/office/drawing/2014/main" id="{FB9C796C-B593-02A0-402F-B29783ADA7D6}"/>
              </a:ext>
            </a:extLst>
          </p:cNvPr>
          <p:cNvSpPr txBox="1"/>
          <p:nvPr/>
        </p:nvSpPr>
        <p:spPr>
          <a:xfrm>
            <a:off x="5219879" y="4532322"/>
            <a:ext cx="5429784" cy="215444"/>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ABC…..</a:t>
            </a:r>
          </a:p>
        </p:txBody>
      </p:sp>
      <p:grpSp>
        <p:nvGrpSpPr>
          <p:cNvPr id="12" name="Gruppo 11">
            <a:extLst>
              <a:ext uri="{FF2B5EF4-FFF2-40B4-BE49-F238E27FC236}">
                <a16:creationId xmlns:a16="http://schemas.microsoft.com/office/drawing/2014/main" id="{FDDD8365-C09C-F2DF-D512-3917AD40B1C2}"/>
              </a:ext>
            </a:extLst>
          </p:cNvPr>
          <p:cNvGrpSpPr/>
          <p:nvPr/>
        </p:nvGrpSpPr>
        <p:grpSpPr>
          <a:xfrm>
            <a:off x="5219879" y="3899677"/>
            <a:ext cx="5429784" cy="2392442"/>
            <a:chOff x="5219879" y="3899677"/>
            <a:chExt cx="5429784" cy="2392442"/>
          </a:xfrm>
        </p:grpSpPr>
        <p:sp>
          <p:nvSpPr>
            <p:cNvPr id="14" name="CasellaDiTesto 13">
              <a:extLst>
                <a:ext uri="{FF2B5EF4-FFF2-40B4-BE49-F238E27FC236}">
                  <a16:creationId xmlns:a16="http://schemas.microsoft.com/office/drawing/2014/main" id="{63DB16E8-7673-DF06-070D-482732244F8D}"/>
                </a:ext>
              </a:extLst>
            </p:cNvPr>
            <p:cNvSpPr txBox="1"/>
            <p:nvPr/>
          </p:nvSpPr>
          <p:spPr>
            <a:xfrm>
              <a:off x="5219879" y="4476237"/>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cold areas with high bottom oxygen and fairly moderate surface productivity. Very high biomass, moderately high fishing activity, moderate shipping traffic, and low salinity. Intense anthropogenic influence, limited to military areas.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areas with cool bottom waters, very high biomass, and moderate surface productivity. Moderately high fishing activity, moderate shipping traffic, and low salinity, with high bottom oxygen levels. Intense anthropogenic influence, limited to military areas.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low surface productivity. Very high biomass, moderate fishing activity, moderate shipping traffic, and moderate to high salinity. Strong presence of dumping sites and only minimal military influence.</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cold areas with low bottom oxygen and moderate surface productivity. High biomass, moderate to high fishing activity, high shipping traffic, and low salinity. Minimal presence of wind farms.</a:t>
              </a:r>
            </a:p>
          </p:txBody>
        </p:sp>
        <p:sp>
          <p:nvSpPr>
            <p:cNvPr id="15" name="CasellaDiTesto 14">
              <a:extLst>
                <a:ext uri="{FF2B5EF4-FFF2-40B4-BE49-F238E27FC236}">
                  <a16:creationId xmlns:a16="http://schemas.microsoft.com/office/drawing/2014/main" id="{9410F135-8E8A-D277-EDF5-20623186786D}"/>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All</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6" name="CasellaDiTesto 15">
            <a:extLst>
              <a:ext uri="{FF2B5EF4-FFF2-40B4-BE49-F238E27FC236}">
                <a16:creationId xmlns:a16="http://schemas.microsoft.com/office/drawing/2014/main" id="{CBD5D4D5-2C6A-1A5D-D09D-F4320726F0F1}"/>
              </a:ext>
            </a:extLst>
          </p:cNvPr>
          <p:cNvSpPr txBox="1"/>
          <p:nvPr/>
        </p:nvSpPr>
        <p:spPr>
          <a:xfrm>
            <a:off x="6354283" y="269558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7" name="CasellaDiTesto 16">
            <a:extLst>
              <a:ext uri="{FF2B5EF4-FFF2-40B4-BE49-F238E27FC236}">
                <a16:creationId xmlns:a16="http://schemas.microsoft.com/office/drawing/2014/main" id="{C32DF3A5-0213-118F-CF75-8249A8B012E5}"/>
              </a:ext>
            </a:extLst>
          </p:cNvPr>
          <p:cNvSpPr txBox="1"/>
          <p:nvPr/>
        </p:nvSpPr>
        <p:spPr>
          <a:xfrm>
            <a:off x="5692440" y="275373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8" name="CasellaDiTesto 17">
            <a:extLst>
              <a:ext uri="{FF2B5EF4-FFF2-40B4-BE49-F238E27FC236}">
                <a16:creationId xmlns:a16="http://schemas.microsoft.com/office/drawing/2014/main" id="{24910F9C-CEB2-8D27-B566-AB4976ABBBCD}"/>
              </a:ext>
            </a:extLst>
          </p:cNvPr>
          <p:cNvSpPr txBox="1"/>
          <p:nvPr/>
        </p:nvSpPr>
        <p:spPr>
          <a:xfrm>
            <a:off x="8228838" y="3297633"/>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9" name="CasellaDiTesto 18">
            <a:extLst>
              <a:ext uri="{FF2B5EF4-FFF2-40B4-BE49-F238E27FC236}">
                <a16:creationId xmlns:a16="http://schemas.microsoft.com/office/drawing/2014/main" id="{9AB21391-CAA1-333C-FEF4-18DE19E9C9F3}"/>
              </a:ext>
            </a:extLst>
          </p:cNvPr>
          <p:cNvSpPr txBox="1"/>
          <p:nvPr/>
        </p:nvSpPr>
        <p:spPr>
          <a:xfrm>
            <a:off x="7934771" y="261523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20" name="CasellaDiTesto 19">
            <a:extLst>
              <a:ext uri="{FF2B5EF4-FFF2-40B4-BE49-F238E27FC236}">
                <a16:creationId xmlns:a16="http://schemas.microsoft.com/office/drawing/2014/main" id="{8BD24711-16A5-E3D2-167B-CB43E937DB40}"/>
              </a:ext>
            </a:extLst>
          </p:cNvPr>
          <p:cNvSpPr txBox="1"/>
          <p:nvPr/>
        </p:nvSpPr>
        <p:spPr>
          <a:xfrm>
            <a:off x="8957134" y="2439405"/>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21" name="CasellaDiTesto 20">
            <a:extLst>
              <a:ext uri="{FF2B5EF4-FFF2-40B4-BE49-F238E27FC236}">
                <a16:creationId xmlns:a16="http://schemas.microsoft.com/office/drawing/2014/main" id="{EF14A826-C238-0924-B4F2-1EA9251B60BA}"/>
              </a:ext>
            </a:extLst>
          </p:cNvPr>
          <p:cNvSpPr txBox="1"/>
          <p:nvPr/>
        </p:nvSpPr>
        <p:spPr>
          <a:xfrm>
            <a:off x="6837105" y="3020634"/>
            <a:ext cx="565119"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spTree>
    <p:extLst>
      <p:ext uri="{BB962C8B-B14F-4D97-AF65-F5344CB8AC3E}">
        <p14:creationId xmlns:p14="http://schemas.microsoft.com/office/powerpoint/2010/main" val="3029371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 atlante&#10;&#10;Descrizione generata automaticamente">
            <a:extLst>
              <a:ext uri="{FF2B5EF4-FFF2-40B4-BE49-F238E27FC236}">
                <a16:creationId xmlns:a16="http://schemas.microsoft.com/office/drawing/2014/main" id="{815862A8-0EC0-3593-8C1C-378AFB1F5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sp>
        <p:nvSpPr>
          <p:cNvPr id="4" name="CasellaDiTesto 3">
            <a:extLst>
              <a:ext uri="{FF2B5EF4-FFF2-40B4-BE49-F238E27FC236}">
                <a16:creationId xmlns:a16="http://schemas.microsoft.com/office/drawing/2014/main" id="{F225F658-5F13-3124-D001-CF7A98C6F58F}"/>
              </a:ext>
            </a:extLst>
          </p:cNvPr>
          <p:cNvSpPr txBox="1"/>
          <p:nvPr/>
        </p:nvSpPr>
        <p:spPr>
          <a:xfrm>
            <a:off x="6147669" y="319589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11A3D605-F61B-4B31-C66A-3E928A34B391}"/>
              </a:ext>
            </a:extLst>
          </p:cNvPr>
          <p:cNvSpPr txBox="1"/>
          <p:nvPr/>
        </p:nvSpPr>
        <p:spPr>
          <a:xfrm>
            <a:off x="7258991" y="313248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6" name="CasellaDiTesto 5">
            <a:extLst>
              <a:ext uri="{FF2B5EF4-FFF2-40B4-BE49-F238E27FC236}">
                <a16:creationId xmlns:a16="http://schemas.microsoft.com/office/drawing/2014/main" id="{A4E9D876-8BD4-1AD3-64B5-8725D22C3A6A}"/>
              </a:ext>
            </a:extLst>
          </p:cNvPr>
          <p:cNvSpPr txBox="1"/>
          <p:nvPr/>
        </p:nvSpPr>
        <p:spPr>
          <a:xfrm>
            <a:off x="5422786" y="299398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7" name="CasellaDiTesto 6">
            <a:extLst>
              <a:ext uri="{FF2B5EF4-FFF2-40B4-BE49-F238E27FC236}">
                <a16:creationId xmlns:a16="http://schemas.microsoft.com/office/drawing/2014/main" id="{CF9C4FEB-2D14-2E2A-F783-D22285879739}"/>
              </a:ext>
            </a:extLst>
          </p:cNvPr>
          <p:cNvSpPr txBox="1"/>
          <p:nvPr/>
        </p:nvSpPr>
        <p:spPr>
          <a:xfrm>
            <a:off x="7834039" y="32905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8" name="CasellaDiTesto 7">
            <a:extLst>
              <a:ext uri="{FF2B5EF4-FFF2-40B4-BE49-F238E27FC236}">
                <a16:creationId xmlns:a16="http://schemas.microsoft.com/office/drawing/2014/main" id="{071CAC81-1C56-67C2-EDAB-5146A2856516}"/>
              </a:ext>
            </a:extLst>
          </p:cNvPr>
          <p:cNvSpPr txBox="1"/>
          <p:nvPr/>
        </p:nvSpPr>
        <p:spPr>
          <a:xfrm>
            <a:off x="5219879" y="4540332"/>
            <a:ext cx="5429784" cy="1692771"/>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high salinity, and fairly high surface productivity. Very high biomass of five commercial species, intense fishing activity, and moderate shipping traffic. Strong anthropogenic influence with dominant dumping sites, military areas, and minimal presence of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cool areas with low bottom oxygen and moderately high salinity, and moderate surface productivity. High biomass of five commercial species, intense fishing activity, moderate shipping traffic. Minimal anthropogenic influence, limited to minor military areas and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moderately high salinity, and moderate to high surface productivity. High biomass of five commercial species, intense fishing activity, moderate shipping traffic. Minimal anthropogenic influence, with only minor wind farms, and partly hardbottom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9" name="CasellaDiTesto 8">
            <a:extLst>
              <a:ext uri="{FF2B5EF4-FFF2-40B4-BE49-F238E27FC236}">
                <a16:creationId xmlns:a16="http://schemas.microsoft.com/office/drawing/2014/main" id="{0A1FDFF8-6493-B097-3DF9-6E7C326995F0}"/>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Five</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spTree>
    <p:extLst>
      <p:ext uri="{BB962C8B-B14F-4D97-AF65-F5344CB8AC3E}">
        <p14:creationId xmlns:p14="http://schemas.microsoft.com/office/powerpoint/2010/main" val="1740123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magine 9" descr="Immagine che contiene mappa, testo, diagramma, atlante&#10;&#10;Descrizione generata automaticamente">
            <a:extLst>
              <a:ext uri="{FF2B5EF4-FFF2-40B4-BE49-F238E27FC236}">
                <a16:creationId xmlns:a16="http://schemas.microsoft.com/office/drawing/2014/main" id="{2B3868DB-A5DF-7180-8867-9F26E07ED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11" name="Gruppo 10">
            <a:extLst>
              <a:ext uri="{FF2B5EF4-FFF2-40B4-BE49-F238E27FC236}">
                <a16:creationId xmlns:a16="http://schemas.microsoft.com/office/drawing/2014/main" id="{90D5CFE6-925F-2B0D-E994-53F2E00CF9A3}"/>
              </a:ext>
            </a:extLst>
          </p:cNvPr>
          <p:cNvGrpSpPr/>
          <p:nvPr/>
        </p:nvGrpSpPr>
        <p:grpSpPr>
          <a:xfrm>
            <a:off x="5219879" y="3899677"/>
            <a:ext cx="5429784" cy="2392442"/>
            <a:chOff x="5219879" y="3899677"/>
            <a:chExt cx="5429784" cy="2392442"/>
          </a:xfrm>
        </p:grpSpPr>
        <p:sp>
          <p:nvSpPr>
            <p:cNvPr id="12" name="CasellaDiTesto 11">
              <a:extLst>
                <a:ext uri="{FF2B5EF4-FFF2-40B4-BE49-F238E27FC236}">
                  <a16:creationId xmlns:a16="http://schemas.microsoft.com/office/drawing/2014/main" id="{8869BD5C-AA84-F561-84C4-9A01349619BF}"/>
                </a:ext>
              </a:extLst>
            </p:cNvPr>
            <p:cNvSpPr txBox="1"/>
            <p:nvPr/>
          </p:nvSpPr>
          <p:spPr>
            <a:xfrm>
              <a:off x="5219879" y="4476237"/>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extremely low bottom oxygen, moderately high salinity,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heavy shipping traffic.</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high salinity, extremely low bottom oxygen,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intense fishing activity, and heavy shipping traffic, with only minimal hard-bottom substrate present.</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high salinity, and fairly high surface productivity. Very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moderate shipping traffic. Strong anthropogenic influence with dominant dumping sites, military areas, and minimal presence of wind farms.</a:t>
              </a:r>
            </a:p>
            <a:p>
              <a:pPr marL="228600" indent="-228600" algn="just">
                <a:buFontTx/>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moderately high salinity, extremely low bottom oxygen and very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heavy shipping traffic, with only minimal anthropogenic presence from limited military areas.</a:t>
              </a:r>
            </a:p>
          </p:txBody>
        </p:sp>
        <p:sp>
          <p:nvSpPr>
            <p:cNvPr id="13" name="CasellaDiTesto 12">
              <a:extLst>
                <a:ext uri="{FF2B5EF4-FFF2-40B4-BE49-F238E27FC236}">
                  <a16:creationId xmlns:a16="http://schemas.microsoft.com/office/drawing/2014/main" id="{F3D42F10-5F0D-945E-6C45-7644625071ED}"/>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4" name="CasellaDiTesto 13">
            <a:extLst>
              <a:ext uri="{FF2B5EF4-FFF2-40B4-BE49-F238E27FC236}">
                <a16:creationId xmlns:a16="http://schemas.microsoft.com/office/drawing/2014/main" id="{B79B0DBD-B498-2B6A-79CF-825F837DF36D}"/>
              </a:ext>
            </a:extLst>
          </p:cNvPr>
          <p:cNvSpPr txBox="1"/>
          <p:nvPr/>
        </p:nvSpPr>
        <p:spPr>
          <a:xfrm>
            <a:off x="6147669" y="319589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5" name="CasellaDiTesto 14">
            <a:extLst>
              <a:ext uri="{FF2B5EF4-FFF2-40B4-BE49-F238E27FC236}">
                <a16:creationId xmlns:a16="http://schemas.microsoft.com/office/drawing/2014/main" id="{6DB7BE91-2A84-20D3-71BA-9ACBC75B63D8}"/>
              </a:ext>
            </a:extLst>
          </p:cNvPr>
          <p:cNvSpPr txBox="1"/>
          <p:nvPr/>
        </p:nvSpPr>
        <p:spPr>
          <a:xfrm>
            <a:off x="7834039" y="32905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6" name="CasellaDiTesto 15">
            <a:extLst>
              <a:ext uri="{FF2B5EF4-FFF2-40B4-BE49-F238E27FC236}">
                <a16:creationId xmlns:a16="http://schemas.microsoft.com/office/drawing/2014/main" id="{E159CBBD-1511-9156-857E-D44D5C4C68E9}"/>
              </a:ext>
            </a:extLst>
          </p:cNvPr>
          <p:cNvSpPr txBox="1"/>
          <p:nvPr/>
        </p:nvSpPr>
        <p:spPr>
          <a:xfrm>
            <a:off x="8201508" y="3510669"/>
            <a:ext cx="290555"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17" name="CasellaDiTesto 16">
            <a:extLst>
              <a:ext uri="{FF2B5EF4-FFF2-40B4-BE49-F238E27FC236}">
                <a16:creationId xmlns:a16="http://schemas.microsoft.com/office/drawing/2014/main" id="{462DF6AE-9DCE-5A73-EEA6-C313E26599EF}"/>
              </a:ext>
            </a:extLst>
          </p:cNvPr>
          <p:cNvSpPr txBox="1"/>
          <p:nvPr/>
        </p:nvSpPr>
        <p:spPr>
          <a:xfrm>
            <a:off x="7243489" y="308524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Tree>
    <p:extLst>
      <p:ext uri="{BB962C8B-B14F-4D97-AF65-F5344CB8AC3E}">
        <p14:creationId xmlns:p14="http://schemas.microsoft.com/office/powerpoint/2010/main" val="2326158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318451DC-D5FD-D4DD-AE42-BD9471431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866FDD92-A9E5-2298-64E4-8CF31F4DF0C0}"/>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F1BB58B4-93C9-2B43-1164-1A1F60A69D05}"/>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7" name="CasellaDiTesto 6">
            <a:extLst>
              <a:ext uri="{FF2B5EF4-FFF2-40B4-BE49-F238E27FC236}">
                <a16:creationId xmlns:a16="http://schemas.microsoft.com/office/drawing/2014/main" id="{DDF4933E-9801-EA05-8F0F-7D815FD4D8E3}"/>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8" name="CasellaDiTesto 7">
            <a:extLst>
              <a:ext uri="{FF2B5EF4-FFF2-40B4-BE49-F238E27FC236}">
                <a16:creationId xmlns:a16="http://schemas.microsoft.com/office/drawing/2014/main" id="{F82D33DA-1F57-7EC8-4D2A-9EFF4A725900}"/>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9" name="CasellaDiTesto 8">
            <a:extLst>
              <a:ext uri="{FF2B5EF4-FFF2-40B4-BE49-F238E27FC236}">
                <a16:creationId xmlns:a16="http://schemas.microsoft.com/office/drawing/2014/main" id="{696839A1-9C22-CB6E-035A-3A59D94E6A51}"/>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10" name="CasellaDiTesto 9">
            <a:extLst>
              <a:ext uri="{FF2B5EF4-FFF2-40B4-BE49-F238E27FC236}">
                <a16:creationId xmlns:a16="http://schemas.microsoft.com/office/drawing/2014/main" id="{5ED7BC07-7099-D5CE-6056-DB6276F39474}"/>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20" name="CasellaDiTesto 19">
            <a:extLst>
              <a:ext uri="{FF2B5EF4-FFF2-40B4-BE49-F238E27FC236}">
                <a16:creationId xmlns:a16="http://schemas.microsoft.com/office/drawing/2014/main" id="{FED5DA61-81F8-BFED-6879-4DFFD3D20C2F}"/>
              </a:ext>
            </a:extLst>
          </p:cNvPr>
          <p:cNvSpPr txBox="1"/>
          <p:nvPr/>
        </p:nvSpPr>
        <p:spPr>
          <a:xfrm>
            <a:off x="5940582" y="31896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21" name="CasellaDiTesto 20">
            <a:extLst>
              <a:ext uri="{FF2B5EF4-FFF2-40B4-BE49-F238E27FC236}">
                <a16:creationId xmlns:a16="http://schemas.microsoft.com/office/drawing/2014/main" id="{1DE4317F-17F2-E972-F0A9-B8F2B495103E}"/>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22" name="CasellaDiTesto 21">
            <a:extLst>
              <a:ext uri="{FF2B5EF4-FFF2-40B4-BE49-F238E27FC236}">
                <a16:creationId xmlns:a16="http://schemas.microsoft.com/office/drawing/2014/main" id="{F4C02380-3DC3-5505-3F0F-515BD133AD99}"/>
              </a:ext>
            </a:extLst>
          </p:cNvPr>
          <p:cNvSpPr txBox="1"/>
          <p:nvPr/>
        </p:nvSpPr>
        <p:spPr>
          <a:xfrm>
            <a:off x="6865799" y="350193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24" name="CasellaDiTesto 23">
            <a:extLst>
              <a:ext uri="{FF2B5EF4-FFF2-40B4-BE49-F238E27FC236}">
                <a16:creationId xmlns:a16="http://schemas.microsoft.com/office/drawing/2014/main" id="{537B4000-833C-881D-D056-9838032AF2A6}"/>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2"/>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6" name="CasellaDiTesto 25">
            <a:extLst>
              <a:ext uri="{FF2B5EF4-FFF2-40B4-BE49-F238E27FC236}">
                <a16:creationId xmlns:a16="http://schemas.microsoft.com/office/drawing/2014/main" id="{767BBCCC-A608-8A29-E54A-F27B3C50030F}"/>
              </a:ext>
            </a:extLst>
          </p:cNvPr>
          <p:cNvSpPr txBox="1"/>
          <p:nvPr/>
        </p:nvSpPr>
        <p:spPr>
          <a:xfrm>
            <a:off x="9576646" y="181958"/>
            <a:ext cx="2615354" cy="6494085"/>
          </a:xfrm>
          <a:prstGeom prst="rect">
            <a:avLst/>
          </a:prstGeom>
          <a:noFill/>
        </p:spPr>
        <p:txBody>
          <a:bodyPr wrap="square" rtlCol="0">
            <a:spAutoFit/>
          </a:bodyPr>
          <a:lstStyle/>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very cold areas with extremely low bottom oxygen, low bottom salinity, and quite low surface productivity. Overall biomass is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Tree>
    <p:extLst>
      <p:ext uri="{BB962C8B-B14F-4D97-AF65-F5344CB8AC3E}">
        <p14:creationId xmlns:p14="http://schemas.microsoft.com/office/powerpoint/2010/main" val="3079948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318451DC-D5FD-D4DD-AE42-BD9471431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866FDD92-A9E5-2298-64E4-8CF31F4DF0C0}"/>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F1BB58B4-93C9-2B43-1164-1A1F60A69D05}"/>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7" name="CasellaDiTesto 6">
            <a:extLst>
              <a:ext uri="{FF2B5EF4-FFF2-40B4-BE49-F238E27FC236}">
                <a16:creationId xmlns:a16="http://schemas.microsoft.com/office/drawing/2014/main" id="{DDF4933E-9801-EA05-8F0F-7D815FD4D8E3}"/>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8" name="CasellaDiTesto 7">
            <a:extLst>
              <a:ext uri="{FF2B5EF4-FFF2-40B4-BE49-F238E27FC236}">
                <a16:creationId xmlns:a16="http://schemas.microsoft.com/office/drawing/2014/main" id="{F82D33DA-1F57-7EC8-4D2A-9EFF4A725900}"/>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9" name="CasellaDiTesto 8">
            <a:extLst>
              <a:ext uri="{FF2B5EF4-FFF2-40B4-BE49-F238E27FC236}">
                <a16:creationId xmlns:a16="http://schemas.microsoft.com/office/drawing/2014/main" id="{696839A1-9C22-CB6E-035A-3A59D94E6A51}"/>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10" name="CasellaDiTesto 9">
            <a:extLst>
              <a:ext uri="{FF2B5EF4-FFF2-40B4-BE49-F238E27FC236}">
                <a16:creationId xmlns:a16="http://schemas.microsoft.com/office/drawing/2014/main" id="{5ED7BC07-7099-D5CE-6056-DB6276F39474}"/>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20" name="CasellaDiTesto 19">
            <a:extLst>
              <a:ext uri="{FF2B5EF4-FFF2-40B4-BE49-F238E27FC236}">
                <a16:creationId xmlns:a16="http://schemas.microsoft.com/office/drawing/2014/main" id="{FED5DA61-81F8-BFED-6879-4DFFD3D20C2F}"/>
              </a:ext>
            </a:extLst>
          </p:cNvPr>
          <p:cNvSpPr txBox="1"/>
          <p:nvPr/>
        </p:nvSpPr>
        <p:spPr>
          <a:xfrm>
            <a:off x="5940582" y="31896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21" name="CasellaDiTesto 20">
            <a:extLst>
              <a:ext uri="{FF2B5EF4-FFF2-40B4-BE49-F238E27FC236}">
                <a16:creationId xmlns:a16="http://schemas.microsoft.com/office/drawing/2014/main" id="{1DE4317F-17F2-E972-F0A9-B8F2B495103E}"/>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22" name="CasellaDiTesto 21">
            <a:extLst>
              <a:ext uri="{FF2B5EF4-FFF2-40B4-BE49-F238E27FC236}">
                <a16:creationId xmlns:a16="http://schemas.microsoft.com/office/drawing/2014/main" id="{F4C02380-3DC3-5505-3F0F-515BD133AD99}"/>
              </a:ext>
            </a:extLst>
          </p:cNvPr>
          <p:cNvSpPr txBox="1"/>
          <p:nvPr/>
        </p:nvSpPr>
        <p:spPr>
          <a:xfrm>
            <a:off x="6865799" y="350193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4" name="CasellaDiTesto 3">
            <a:extLst>
              <a:ext uri="{FF2B5EF4-FFF2-40B4-BE49-F238E27FC236}">
                <a16:creationId xmlns:a16="http://schemas.microsoft.com/office/drawing/2014/main" id="{1662114B-4EA8-36E8-83FE-90838B56A431}"/>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2"/>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5" name="CasellaDiTesto 4">
            <a:extLst>
              <a:ext uri="{FF2B5EF4-FFF2-40B4-BE49-F238E27FC236}">
                <a16:creationId xmlns:a16="http://schemas.microsoft.com/office/drawing/2014/main" id="{4CE4B6B9-3B02-798C-CDA5-E2ED0753F032}"/>
              </a:ext>
            </a:extLst>
          </p:cNvPr>
          <p:cNvSpPr txBox="1"/>
          <p:nvPr/>
        </p:nvSpPr>
        <p:spPr>
          <a:xfrm>
            <a:off x="9576646" y="1659285"/>
            <a:ext cx="2615354" cy="3539430"/>
          </a:xfrm>
          <a:prstGeom prst="rect">
            <a:avLst/>
          </a:prstGeom>
          <a:noFill/>
        </p:spPr>
        <p:txBody>
          <a:bodyPr wrap="square" rtlCol="0">
            <a:spAutoFit/>
          </a:bodyPr>
          <a:lstStyle/>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salinity, and high surface productivity. Overall biomass is very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is very intense, and shipping traffic is fair. Strong anthropogenic influence with a marked presence of military areas.</a:t>
            </a:r>
          </a:p>
        </p:txBody>
      </p:sp>
    </p:spTree>
    <p:extLst>
      <p:ext uri="{BB962C8B-B14F-4D97-AF65-F5344CB8AC3E}">
        <p14:creationId xmlns:p14="http://schemas.microsoft.com/office/powerpoint/2010/main" val="3425905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E0DBD1B4-7D7D-3242-1E76-F5DB3B0EF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96523605-196C-2B6D-0397-9A0FA6AF8A01}"/>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B5B3E04E-E33D-0304-974A-9728031744C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3"/>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4" name="CasellaDiTesto 23">
            <a:extLst>
              <a:ext uri="{FF2B5EF4-FFF2-40B4-BE49-F238E27FC236}">
                <a16:creationId xmlns:a16="http://schemas.microsoft.com/office/drawing/2014/main" id="{10B4AF2B-37D6-9273-11E5-FBE60E82C0CC}"/>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5" name="CasellaDiTesto 24">
            <a:extLst>
              <a:ext uri="{FF2B5EF4-FFF2-40B4-BE49-F238E27FC236}">
                <a16:creationId xmlns:a16="http://schemas.microsoft.com/office/drawing/2014/main" id="{7F591FF8-552C-658C-9380-44BAC26133FC}"/>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26" name="CasellaDiTesto 25">
            <a:extLst>
              <a:ext uri="{FF2B5EF4-FFF2-40B4-BE49-F238E27FC236}">
                <a16:creationId xmlns:a16="http://schemas.microsoft.com/office/drawing/2014/main" id="{56C1464F-3787-AE67-C0E6-909AB56FDE32}"/>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27" name="CasellaDiTesto 26">
            <a:extLst>
              <a:ext uri="{FF2B5EF4-FFF2-40B4-BE49-F238E27FC236}">
                <a16:creationId xmlns:a16="http://schemas.microsoft.com/office/drawing/2014/main" id="{686ABE71-85FE-A3CF-8168-8DCE84F920F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28" name="CasellaDiTesto 27">
            <a:extLst>
              <a:ext uri="{FF2B5EF4-FFF2-40B4-BE49-F238E27FC236}">
                <a16:creationId xmlns:a16="http://schemas.microsoft.com/office/drawing/2014/main" id="{85CB7770-60CA-775E-7829-3C58F4F3244F}"/>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29" name="CasellaDiTesto 28">
            <a:extLst>
              <a:ext uri="{FF2B5EF4-FFF2-40B4-BE49-F238E27FC236}">
                <a16:creationId xmlns:a16="http://schemas.microsoft.com/office/drawing/2014/main" id="{32D210F1-A830-31B9-38C2-F2C85294A110}"/>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0" name="CasellaDiTesto 29">
            <a:extLst>
              <a:ext uri="{FF2B5EF4-FFF2-40B4-BE49-F238E27FC236}">
                <a16:creationId xmlns:a16="http://schemas.microsoft.com/office/drawing/2014/main" id="{F3DB69C9-8341-1E94-29E5-48CE74B655A5}"/>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31" name="CasellaDiTesto 30">
            <a:extLst>
              <a:ext uri="{FF2B5EF4-FFF2-40B4-BE49-F238E27FC236}">
                <a16:creationId xmlns:a16="http://schemas.microsoft.com/office/drawing/2014/main" id="{9455D5EC-FF1C-0CC9-2AEF-B052185B1AD7}"/>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32" name="CasellaDiTesto 31">
            <a:extLst>
              <a:ext uri="{FF2B5EF4-FFF2-40B4-BE49-F238E27FC236}">
                <a16:creationId xmlns:a16="http://schemas.microsoft.com/office/drawing/2014/main" id="{9F26544F-750C-B06F-F136-F27FDB8B6719}"/>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33" name="CasellaDiTesto 32">
            <a:extLst>
              <a:ext uri="{FF2B5EF4-FFF2-40B4-BE49-F238E27FC236}">
                <a16:creationId xmlns:a16="http://schemas.microsoft.com/office/drawing/2014/main" id="{4C5A5069-E28A-0517-8F55-6247E4B4B04C}"/>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34" name="CasellaDiTesto 33">
            <a:extLst>
              <a:ext uri="{FF2B5EF4-FFF2-40B4-BE49-F238E27FC236}">
                <a16:creationId xmlns:a16="http://schemas.microsoft.com/office/drawing/2014/main" id="{4F3DD77C-69B2-6E14-872C-10CC1C7BD292}"/>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35" name="CasellaDiTesto 34">
            <a:extLst>
              <a:ext uri="{FF2B5EF4-FFF2-40B4-BE49-F238E27FC236}">
                <a16:creationId xmlns:a16="http://schemas.microsoft.com/office/drawing/2014/main" id="{83900ACD-611D-8C7E-E9C6-D6411E299E99}"/>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36" name="CasellaDiTesto 35">
            <a:extLst>
              <a:ext uri="{FF2B5EF4-FFF2-40B4-BE49-F238E27FC236}">
                <a16:creationId xmlns:a16="http://schemas.microsoft.com/office/drawing/2014/main" id="{126974FA-FB54-1437-5557-18F46DFCD51A}"/>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37" name="CasellaDiTesto 36">
            <a:extLst>
              <a:ext uri="{FF2B5EF4-FFF2-40B4-BE49-F238E27FC236}">
                <a16:creationId xmlns:a16="http://schemas.microsoft.com/office/drawing/2014/main" id="{18712E2B-56FF-0A90-D858-C654AF39DF7D}"/>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8" name="CasellaDiTesto 37">
            <a:extLst>
              <a:ext uri="{FF2B5EF4-FFF2-40B4-BE49-F238E27FC236}">
                <a16:creationId xmlns:a16="http://schemas.microsoft.com/office/drawing/2014/main" id="{15594AA2-D1F4-5181-481B-0F8603F987F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44" name="CasellaDiTesto 43">
            <a:extLst>
              <a:ext uri="{FF2B5EF4-FFF2-40B4-BE49-F238E27FC236}">
                <a16:creationId xmlns:a16="http://schemas.microsoft.com/office/drawing/2014/main" id="{A583B5CE-4F70-3B8D-C41A-A279CBF82547}"/>
              </a:ext>
            </a:extLst>
          </p:cNvPr>
          <p:cNvSpPr txBox="1"/>
          <p:nvPr/>
        </p:nvSpPr>
        <p:spPr>
          <a:xfrm>
            <a:off x="9576646" y="674400"/>
            <a:ext cx="2615354" cy="5509200"/>
          </a:xfrm>
          <a:prstGeom prst="rect">
            <a:avLst/>
          </a:prstGeom>
          <a:noFill/>
        </p:spPr>
        <p:txBody>
          <a:bodyPr wrap="square" rtlCol="0">
            <a:spAutoFit/>
          </a:bodyPr>
          <a:lstStyle/>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(E) Deep, cold areas with very low bottom oxygen, moderate to high salinity, and low surface productivity. Overall biomass is very high, while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algn="just"/>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2493968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E0DBD1B4-7D7D-3242-1E76-F5DB3B0EF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96523605-196C-2B6D-0397-9A0FA6AF8A01}"/>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722B5D7A-ED4E-4646-3B4E-C763F9D2A40E}"/>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3"/>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21" name="CasellaDiTesto 20">
            <a:extLst>
              <a:ext uri="{FF2B5EF4-FFF2-40B4-BE49-F238E27FC236}">
                <a16:creationId xmlns:a16="http://schemas.microsoft.com/office/drawing/2014/main" id="{2382C877-EE9C-9D65-69F9-E3D984BBB2CF}"/>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2" name="CasellaDiTesto 21">
            <a:extLst>
              <a:ext uri="{FF2B5EF4-FFF2-40B4-BE49-F238E27FC236}">
                <a16:creationId xmlns:a16="http://schemas.microsoft.com/office/drawing/2014/main" id="{E82FC46F-E754-2D4F-D818-111DD7C87357}"/>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23" name="CasellaDiTesto 22">
            <a:extLst>
              <a:ext uri="{FF2B5EF4-FFF2-40B4-BE49-F238E27FC236}">
                <a16:creationId xmlns:a16="http://schemas.microsoft.com/office/drawing/2014/main" id="{28FCF8AD-6F76-D7B6-62EE-EC3CE21726EB}"/>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24" name="CasellaDiTesto 23">
            <a:extLst>
              <a:ext uri="{FF2B5EF4-FFF2-40B4-BE49-F238E27FC236}">
                <a16:creationId xmlns:a16="http://schemas.microsoft.com/office/drawing/2014/main" id="{5886D7C0-D318-8F17-4FE2-FFE83DFB8BFE}"/>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25" name="CasellaDiTesto 24">
            <a:extLst>
              <a:ext uri="{FF2B5EF4-FFF2-40B4-BE49-F238E27FC236}">
                <a16:creationId xmlns:a16="http://schemas.microsoft.com/office/drawing/2014/main" id="{7F2F9604-D3D7-C84C-08E7-CB1DF77CF8B1}"/>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26" name="CasellaDiTesto 25">
            <a:extLst>
              <a:ext uri="{FF2B5EF4-FFF2-40B4-BE49-F238E27FC236}">
                <a16:creationId xmlns:a16="http://schemas.microsoft.com/office/drawing/2014/main" id="{DE539155-75B1-0EE4-ACB2-60246640F2BF}"/>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27" name="CasellaDiTesto 26">
            <a:extLst>
              <a:ext uri="{FF2B5EF4-FFF2-40B4-BE49-F238E27FC236}">
                <a16:creationId xmlns:a16="http://schemas.microsoft.com/office/drawing/2014/main" id="{74CD89AA-483A-A198-A423-BF43A7583C51}"/>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28" name="CasellaDiTesto 27">
            <a:extLst>
              <a:ext uri="{FF2B5EF4-FFF2-40B4-BE49-F238E27FC236}">
                <a16:creationId xmlns:a16="http://schemas.microsoft.com/office/drawing/2014/main" id="{C65BEE67-D9B8-333B-238C-D2970E0E6D97}"/>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29" name="CasellaDiTesto 28">
            <a:extLst>
              <a:ext uri="{FF2B5EF4-FFF2-40B4-BE49-F238E27FC236}">
                <a16:creationId xmlns:a16="http://schemas.microsoft.com/office/drawing/2014/main" id="{9389596E-C981-4F59-E7E2-DDADB4E12C3B}"/>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30" name="CasellaDiTesto 29">
            <a:extLst>
              <a:ext uri="{FF2B5EF4-FFF2-40B4-BE49-F238E27FC236}">
                <a16:creationId xmlns:a16="http://schemas.microsoft.com/office/drawing/2014/main" id="{2AFEA6A3-7E80-78EE-7747-A7315746122B}"/>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31" name="CasellaDiTesto 30">
            <a:extLst>
              <a:ext uri="{FF2B5EF4-FFF2-40B4-BE49-F238E27FC236}">
                <a16:creationId xmlns:a16="http://schemas.microsoft.com/office/drawing/2014/main" id="{A82DEB9E-C2F6-7D33-FA0D-20950D887929}"/>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32" name="CasellaDiTesto 31">
            <a:extLst>
              <a:ext uri="{FF2B5EF4-FFF2-40B4-BE49-F238E27FC236}">
                <a16:creationId xmlns:a16="http://schemas.microsoft.com/office/drawing/2014/main" id="{20CA1AD1-3A37-D1E5-4BDC-C08F27D048E7}"/>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33" name="CasellaDiTesto 32">
            <a:extLst>
              <a:ext uri="{FF2B5EF4-FFF2-40B4-BE49-F238E27FC236}">
                <a16:creationId xmlns:a16="http://schemas.microsoft.com/office/drawing/2014/main" id="{C0D4B211-7202-850A-D6D0-6800F3503C7D}"/>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34" name="CasellaDiTesto 33">
            <a:extLst>
              <a:ext uri="{FF2B5EF4-FFF2-40B4-BE49-F238E27FC236}">
                <a16:creationId xmlns:a16="http://schemas.microsoft.com/office/drawing/2014/main" id="{97FC4C67-505F-6F0D-24B7-C14655983AEC}"/>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5" name="CasellaDiTesto 34">
            <a:extLst>
              <a:ext uri="{FF2B5EF4-FFF2-40B4-BE49-F238E27FC236}">
                <a16:creationId xmlns:a16="http://schemas.microsoft.com/office/drawing/2014/main" id="{40C959F5-49B9-9D7D-87B6-DEE1C9C22885}"/>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41" name="CasellaDiTesto 40">
            <a:extLst>
              <a:ext uri="{FF2B5EF4-FFF2-40B4-BE49-F238E27FC236}">
                <a16:creationId xmlns:a16="http://schemas.microsoft.com/office/drawing/2014/main" id="{0E3E77AC-56DF-A69B-5720-562B61FDF488}"/>
              </a:ext>
            </a:extLst>
          </p:cNvPr>
          <p:cNvSpPr txBox="1"/>
          <p:nvPr/>
        </p:nvSpPr>
        <p:spPr>
          <a:xfrm>
            <a:off x="9576646" y="735955"/>
            <a:ext cx="2615354" cy="5386090"/>
          </a:xfrm>
          <a:prstGeom prst="rect">
            <a:avLst/>
          </a:prstGeom>
          <a:noFill/>
        </p:spPr>
        <p:txBody>
          <a:bodyPr wrap="square" rtlCol="0">
            <a:spAutoFit/>
          </a:bodyPr>
          <a:lstStyle/>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(B)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(F)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(G)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(H?) </a:t>
            </a: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moderate salinity, and moderate to high surface productivity. Overall biomass is fairly moderate, with fair to low biomass of the five commercially important species and moderate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intense, and shipping traffic is high.</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4036424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49" name="CasellaDiTesto 48">
            <a:extLst>
              <a:ext uri="{FF2B5EF4-FFF2-40B4-BE49-F238E27FC236}">
                <a16:creationId xmlns:a16="http://schemas.microsoft.com/office/drawing/2014/main" id="{9A80C8DE-3DC2-7B16-8B67-5FC7C1FB0244}"/>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50" name="CasellaDiTesto 49">
            <a:extLst>
              <a:ext uri="{FF2B5EF4-FFF2-40B4-BE49-F238E27FC236}">
                <a16:creationId xmlns:a16="http://schemas.microsoft.com/office/drawing/2014/main" id="{C5850BD0-123E-3DC6-2319-67B2FE4812DC}"/>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51" name="CasellaDiTesto 50">
            <a:extLst>
              <a:ext uri="{FF2B5EF4-FFF2-40B4-BE49-F238E27FC236}">
                <a16:creationId xmlns:a16="http://schemas.microsoft.com/office/drawing/2014/main" id="{1DE6F16C-F261-9890-6780-9F15C985C0FF}"/>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52" name="CasellaDiTesto 51">
            <a:extLst>
              <a:ext uri="{FF2B5EF4-FFF2-40B4-BE49-F238E27FC236}">
                <a16:creationId xmlns:a16="http://schemas.microsoft.com/office/drawing/2014/main" id="{2B66E463-63F0-6907-F5F8-F939717F5F86}"/>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53" name="CasellaDiTesto 52">
            <a:extLst>
              <a:ext uri="{FF2B5EF4-FFF2-40B4-BE49-F238E27FC236}">
                <a16:creationId xmlns:a16="http://schemas.microsoft.com/office/drawing/2014/main" id="{8FCDA73F-5DEE-B76F-E673-798551B69BA7}"/>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4" name="CasellaDiTesto 53">
            <a:extLst>
              <a:ext uri="{FF2B5EF4-FFF2-40B4-BE49-F238E27FC236}">
                <a16:creationId xmlns:a16="http://schemas.microsoft.com/office/drawing/2014/main" id="{D9796734-BF56-1591-030B-2BBC0B923471}"/>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5" name="CasellaDiTesto 54">
            <a:extLst>
              <a:ext uri="{FF2B5EF4-FFF2-40B4-BE49-F238E27FC236}">
                <a16:creationId xmlns:a16="http://schemas.microsoft.com/office/drawing/2014/main" id="{F77B95CD-9ADE-5E1C-69B0-706D268B6C02}"/>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6" name="CasellaDiTesto 55">
            <a:extLst>
              <a:ext uri="{FF2B5EF4-FFF2-40B4-BE49-F238E27FC236}">
                <a16:creationId xmlns:a16="http://schemas.microsoft.com/office/drawing/2014/main" id="{7244730E-2FA6-BA99-1218-BC57EA5CE180}"/>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7" name="CasellaDiTesto 56">
            <a:extLst>
              <a:ext uri="{FF2B5EF4-FFF2-40B4-BE49-F238E27FC236}">
                <a16:creationId xmlns:a16="http://schemas.microsoft.com/office/drawing/2014/main" id="{B0F2780D-6B81-9330-2B16-A7BF29255670}"/>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8" name="CasellaDiTesto 57">
            <a:extLst>
              <a:ext uri="{FF2B5EF4-FFF2-40B4-BE49-F238E27FC236}">
                <a16:creationId xmlns:a16="http://schemas.microsoft.com/office/drawing/2014/main" id="{09FA1F4D-2BDB-C783-1BF2-B82C87487436}"/>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9" name="CasellaDiTesto 58">
            <a:extLst>
              <a:ext uri="{FF2B5EF4-FFF2-40B4-BE49-F238E27FC236}">
                <a16:creationId xmlns:a16="http://schemas.microsoft.com/office/drawing/2014/main" id="{ACFE1447-5856-5A08-1335-44B93D6FEDE6}"/>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60" name="CasellaDiTesto 59">
            <a:extLst>
              <a:ext uri="{FF2B5EF4-FFF2-40B4-BE49-F238E27FC236}">
                <a16:creationId xmlns:a16="http://schemas.microsoft.com/office/drawing/2014/main" id="{C7E31BAA-04A0-AEA0-FD31-C614B6AB91B7}"/>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61" name="CasellaDiTesto 60">
            <a:extLst>
              <a:ext uri="{FF2B5EF4-FFF2-40B4-BE49-F238E27FC236}">
                <a16:creationId xmlns:a16="http://schemas.microsoft.com/office/drawing/2014/main" id="{E2D209F1-C575-3A2F-E73A-549D618F62E2}"/>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62" name="CasellaDiTesto 61">
            <a:extLst>
              <a:ext uri="{FF2B5EF4-FFF2-40B4-BE49-F238E27FC236}">
                <a16:creationId xmlns:a16="http://schemas.microsoft.com/office/drawing/2014/main" id="{2D6D7815-E5CD-B700-B725-214475D073DE}"/>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63" name="CasellaDiTesto 62">
            <a:extLst>
              <a:ext uri="{FF2B5EF4-FFF2-40B4-BE49-F238E27FC236}">
                <a16:creationId xmlns:a16="http://schemas.microsoft.com/office/drawing/2014/main" id="{B12A3CE1-4040-04DF-DB89-3902EE063358}"/>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4" name="CasellaDiTesto 63">
            <a:extLst>
              <a:ext uri="{FF2B5EF4-FFF2-40B4-BE49-F238E27FC236}">
                <a16:creationId xmlns:a16="http://schemas.microsoft.com/office/drawing/2014/main" id="{0C8D2EA4-425F-DDEB-08DB-9D72F18A6E3F}"/>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2" name="CasellaDiTesto 1">
            <a:extLst>
              <a:ext uri="{FF2B5EF4-FFF2-40B4-BE49-F238E27FC236}">
                <a16:creationId xmlns:a16="http://schemas.microsoft.com/office/drawing/2014/main" id="{D13B14F1-2705-868F-B6B1-8C2D495D463B}"/>
              </a:ext>
            </a:extLst>
          </p:cNvPr>
          <p:cNvSpPr txBox="1"/>
          <p:nvPr/>
        </p:nvSpPr>
        <p:spPr>
          <a:xfrm>
            <a:off x="9576646" y="181958"/>
            <a:ext cx="2615354" cy="6494085"/>
          </a:xfrm>
          <a:prstGeom prst="rect">
            <a:avLst/>
          </a:prstGeom>
          <a:noFill/>
        </p:spPr>
        <p:txBody>
          <a:bodyPr wrap="square" rtlCol="0">
            <a:spAutoFit/>
          </a:bodyPr>
          <a:lstStyle/>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(P)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very cold areas with extremely low bottom oxygen, low bottom salinity, and quite low surface productivity. Overall biomass is high, biomass of the five commercially important species is moderate,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(N) 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Tree>
    <p:extLst>
      <p:ext uri="{BB962C8B-B14F-4D97-AF65-F5344CB8AC3E}">
        <p14:creationId xmlns:p14="http://schemas.microsoft.com/office/powerpoint/2010/main" val="250655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45" name="CasellaDiTesto 44">
            <a:extLst>
              <a:ext uri="{FF2B5EF4-FFF2-40B4-BE49-F238E27FC236}">
                <a16:creationId xmlns:a16="http://schemas.microsoft.com/office/drawing/2014/main" id="{4B47F889-A9E6-0B08-4FB8-544C2C6840B8}"/>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46" name="CasellaDiTesto 45">
            <a:extLst>
              <a:ext uri="{FF2B5EF4-FFF2-40B4-BE49-F238E27FC236}">
                <a16:creationId xmlns:a16="http://schemas.microsoft.com/office/drawing/2014/main" id="{47777F98-19F3-9641-4256-82BE79712729}"/>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47" name="CasellaDiTesto 46">
            <a:extLst>
              <a:ext uri="{FF2B5EF4-FFF2-40B4-BE49-F238E27FC236}">
                <a16:creationId xmlns:a16="http://schemas.microsoft.com/office/drawing/2014/main" id="{97A7A628-6F03-122A-2E11-CBB5EC85984A}"/>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48" name="CasellaDiTesto 47">
            <a:extLst>
              <a:ext uri="{FF2B5EF4-FFF2-40B4-BE49-F238E27FC236}">
                <a16:creationId xmlns:a16="http://schemas.microsoft.com/office/drawing/2014/main" id="{38C0ACFA-92A5-44E9-878A-6FB9928F9E0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49" name="CasellaDiTesto 48">
            <a:extLst>
              <a:ext uri="{FF2B5EF4-FFF2-40B4-BE49-F238E27FC236}">
                <a16:creationId xmlns:a16="http://schemas.microsoft.com/office/drawing/2014/main" id="{C547F39A-DCBB-3861-7B16-402C68E468E7}"/>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0" name="CasellaDiTesto 49">
            <a:extLst>
              <a:ext uri="{FF2B5EF4-FFF2-40B4-BE49-F238E27FC236}">
                <a16:creationId xmlns:a16="http://schemas.microsoft.com/office/drawing/2014/main" id="{0D7A762A-2D6D-FF66-3BB5-D2DD12CFBBC5}"/>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1" name="CasellaDiTesto 50">
            <a:extLst>
              <a:ext uri="{FF2B5EF4-FFF2-40B4-BE49-F238E27FC236}">
                <a16:creationId xmlns:a16="http://schemas.microsoft.com/office/drawing/2014/main" id="{31F648CE-599F-F34D-F903-FB3A3A6027E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2" name="CasellaDiTesto 51">
            <a:extLst>
              <a:ext uri="{FF2B5EF4-FFF2-40B4-BE49-F238E27FC236}">
                <a16:creationId xmlns:a16="http://schemas.microsoft.com/office/drawing/2014/main" id="{DB9AF6F8-8751-6E29-D48F-4F28810F4E2C}"/>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3" name="CasellaDiTesto 52">
            <a:extLst>
              <a:ext uri="{FF2B5EF4-FFF2-40B4-BE49-F238E27FC236}">
                <a16:creationId xmlns:a16="http://schemas.microsoft.com/office/drawing/2014/main" id="{E076BFD6-0D1C-BA2F-6DAA-57C3962062A1}"/>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4" name="CasellaDiTesto 53">
            <a:extLst>
              <a:ext uri="{FF2B5EF4-FFF2-40B4-BE49-F238E27FC236}">
                <a16:creationId xmlns:a16="http://schemas.microsoft.com/office/drawing/2014/main" id="{7A847F9E-CC8D-02BA-245B-26E3321E0E8E}"/>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5" name="CasellaDiTesto 54">
            <a:extLst>
              <a:ext uri="{FF2B5EF4-FFF2-40B4-BE49-F238E27FC236}">
                <a16:creationId xmlns:a16="http://schemas.microsoft.com/office/drawing/2014/main" id="{C5AE858E-AC3E-19BA-80C9-3F6C066DA032}"/>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56" name="CasellaDiTesto 55">
            <a:extLst>
              <a:ext uri="{FF2B5EF4-FFF2-40B4-BE49-F238E27FC236}">
                <a16:creationId xmlns:a16="http://schemas.microsoft.com/office/drawing/2014/main" id="{F6D815CA-D53C-A5C1-5D4F-96B72C6ACE73}"/>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57" name="CasellaDiTesto 56">
            <a:extLst>
              <a:ext uri="{FF2B5EF4-FFF2-40B4-BE49-F238E27FC236}">
                <a16:creationId xmlns:a16="http://schemas.microsoft.com/office/drawing/2014/main" id="{BE4DCD2F-AAF0-3336-F65D-7DBB51B8572C}"/>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58" name="CasellaDiTesto 57">
            <a:extLst>
              <a:ext uri="{FF2B5EF4-FFF2-40B4-BE49-F238E27FC236}">
                <a16:creationId xmlns:a16="http://schemas.microsoft.com/office/drawing/2014/main" id="{29C1EECA-AB20-7EA3-5BED-81625B98A939}"/>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59" name="CasellaDiTesto 58">
            <a:extLst>
              <a:ext uri="{FF2B5EF4-FFF2-40B4-BE49-F238E27FC236}">
                <a16:creationId xmlns:a16="http://schemas.microsoft.com/office/drawing/2014/main" id="{85AD2F1F-CD7B-B61B-04A0-A69993F7AF90}"/>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0" name="CasellaDiTesto 59">
            <a:extLst>
              <a:ext uri="{FF2B5EF4-FFF2-40B4-BE49-F238E27FC236}">
                <a16:creationId xmlns:a16="http://schemas.microsoft.com/office/drawing/2014/main" id="{EE1D96D0-248A-B913-2A12-F558306B299E}"/>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2" name="CasellaDiTesto 1">
            <a:extLst>
              <a:ext uri="{FF2B5EF4-FFF2-40B4-BE49-F238E27FC236}">
                <a16:creationId xmlns:a16="http://schemas.microsoft.com/office/drawing/2014/main" id="{EE17EF64-1688-0906-72D4-28322C2FFDFF}"/>
              </a:ext>
            </a:extLst>
          </p:cNvPr>
          <p:cNvSpPr txBox="1"/>
          <p:nvPr/>
        </p:nvSpPr>
        <p:spPr>
          <a:xfrm>
            <a:off x="9563000" y="211423"/>
            <a:ext cx="2615354" cy="3785652"/>
          </a:xfrm>
          <a:prstGeom prst="rect">
            <a:avLst/>
          </a:prstGeom>
          <a:noFill/>
        </p:spPr>
        <p:txBody>
          <a:bodyPr wrap="square" rtlCol="0">
            <a:spAutoFit/>
          </a:bodyPr>
          <a:lstStyle/>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(Q)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(R)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b="1" dirty="0">
                <a:latin typeface="MS Shell Dlg 2" panose="020B0604030504040204" pitchFamily="34" charset="0"/>
                <a:ea typeface="MS Shell Dlg 2" panose="020B0604030504040204" pitchFamily="34" charset="0"/>
                <a:cs typeface="MS Shell Dlg 2" panose="020B0604030504040204" pitchFamily="34" charset="0"/>
              </a:rPr>
              <a:t>(+S)</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areas with cold bottom temperatures, moderate salinity, and moderate to very high surface productivity. Extremely low bottom oxygen. Overall biomass ranges from moderate to very high, with fair to moderate biomass of the five commercial species and moderate to moderately high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moderate to high shipping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traffic.Minor</a:t>
            </a:r>
            <a:r>
              <a:rPr lang="en-US" sz="800" dirty="0">
                <a:latin typeface="MS Shell Dlg 2" panose="020B0604030504040204" pitchFamily="34" charset="0"/>
                <a:ea typeface="MS Shell Dlg 2" panose="020B0604030504040204" pitchFamily="34" charset="0"/>
                <a:cs typeface="MS Shell Dlg 2" panose="020B0604030504040204" pitchFamily="34" charset="0"/>
              </a:rPr>
              <a:t> anthropogenic influence with limited presence of military areas.</a:t>
            </a:r>
          </a:p>
        </p:txBody>
      </p:sp>
      <p:sp>
        <p:nvSpPr>
          <p:cNvPr id="4" name="CasellaDiTesto 3">
            <a:extLst>
              <a:ext uri="{FF2B5EF4-FFF2-40B4-BE49-F238E27FC236}">
                <a16:creationId xmlns:a16="http://schemas.microsoft.com/office/drawing/2014/main" id="{A1C67736-9871-EA19-55A5-F961B52F6EE0}"/>
              </a:ext>
            </a:extLst>
          </p:cNvPr>
          <p:cNvSpPr txBox="1"/>
          <p:nvPr/>
        </p:nvSpPr>
        <p:spPr>
          <a:xfrm>
            <a:off x="9563000" y="3945575"/>
            <a:ext cx="2615354" cy="2800767"/>
          </a:xfrm>
          <a:prstGeom prst="rect">
            <a:avLst/>
          </a:prstGeom>
          <a:noFill/>
        </p:spPr>
        <p:txBody>
          <a:bodyPr wrap="square" rtlCol="0">
            <a:spAutoFit/>
          </a:bodyPr>
          <a:lstStyle/>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p:txBody>
      </p:sp>
    </p:spTree>
    <p:extLst>
      <p:ext uri="{BB962C8B-B14F-4D97-AF65-F5344CB8AC3E}">
        <p14:creationId xmlns:p14="http://schemas.microsoft.com/office/powerpoint/2010/main" val="2719606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45" name="CasellaDiTesto 44">
            <a:extLst>
              <a:ext uri="{FF2B5EF4-FFF2-40B4-BE49-F238E27FC236}">
                <a16:creationId xmlns:a16="http://schemas.microsoft.com/office/drawing/2014/main" id="{4B47F889-A9E6-0B08-4FB8-544C2C6840B8}"/>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46" name="CasellaDiTesto 45">
            <a:extLst>
              <a:ext uri="{FF2B5EF4-FFF2-40B4-BE49-F238E27FC236}">
                <a16:creationId xmlns:a16="http://schemas.microsoft.com/office/drawing/2014/main" id="{47777F98-19F3-9641-4256-82BE79712729}"/>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47" name="CasellaDiTesto 46">
            <a:extLst>
              <a:ext uri="{FF2B5EF4-FFF2-40B4-BE49-F238E27FC236}">
                <a16:creationId xmlns:a16="http://schemas.microsoft.com/office/drawing/2014/main" id="{97A7A628-6F03-122A-2E11-CBB5EC85984A}"/>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48" name="CasellaDiTesto 47">
            <a:extLst>
              <a:ext uri="{FF2B5EF4-FFF2-40B4-BE49-F238E27FC236}">
                <a16:creationId xmlns:a16="http://schemas.microsoft.com/office/drawing/2014/main" id="{38C0ACFA-92A5-44E9-878A-6FB9928F9E0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49" name="CasellaDiTesto 48">
            <a:extLst>
              <a:ext uri="{FF2B5EF4-FFF2-40B4-BE49-F238E27FC236}">
                <a16:creationId xmlns:a16="http://schemas.microsoft.com/office/drawing/2014/main" id="{C547F39A-DCBB-3861-7B16-402C68E468E7}"/>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0" name="CasellaDiTesto 49">
            <a:extLst>
              <a:ext uri="{FF2B5EF4-FFF2-40B4-BE49-F238E27FC236}">
                <a16:creationId xmlns:a16="http://schemas.microsoft.com/office/drawing/2014/main" id="{0D7A762A-2D6D-FF66-3BB5-D2DD12CFBBC5}"/>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1" name="CasellaDiTesto 50">
            <a:extLst>
              <a:ext uri="{FF2B5EF4-FFF2-40B4-BE49-F238E27FC236}">
                <a16:creationId xmlns:a16="http://schemas.microsoft.com/office/drawing/2014/main" id="{31F648CE-599F-F34D-F903-FB3A3A6027E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2" name="CasellaDiTesto 51">
            <a:extLst>
              <a:ext uri="{FF2B5EF4-FFF2-40B4-BE49-F238E27FC236}">
                <a16:creationId xmlns:a16="http://schemas.microsoft.com/office/drawing/2014/main" id="{DB9AF6F8-8751-6E29-D48F-4F28810F4E2C}"/>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3" name="CasellaDiTesto 52">
            <a:extLst>
              <a:ext uri="{FF2B5EF4-FFF2-40B4-BE49-F238E27FC236}">
                <a16:creationId xmlns:a16="http://schemas.microsoft.com/office/drawing/2014/main" id="{E076BFD6-0D1C-BA2F-6DAA-57C3962062A1}"/>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4" name="CasellaDiTesto 53">
            <a:extLst>
              <a:ext uri="{FF2B5EF4-FFF2-40B4-BE49-F238E27FC236}">
                <a16:creationId xmlns:a16="http://schemas.microsoft.com/office/drawing/2014/main" id="{7A847F9E-CC8D-02BA-245B-26E3321E0E8E}"/>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5" name="CasellaDiTesto 54">
            <a:extLst>
              <a:ext uri="{FF2B5EF4-FFF2-40B4-BE49-F238E27FC236}">
                <a16:creationId xmlns:a16="http://schemas.microsoft.com/office/drawing/2014/main" id="{C5AE858E-AC3E-19BA-80C9-3F6C066DA032}"/>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56" name="CasellaDiTesto 55">
            <a:extLst>
              <a:ext uri="{FF2B5EF4-FFF2-40B4-BE49-F238E27FC236}">
                <a16:creationId xmlns:a16="http://schemas.microsoft.com/office/drawing/2014/main" id="{F6D815CA-D53C-A5C1-5D4F-96B72C6ACE73}"/>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57" name="CasellaDiTesto 56">
            <a:extLst>
              <a:ext uri="{FF2B5EF4-FFF2-40B4-BE49-F238E27FC236}">
                <a16:creationId xmlns:a16="http://schemas.microsoft.com/office/drawing/2014/main" id="{BE4DCD2F-AAF0-3336-F65D-7DBB51B8572C}"/>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58" name="CasellaDiTesto 57">
            <a:extLst>
              <a:ext uri="{FF2B5EF4-FFF2-40B4-BE49-F238E27FC236}">
                <a16:creationId xmlns:a16="http://schemas.microsoft.com/office/drawing/2014/main" id="{29C1EECA-AB20-7EA3-5BED-81625B98A939}"/>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59" name="CasellaDiTesto 58">
            <a:extLst>
              <a:ext uri="{FF2B5EF4-FFF2-40B4-BE49-F238E27FC236}">
                <a16:creationId xmlns:a16="http://schemas.microsoft.com/office/drawing/2014/main" id="{85AD2F1F-CD7B-B61B-04A0-A69993F7AF90}"/>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0" name="CasellaDiTesto 59">
            <a:extLst>
              <a:ext uri="{FF2B5EF4-FFF2-40B4-BE49-F238E27FC236}">
                <a16:creationId xmlns:a16="http://schemas.microsoft.com/office/drawing/2014/main" id="{EE1D96D0-248A-B913-2A12-F558306B299E}"/>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2" name="CasellaDiTesto 1">
            <a:extLst>
              <a:ext uri="{FF2B5EF4-FFF2-40B4-BE49-F238E27FC236}">
                <a16:creationId xmlns:a16="http://schemas.microsoft.com/office/drawing/2014/main" id="{8E5F5311-1B18-2C76-A848-42B5B70C66F6}"/>
              </a:ext>
            </a:extLst>
          </p:cNvPr>
          <p:cNvSpPr txBox="1"/>
          <p:nvPr/>
        </p:nvSpPr>
        <p:spPr>
          <a:xfrm>
            <a:off x="9576646" y="2280489"/>
            <a:ext cx="2615354" cy="1446550"/>
          </a:xfrm>
          <a:prstGeom prst="rect">
            <a:avLst/>
          </a:prstGeom>
          <a:noFill/>
        </p:spPr>
        <p:txBody>
          <a:bodyPr wrap="square" rtlCol="0">
            <a:spAutoFit/>
          </a:bodyPr>
          <a:lstStyle/>
          <a:p>
            <a:pPr marL="228600" indent="-228600" algn="just">
              <a:buSzPct val="100000"/>
              <a:buFont typeface="+mj-lt"/>
              <a:buAutoNum type="alphaUcPeriod" startAt="15"/>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marL="228600" indent="-228600" algn="just">
              <a:buSzPct val="100000"/>
              <a:buFont typeface="+mj-lt"/>
              <a:buAutoNum type="alphaUcPeriod" startAt="15"/>
            </a:pPr>
            <a:endPar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4" name="CasellaDiTesto 3">
            <a:extLst>
              <a:ext uri="{FF2B5EF4-FFF2-40B4-BE49-F238E27FC236}">
                <a16:creationId xmlns:a16="http://schemas.microsoft.com/office/drawing/2014/main" id="{74E6A9D0-9BAB-2C08-4EB6-4EEC3AC129AE}"/>
              </a:ext>
            </a:extLst>
          </p:cNvPr>
          <p:cNvSpPr txBox="1"/>
          <p:nvPr/>
        </p:nvSpPr>
        <p:spPr>
          <a:xfrm>
            <a:off x="9576646" y="3570636"/>
            <a:ext cx="2615354" cy="1323439"/>
          </a:xfrm>
          <a:prstGeom prst="rect">
            <a:avLst/>
          </a:prstGeom>
          <a:noFill/>
        </p:spPr>
        <p:txBody>
          <a:bodyPr wrap="square" rtlCol="0">
            <a:spAutoFit/>
          </a:bodyPr>
          <a:lstStyle/>
          <a:p>
            <a:pPr marL="228600" indent="-228600" algn="just">
              <a:buSzPct val="100000"/>
              <a:buFont typeface="+mj-lt"/>
              <a:buAutoNum type="alphaUcPeriod" startAt="19"/>
            </a:pPr>
            <a:r>
              <a:rPr lang="en-US" sz="800" b="1" dirty="0">
                <a:latin typeface="MS Shell Dlg 2" panose="020B0604030504040204" pitchFamily="34" charset="0"/>
                <a:ea typeface="MS Shell Dlg 2" panose="020B0604030504040204" pitchFamily="34" charset="0"/>
                <a:cs typeface="MS Shell Dlg 2" panose="020B0604030504040204" pitchFamily="34" charset="0"/>
              </a:rPr>
              <a:t>(+H)</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areas with cold bottom temperatures, moderate salinity, and moderate to very high surface productivity. Extremely low bottom oxygen. Overall biomass ranges from moderate to very high, with fair to moderate biomass of the five commercial species and moderate to moderately high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moderate to high shipping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traffic.Minor</a:t>
            </a:r>
            <a:r>
              <a:rPr lang="en-US" sz="800" dirty="0">
                <a:latin typeface="MS Shell Dlg 2" panose="020B0604030504040204" pitchFamily="34" charset="0"/>
                <a:ea typeface="MS Shell Dlg 2" panose="020B0604030504040204" pitchFamily="34" charset="0"/>
                <a:cs typeface="MS Shell Dlg 2" panose="020B0604030504040204" pitchFamily="34" charset="0"/>
              </a:rPr>
              <a:t> anthropogenic influence with limited presence of military areas.</a:t>
            </a:r>
            <a:endParaRPr lang="en-US" sz="800" dirty="0">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3369345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10;&#10;Descrizione generata automaticamente">
            <a:extLst>
              <a:ext uri="{FF2B5EF4-FFF2-40B4-BE49-F238E27FC236}">
                <a16:creationId xmlns:a16="http://schemas.microsoft.com/office/drawing/2014/main" id="{B38E7429-5060-5B7C-8506-655E1C8CF9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sp>
        <p:nvSpPr>
          <p:cNvPr id="4" name="CasellaDiTesto 3">
            <a:extLst>
              <a:ext uri="{FF2B5EF4-FFF2-40B4-BE49-F238E27FC236}">
                <a16:creationId xmlns:a16="http://schemas.microsoft.com/office/drawing/2014/main" id="{D5FC6E3C-5C82-FF38-D4BD-308B60B78F72}"/>
              </a:ext>
            </a:extLst>
          </p:cNvPr>
          <p:cNvSpPr txBox="1"/>
          <p:nvPr/>
        </p:nvSpPr>
        <p:spPr>
          <a:xfrm>
            <a:off x="7934771" y="255092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7318049" y="273471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6701327" y="273471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9" name="CasellaDiTesto 8">
            <a:extLst>
              <a:ext uri="{FF2B5EF4-FFF2-40B4-BE49-F238E27FC236}">
                <a16:creationId xmlns:a16="http://schemas.microsoft.com/office/drawing/2014/main" id="{FE895E89-1966-148F-927D-F38AB575517A}"/>
              </a:ext>
            </a:extLst>
          </p:cNvPr>
          <p:cNvSpPr txBox="1"/>
          <p:nvPr/>
        </p:nvSpPr>
        <p:spPr>
          <a:xfrm>
            <a:off x="7209802" y="31520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grpSp>
        <p:nvGrpSpPr>
          <p:cNvPr id="12" name="Gruppo 11">
            <a:extLst>
              <a:ext uri="{FF2B5EF4-FFF2-40B4-BE49-F238E27FC236}">
                <a16:creationId xmlns:a16="http://schemas.microsoft.com/office/drawing/2014/main" id="{70042BF6-2E50-EF9E-C984-DDC13CA0220F}"/>
              </a:ext>
            </a:extLst>
          </p:cNvPr>
          <p:cNvGrpSpPr/>
          <p:nvPr/>
        </p:nvGrpSpPr>
        <p:grpSpPr>
          <a:xfrm>
            <a:off x="5219879" y="3899677"/>
            <a:ext cx="5429784" cy="2387103"/>
            <a:chOff x="5219879" y="3899677"/>
            <a:chExt cx="5429784" cy="2387103"/>
          </a:xfrm>
        </p:grpSpPr>
        <p:sp>
          <p:nvSpPr>
            <p:cNvPr id="7" name="CasellaDiTesto 6">
              <a:extLst>
                <a:ext uri="{FF2B5EF4-FFF2-40B4-BE49-F238E27FC236}">
                  <a16:creationId xmlns:a16="http://schemas.microsoft.com/office/drawing/2014/main" id="{AC2AC8C7-85E6-2BDC-C429-2EE4A5DC7003}"/>
                </a:ext>
              </a:extLst>
            </p:cNvPr>
            <p:cNvSpPr txBox="1"/>
            <p:nvPr/>
          </p:nvSpPr>
          <p:spPr>
            <a:xfrm>
              <a:off x="5219879" y="4470898"/>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to high salinity, and low surface productivity. Very high biomass. Fishing activity is low to fair, and shipping traffic is moderate. Strong anthropogenic influence with a marked presence of dumping sites and very few wind farms.</a:t>
              </a:r>
            </a:p>
            <a:p>
              <a:pPr marL="228600" indent="-228600" algn="just">
                <a:buFont typeface="+mj-lt"/>
                <a:buAutoNum type="arabicPeriod"/>
              </a:pPr>
              <a:endParaRPr lang="it-IT"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low bottom salinity, and quite low surface productivity. Very high biomass. Fair to moderate fishing activity, and fair shipping traffic. Minor anthropogenic influence with the presence of wind farms.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Very high biomass. Fair fishing activity and moderate shipping traffic. Moderate to high anthropogenic influence, with dumping sites and wind farms.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fair surface productivity. Very high biomass, low salinity, slightly high fishing activity, moderate shipping traffic, and the presence of wind farms.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1" name="CasellaDiTesto 10">
              <a:extLst>
                <a:ext uri="{FF2B5EF4-FFF2-40B4-BE49-F238E27FC236}">
                  <a16:creationId xmlns:a16="http://schemas.microsoft.com/office/drawing/2014/main" id="{68BF044D-BE7B-5396-1843-2C875EAC56F7}"/>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All</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Tree>
    <p:extLst>
      <p:ext uri="{BB962C8B-B14F-4D97-AF65-F5344CB8AC3E}">
        <p14:creationId xmlns:p14="http://schemas.microsoft.com/office/powerpoint/2010/main" val="2326466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descr="Immagine che contiene mappa, testo, diagramma&#10;&#10;Descrizione generata automaticamente">
            <a:extLst>
              <a:ext uri="{FF2B5EF4-FFF2-40B4-BE49-F238E27FC236}">
                <a16:creationId xmlns:a16="http://schemas.microsoft.com/office/drawing/2014/main" id="{75BD8736-82B3-2322-49F8-3BCD921C34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12" name="Gruppo 11">
            <a:extLst>
              <a:ext uri="{FF2B5EF4-FFF2-40B4-BE49-F238E27FC236}">
                <a16:creationId xmlns:a16="http://schemas.microsoft.com/office/drawing/2014/main" id="{70042BF6-2E50-EF9E-C984-DDC13CA0220F}"/>
              </a:ext>
            </a:extLst>
          </p:cNvPr>
          <p:cNvGrpSpPr/>
          <p:nvPr/>
        </p:nvGrpSpPr>
        <p:grpSpPr>
          <a:xfrm>
            <a:off x="5219879" y="3899677"/>
            <a:ext cx="5429784" cy="2125492"/>
            <a:chOff x="5219879" y="3899677"/>
            <a:chExt cx="5429784" cy="2125492"/>
          </a:xfrm>
        </p:grpSpPr>
        <p:sp>
          <p:nvSpPr>
            <p:cNvPr id="7" name="CasellaDiTesto 6">
              <a:extLst>
                <a:ext uri="{FF2B5EF4-FFF2-40B4-BE49-F238E27FC236}">
                  <a16:creationId xmlns:a16="http://schemas.microsoft.com/office/drawing/2014/main" id="{AC2AC8C7-85E6-2BDC-C429-2EE4A5DC7003}"/>
                </a:ext>
              </a:extLst>
            </p:cNvPr>
            <p:cNvSpPr txBox="1"/>
            <p:nvPr/>
          </p:nvSpPr>
          <p:spPr>
            <a:xfrm>
              <a:off x="5219879" y="4532453"/>
              <a:ext cx="5429784" cy="1492716"/>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very low surface productivity. Very high biomass of five commercial demersal species, high salinity, high fishing activity, and fair shipping traffic. Strong anthropogenic influence with a dominant presence of dumping sites and minor military areas and wind farms.</a:t>
              </a:r>
            </a:p>
            <a:p>
              <a:pPr marL="228600" indent="-228600" algn="just">
                <a:buAutoNum type="arabicPeriod"/>
              </a:pPr>
              <a:endParaRPr lang="it-IT"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low bottom oxygen and fair surface productivity. Very high biomass of five commercial demersal species, extremely high fishing activity, moderate shipping traffic, and moderate salinity, with minor presence of military areas.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low bottom oxygen and fair surface productivity. Very high biomass of five commercial demersal species, very high fishing activity, moderate shipping traffic, and low/fair salinity.</a:t>
              </a:r>
            </a:p>
            <a:p>
              <a:pPr marL="228600" indent="-228600" algn="just">
                <a:buFont typeface="+mj-lt"/>
                <a:buAutoNum type="arabicPeriod"/>
              </a:pP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1" name="CasellaDiTesto 10">
              <a:extLst>
                <a:ext uri="{FF2B5EF4-FFF2-40B4-BE49-F238E27FC236}">
                  <a16:creationId xmlns:a16="http://schemas.microsoft.com/office/drawing/2014/main" id="{68BF044D-BE7B-5396-1843-2C875EAC56F7}"/>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Five</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4" name="CasellaDiTesto 3">
            <a:extLst>
              <a:ext uri="{FF2B5EF4-FFF2-40B4-BE49-F238E27FC236}">
                <a16:creationId xmlns:a16="http://schemas.microsoft.com/office/drawing/2014/main" id="{D5FC6E3C-5C82-FF38-D4BD-308B60B78F72}"/>
              </a:ext>
            </a:extLst>
          </p:cNvPr>
          <p:cNvSpPr txBox="1"/>
          <p:nvPr/>
        </p:nvSpPr>
        <p:spPr>
          <a:xfrm>
            <a:off x="6096000" y="31284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7984050" y="34290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7138301" y="31284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Tree>
    <p:extLst>
      <p:ext uri="{BB962C8B-B14F-4D97-AF65-F5344CB8AC3E}">
        <p14:creationId xmlns:p14="http://schemas.microsoft.com/office/powerpoint/2010/main" val="1493032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Immagine che contiene mappa, testo, diagramma, atlante&#10;&#10;Descrizione generata automaticamente">
            <a:extLst>
              <a:ext uri="{FF2B5EF4-FFF2-40B4-BE49-F238E27FC236}">
                <a16:creationId xmlns:a16="http://schemas.microsoft.com/office/drawing/2014/main" id="{483F4012-9532-63EE-D0A2-F4852DC962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6" name="Gruppo 5">
            <a:extLst>
              <a:ext uri="{FF2B5EF4-FFF2-40B4-BE49-F238E27FC236}">
                <a16:creationId xmlns:a16="http://schemas.microsoft.com/office/drawing/2014/main" id="{B74AEFEA-4FD0-B0B7-C9FB-5104C6A6979B}"/>
              </a:ext>
            </a:extLst>
          </p:cNvPr>
          <p:cNvGrpSpPr/>
          <p:nvPr/>
        </p:nvGrpSpPr>
        <p:grpSpPr>
          <a:xfrm>
            <a:off x="5219879" y="3899677"/>
            <a:ext cx="5429784" cy="2202305"/>
            <a:chOff x="5219879" y="3899677"/>
            <a:chExt cx="5429784" cy="2202305"/>
          </a:xfrm>
        </p:grpSpPr>
        <p:sp>
          <p:nvSpPr>
            <p:cNvPr id="7" name="CasellaDiTesto 6">
              <a:extLst>
                <a:ext uri="{FF2B5EF4-FFF2-40B4-BE49-F238E27FC236}">
                  <a16:creationId xmlns:a16="http://schemas.microsoft.com/office/drawing/2014/main" id="{FB9C796C-B593-02A0-402F-B29783ADA7D6}"/>
                </a:ext>
              </a:extLst>
            </p:cNvPr>
            <p:cNvSpPr txBox="1"/>
            <p:nvPr/>
          </p:nvSpPr>
          <p:spPr>
            <a:xfrm>
              <a:off x="5219879" y="4532322"/>
              <a:ext cx="5429784" cy="1569660"/>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warm areas with slightly low bottom oxygen and very high surface productivity. Moderate to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moderate salinity. Minor anthropogenic influence with light presence of dumping sites, military areas, and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cool areas with extremely low bottom oxygen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fair salinity. Minimal presence of wind farms.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cool areas with moderately low bottom oxygen and moderate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fair salinity. Minimal anthropogenic influence, with only light presence of dumping sites, military areas, and wind farms.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p:txBody>
        </p:sp>
        <p:sp>
          <p:nvSpPr>
            <p:cNvPr id="8" name="CasellaDiTesto 7">
              <a:extLst>
                <a:ext uri="{FF2B5EF4-FFF2-40B4-BE49-F238E27FC236}">
                  <a16:creationId xmlns:a16="http://schemas.microsoft.com/office/drawing/2014/main" id="{02E62B29-E12E-426E-E13E-639E86F2DB5B}"/>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p>
          </p:txBody>
        </p:sp>
      </p:grpSp>
      <p:sp>
        <p:nvSpPr>
          <p:cNvPr id="9" name="CasellaDiTesto 8">
            <a:extLst>
              <a:ext uri="{FF2B5EF4-FFF2-40B4-BE49-F238E27FC236}">
                <a16:creationId xmlns:a16="http://schemas.microsoft.com/office/drawing/2014/main" id="{CE88400E-970D-F4CB-FFE1-A3EE8A3C68FD}"/>
              </a:ext>
            </a:extLst>
          </p:cNvPr>
          <p:cNvSpPr txBox="1"/>
          <p:nvPr/>
        </p:nvSpPr>
        <p:spPr>
          <a:xfrm>
            <a:off x="4363914" y="296271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0" name="CasellaDiTesto 9">
            <a:extLst>
              <a:ext uri="{FF2B5EF4-FFF2-40B4-BE49-F238E27FC236}">
                <a16:creationId xmlns:a16="http://schemas.microsoft.com/office/drawing/2014/main" id="{614DBA9D-0EDF-9CE0-FB2C-E5E723825D7F}"/>
              </a:ext>
            </a:extLst>
          </p:cNvPr>
          <p:cNvSpPr txBox="1"/>
          <p:nvPr/>
        </p:nvSpPr>
        <p:spPr>
          <a:xfrm>
            <a:off x="7242050" y="320616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1" name="CasellaDiTesto 10">
            <a:extLst>
              <a:ext uri="{FF2B5EF4-FFF2-40B4-BE49-F238E27FC236}">
                <a16:creationId xmlns:a16="http://schemas.microsoft.com/office/drawing/2014/main" id="{4C0B5442-9E58-9CB4-07EF-4870CD051E09}"/>
              </a:ext>
            </a:extLst>
          </p:cNvPr>
          <p:cNvSpPr txBox="1"/>
          <p:nvPr/>
        </p:nvSpPr>
        <p:spPr>
          <a:xfrm>
            <a:off x="6303698" y="3388812"/>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3" name="CasellaDiTesto 12">
            <a:extLst>
              <a:ext uri="{FF2B5EF4-FFF2-40B4-BE49-F238E27FC236}">
                <a16:creationId xmlns:a16="http://schemas.microsoft.com/office/drawing/2014/main" id="{4401768A-4A3A-D401-BDAE-92B0CBA0E1E6}"/>
              </a:ext>
            </a:extLst>
          </p:cNvPr>
          <p:cNvSpPr txBox="1"/>
          <p:nvPr/>
        </p:nvSpPr>
        <p:spPr>
          <a:xfrm>
            <a:off x="7834558" y="3388812"/>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Tree>
    <p:extLst>
      <p:ext uri="{BB962C8B-B14F-4D97-AF65-F5344CB8AC3E}">
        <p14:creationId xmlns:p14="http://schemas.microsoft.com/office/powerpoint/2010/main" val="1972842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mappa, testo, diagramma&#10;&#10;Descrizione generata automaticamente">
            <a:extLst>
              <a:ext uri="{FF2B5EF4-FFF2-40B4-BE49-F238E27FC236}">
                <a16:creationId xmlns:a16="http://schemas.microsoft.com/office/drawing/2014/main" id="{8DE16B32-7DA1-D0CF-3C5C-7C80C38A62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2" name="Gruppo 1">
            <a:extLst>
              <a:ext uri="{FF2B5EF4-FFF2-40B4-BE49-F238E27FC236}">
                <a16:creationId xmlns:a16="http://schemas.microsoft.com/office/drawing/2014/main" id="{E378CCE6-F51C-D331-7738-90A74702CCAD}"/>
              </a:ext>
            </a:extLst>
          </p:cNvPr>
          <p:cNvGrpSpPr/>
          <p:nvPr/>
        </p:nvGrpSpPr>
        <p:grpSpPr>
          <a:xfrm>
            <a:off x="5219879" y="3899677"/>
            <a:ext cx="5429784" cy="2392442"/>
            <a:chOff x="5219879" y="3899677"/>
            <a:chExt cx="5429784" cy="2392442"/>
          </a:xfrm>
        </p:grpSpPr>
        <p:sp>
          <p:nvSpPr>
            <p:cNvPr id="3" name="CasellaDiTesto 2">
              <a:extLst>
                <a:ext uri="{FF2B5EF4-FFF2-40B4-BE49-F238E27FC236}">
                  <a16:creationId xmlns:a16="http://schemas.microsoft.com/office/drawing/2014/main" id="{CF3F7C6E-12B9-11EF-A3F9-6589C51248EF}"/>
                </a:ext>
              </a:extLst>
            </p:cNvPr>
            <p:cNvSpPr txBox="1"/>
            <p:nvPr/>
          </p:nvSpPr>
          <p:spPr>
            <a:xfrm>
              <a:off x="5219879" y="4476237"/>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cold areas with high bottom oxygen and fairly moderate surface productivity. Very high biomass, moderately high fishing activity, moderate shipping traffic, and low salinity. Intense anthropogenic influence, limited to military areas.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areas with cool bottom waters, very high biomass, and moderate surface productivity. Moderately high fishing activity, moderate shipping traffic, and low salinity, with high bottom oxygen levels. Intense anthropogenic influence, limited to military areas.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low surface productivity. Very high biomass, moderate fishing activity, moderate shipping traffic, and moderate to high salinity. Strong presence of dumping sites and only minimal military influence.</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cold areas with low bottom oxygen and moderate surface productivity. High biomass, moderate to high fishing activity, high shipping traffic, and low salinity. Minimal presence of wind farms.</a:t>
              </a:r>
            </a:p>
          </p:txBody>
        </p:sp>
        <p:sp>
          <p:nvSpPr>
            <p:cNvPr id="14" name="CasellaDiTesto 13">
              <a:extLst>
                <a:ext uri="{FF2B5EF4-FFF2-40B4-BE49-F238E27FC236}">
                  <a16:creationId xmlns:a16="http://schemas.microsoft.com/office/drawing/2014/main" id="{44FF6EB3-7153-BF5C-AFAF-B520DF247DD5}"/>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All</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5" name="CasellaDiTesto 14">
            <a:extLst>
              <a:ext uri="{FF2B5EF4-FFF2-40B4-BE49-F238E27FC236}">
                <a16:creationId xmlns:a16="http://schemas.microsoft.com/office/drawing/2014/main" id="{E59A58FD-55F2-835E-7D51-08EAB0B646B0}"/>
              </a:ext>
            </a:extLst>
          </p:cNvPr>
          <p:cNvSpPr txBox="1"/>
          <p:nvPr/>
        </p:nvSpPr>
        <p:spPr>
          <a:xfrm>
            <a:off x="6354283" y="269558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6" name="CasellaDiTesto 15">
            <a:extLst>
              <a:ext uri="{FF2B5EF4-FFF2-40B4-BE49-F238E27FC236}">
                <a16:creationId xmlns:a16="http://schemas.microsoft.com/office/drawing/2014/main" id="{6F15B647-15E6-B7A0-01F4-88074FCBFA41}"/>
              </a:ext>
            </a:extLst>
          </p:cNvPr>
          <p:cNvSpPr txBox="1"/>
          <p:nvPr/>
        </p:nvSpPr>
        <p:spPr>
          <a:xfrm>
            <a:off x="5692440" y="275373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7" name="CasellaDiTesto 16">
            <a:extLst>
              <a:ext uri="{FF2B5EF4-FFF2-40B4-BE49-F238E27FC236}">
                <a16:creationId xmlns:a16="http://schemas.microsoft.com/office/drawing/2014/main" id="{EA6231AF-B43E-8156-A410-44C30CDE7CB2}"/>
              </a:ext>
            </a:extLst>
          </p:cNvPr>
          <p:cNvSpPr txBox="1"/>
          <p:nvPr/>
        </p:nvSpPr>
        <p:spPr>
          <a:xfrm>
            <a:off x="8228838" y="3297633"/>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8" name="CasellaDiTesto 17">
            <a:extLst>
              <a:ext uri="{FF2B5EF4-FFF2-40B4-BE49-F238E27FC236}">
                <a16:creationId xmlns:a16="http://schemas.microsoft.com/office/drawing/2014/main" id="{8ECC0F65-B1A2-EF80-293A-B28F2B211515}"/>
              </a:ext>
            </a:extLst>
          </p:cNvPr>
          <p:cNvSpPr txBox="1"/>
          <p:nvPr/>
        </p:nvSpPr>
        <p:spPr>
          <a:xfrm>
            <a:off x="7934771" y="261523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9" name="CasellaDiTesto 18">
            <a:extLst>
              <a:ext uri="{FF2B5EF4-FFF2-40B4-BE49-F238E27FC236}">
                <a16:creationId xmlns:a16="http://schemas.microsoft.com/office/drawing/2014/main" id="{4D554DD6-4C9C-D04D-8CF7-59F59A94E64C}"/>
              </a:ext>
            </a:extLst>
          </p:cNvPr>
          <p:cNvSpPr txBox="1"/>
          <p:nvPr/>
        </p:nvSpPr>
        <p:spPr>
          <a:xfrm>
            <a:off x="8957134" y="2439405"/>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20" name="CasellaDiTesto 19">
            <a:extLst>
              <a:ext uri="{FF2B5EF4-FFF2-40B4-BE49-F238E27FC236}">
                <a16:creationId xmlns:a16="http://schemas.microsoft.com/office/drawing/2014/main" id="{86ABEABA-61A4-CE03-6391-9DED0586BA39}"/>
              </a:ext>
            </a:extLst>
          </p:cNvPr>
          <p:cNvSpPr txBox="1"/>
          <p:nvPr/>
        </p:nvSpPr>
        <p:spPr>
          <a:xfrm>
            <a:off x="6837105" y="3020634"/>
            <a:ext cx="565119"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spTree>
    <p:extLst>
      <p:ext uri="{BB962C8B-B14F-4D97-AF65-F5344CB8AC3E}">
        <p14:creationId xmlns:p14="http://schemas.microsoft.com/office/powerpoint/2010/main" val="1984900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mappa, testo, diagramma, atlante&#10;&#10;Descrizione generata automaticamente">
            <a:extLst>
              <a:ext uri="{FF2B5EF4-FFF2-40B4-BE49-F238E27FC236}">
                <a16:creationId xmlns:a16="http://schemas.microsoft.com/office/drawing/2014/main" id="{0C1B4426-3ACF-300C-B8B7-A3948F5426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sp>
        <p:nvSpPr>
          <p:cNvPr id="7" name="CasellaDiTesto 6">
            <a:extLst>
              <a:ext uri="{FF2B5EF4-FFF2-40B4-BE49-F238E27FC236}">
                <a16:creationId xmlns:a16="http://schemas.microsoft.com/office/drawing/2014/main" id="{FB9C796C-B593-02A0-402F-B29783ADA7D6}"/>
              </a:ext>
            </a:extLst>
          </p:cNvPr>
          <p:cNvSpPr txBox="1"/>
          <p:nvPr/>
        </p:nvSpPr>
        <p:spPr>
          <a:xfrm>
            <a:off x="5219879" y="4532322"/>
            <a:ext cx="5429784" cy="215444"/>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ABC…..</a:t>
            </a:r>
          </a:p>
        </p:txBody>
      </p:sp>
      <p:grpSp>
        <p:nvGrpSpPr>
          <p:cNvPr id="12" name="Gruppo 11">
            <a:extLst>
              <a:ext uri="{FF2B5EF4-FFF2-40B4-BE49-F238E27FC236}">
                <a16:creationId xmlns:a16="http://schemas.microsoft.com/office/drawing/2014/main" id="{FDDD8365-C09C-F2DF-D512-3917AD40B1C2}"/>
              </a:ext>
            </a:extLst>
          </p:cNvPr>
          <p:cNvGrpSpPr/>
          <p:nvPr/>
        </p:nvGrpSpPr>
        <p:grpSpPr>
          <a:xfrm>
            <a:off x="5219879" y="3899677"/>
            <a:ext cx="5429784" cy="2333426"/>
            <a:chOff x="5219879" y="3899677"/>
            <a:chExt cx="5429784" cy="2333426"/>
          </a:xfrm>
        </p:grpSpPr>
        <p:sp>
          <p:nvSpPr>
            <p:cNvPr id="14" name="CasellaDiTesto 13">
              <a:extLst>
                <a:ext uri="{FF2B5EF4-FFF2-40B4-BE49-F238E27FC236}">
                  <a16:creationId xmlns:a16="http://schemas.microsoft.com/office/drawing/2014/main" id="{63DB16E8-7673-DF06-070D-482732244F8D}"/>
                </a:ext>
              </a:extLst>
            </p:cNvPr>
            <p:cNvSpPr txBox="1"/>
            <p:nvPr/>
          </p:nvSpPr>
          <p:spPr>
            <a:xfrm>
              <a:off x="5219879" y="4540332"/>
              <a:ext cx="5429784" cy="1692771"/>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high salinity, and fairly high surface productivity. Very high biomass of five commercial species, intense fishing activity, and moderate shipping traffic. Strong anthropogenic influence with dominant dumping sites, military areas, and minimal presence of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cool areas with low bottom oxygen and moderately high salinity, and moderate surface productivity. High biomass of five commercial species, intense fishing activity, moderate shipping traffic. Minimal anthropogenic influence, limited to minor military areas and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moderately high salinity, and moderate to high surface productivity. High biomass of five commercial species, intense fishing activity, moderate shipping traffic. Minimal anthropogenic influence, with only minor wind farms, and partly hardbottom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5" name="CasellaDiTesto 14">
              <a:extLst>
                <a:ext uri="{FF2B5EF4-FFF2-40B4-BE49-F238E27FC236}">
                  <a16:creationId xmlns:a16="http://schemas.microsoft.com/office/drawing/2014/main" id="{9410F135-8E8A-D277-EDF5-20623186786D}"/>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Five</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6" name="CasellaDiTesto 15">
            <a:extLst>
              <a:ext uri="{FF2B5EF4-FFF2-40B4-BE49-F238E27FC236}">
                <a16:creationId xmlns:a16="http://schemas.microsoft.com/office/drawing/2014/main" id="{CBD5D4D5-2C6A-1A5D-D09D-F4320726F0F1}"/>
              </a:ext>
            </a:extLst>
          </p:cNvPr>
          <p:cNvSpPr txBox="1"/>
          <p:nvPr/>
        </p:nvSpPr>
        <p:spPr>
          <a:xfrm>
            <a:off x="6147669" y="319589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9" name="CasellaDiTesto 18">
            <a:extLst>
              <a:ext uri="{FF2B5EF4-FFF2-40B4-BE49-F238E27FC236}">
                <a16:creationId xmlns:a16="http://schemas.microsoft.com/office/drawing/2014/main" id="{9AB21391-CAA1-333C-FEF4-18DE19E9C9F3}"/>
              </a:ext>
            </a:extLst>
          </p:cNvPr>
          <p:cNvSpPr txBox="1"/>
          <p:nvPr/>
        </p:nvSpPr>
        <p:spPr>
          <a:xfrm>
            <a:off x="7258991" y="313248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20" name="CasellaDiTesto 19">
            <a:extLst>
              <a:ext uri="{FF2B5EF4-FFF2-40B4-BE49-F238E27FC236}">
                <a16:creationId xmlns:a16="http://schemas.microsoft.com/office/drawing/2014/main" id="{8BD24711-16A5-E3D2-167B-CB43E937DB40}"/>
              </a:ext>
            </a:extLst>
          </p:cNvPr>
          <p:cNvSpPr txBox="1"/>
          <p:nvPr/>
        </p:nvSpPr>
        <p:spPr>
          <a:xfrm>
            <a:off x="5422786" y="299398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5" name="CasellaDiTesto 4">
            <a:extLst>
              <a:ext uri="{FF2B5EF4-FFF2-40B4-BE49-F238E27FC236}">
                <a16:creationId xmlns:a16="http://schemas.microsoft.com/office/drawing/2014/main" id="{F18249C7-7F35-45EE-E69E-4984E50DDE54}"/>
              </a:ext>
            </a:extLst>
          </p:cNvPr>
          <p:cNvSpPr txBox="1"/>
          <p:nvPr/>
        </p:nvSpPr>
        <p:spPr>
          <a:xfrm>
            <a:off x="7834039" y="32905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Tree>
    <p:extLst>
      <p:ext uri="{BB962C8B-B14F-4D97-AF65-F5344CB8AC3E}">
        <p14:creationId xmlns:p14="http://schemas.microsoft.com/office/powerpoint/2010/main" val="2408188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magine 9" descr="Immagine che contiene mappa, testo, diagramma&#10;&#10;Descrizione generata automaticamente">
            <a:extLst>
              <a:ext uri="{FF2B5EF4-FFF2-40B4-BE49-F238E27FC236}">
                <a16:creationId xmlns:a16="http://schemas.microsoft.com/office/drawing/2014/main" id="{5E6BB94B-A657-E297-1F04-D6AE5D55B0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11" name="Gruppo 10">
            <a:extLst>
              <a:ext uri="{FF2B5EF4-FFF2-40B4-BE49-F238E27FC236}">
                <a16:creationId xmlns:a16="http://schemas.microsoft.com/office/drawing/2014/main" id="{690E625F-7570-EF19-668A-81020222F920}"/>
              </a:ext>
            </a:extLst>
          </p:cNvPr>
          <p:cNvGrpSpPr/>
          <p:nvPr/>
        </p:nvGrpSpPr>
        <p:grpSpPr>
          <a:xfrm>
            <a:off x="5219879" y="3899677"/>
            <a:ext cx="5429784" cy="2392442"/>
            <a:chOff x="5219879" y="3899677"/>
            <a:chExt cx="5429784" cy="2392442"/>
          </a:xfrm>
        </p:grpSpPr>
        <p:sp>
          <p:nvSpPr>
            <p:cNvPr id="12" name="CasellaDiTesto 11">
              <a:extLst>
                <a:ext uri="{FF2B5EF4-FFF2-40B4-BE49-F238E27FC236}">
                  <a16:creationId xmlns:a16="http://schemas.microsoft.com/office/drawing/2014/main" id="{EC6DDEC8-A314-8EC4-D51B-B831DC5FAFB5}"/>
                </a:ext>
              </a:extLst>
            </p:cNvPr>
            <p:cNvSpPr txBox="1"/>
            <p:nvPr/>
          </p:nvSpPr>
          <p:spPr>
            <a:xfrm>
              <a:off x="5219879" y="4476237"/>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extremely low bottom oxygen, moderately high salinity,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heavy shipping traffic.</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high salinity, extremely low bottom oxygen,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intense fishing activity, and heavy shipping traffic, with only minimal hard-bottom substrate present.</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high salinity, and fairly high surface productivity. Very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moderate shipping traffic. Strong anthropogenic influence with dominant dumping sites, military areas, and minimal presence of wind farms.</a:t>
              </a:r>
            </a:p>
            <a:p>
              <a:pPr marL="228600" indent="-228600" algn="just">
                <a:buFontTx/>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moderately high salinity, extremely low bottom oxygen and very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heavy shipping traffic, with only minimal anthropogenic presence from limited military areas.</a:t>
              </a:r>
            </a:p>
          </p:txBody>
        </p:sp>
        <p:sp>
          <p:nvSpPr>
            <p:cNvPr id="13" name="CasellaDiTesto 12">
              <a:extLst>
                <a:ext uri="{FF2B5EF4-FFF2-40B4-BE49-F238E27FC236}">
                  <a16:creationId xmlns:a16="http://schemas.microsoft.com/office/drawing/2014/main" id="{DC652620-C7DC-38D7-BEB0-7BAC564F305C}"/>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4" name="CasellaDiTesto 13">
            <a:extLst>
              <a:ext uri="{FF2B5EF4-FFF2-40B4-BE49-F238E27FC236}">
                <a16:creationId xmlns:a16="http://schemas.microsoft.com/office/drawing/2014/main" id="{D6BF471C-4AF5-CCE3-F13E-139BF2B48699}"/>
              </a:ext>
            </a:extLst>
          </p:cNvPr>
          <p:cNvSpPr txBox="1"/>
          <p:nvPr/>
        </p:nvSpPr>
        <p:spPr>
          <a:xfrm>
            <a:off x="6147669" y="319589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6" name="CasellaDiTesto 15">
            <a:extLst>
              <a:ext uri="{FF2B5EF4-FFF2-40B4-BE49-F238E27FC236}">
                <a16:creationId xmlns:a16="http://schemas.microsoft.com/office/drawing/2014/main" id="{165D436A-FF37-CDF6-2361-1812835DFE2A}"/>
              </a:ext>
            </a:extLst>
          </p:cNvPr>
          <p:cNvSpPr txBox="1"/>
          <p:nvPr/>
        </p:nvSpPr>
        <p:spPr>
          <a:xfrm>
            <a:off x="7834039" y="32905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9" name="CasellaDiTesto 18">
            <a:extLst>
              <a:ext uri="{FF2B5EF4-FFF2-40B4-BE49-F238E27FC236}">
                <a16:creationId xmlns:a16="http://schemas.microsoft.com/office/drawing/2014/main" id="{4B4D68A2-5F7C-9523-CA58-3FC50DAA9DC6}"/>
              </a:ext>
            </a:extLst>
          </p:cNvPr>
          <p:cNvSpPr txBox="1"/>
          <p:nvPr/>
        </p:nvSpPr>
        <p:spPr>
          <a:xfrm>
            <a:off x="8201508" y="3510669"/>
            <a:ext cx="290555"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20" name="CasellaDiTesto 19">
            <a:extLst>
              <a:ext uri="{FF2B5EF4-FFF2-40B4-BE49-F238E27FC236}">
                <a16:creationId xmlns:a16="http://schemas.microsoft.com/office/drawing/2014/main" id="{2DA73D47-20BB-B5AD-A487-F89EE0A17974}"/>
              </a:ext>
            </a:extLst>
          </p:cNvPr>
          <p:cNvSpPr txBox="1"/>
          <p:nvPr/>
        </p:nvSpPr>
        <p:spPr>
          <a:xfrm>
            <a:off x="7243489" y="308524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Tree>
    <p:extLst>
      <p:ext uri="{BB962C8B-B14F-4D97-AF65-F5344CB8AC3E}">
        <p14:creationId xmlns:p14="http://schemas.microsoft.com/office/powerpoint/2010/main" val="3203646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magine 13" descr="Immagine che contiene mappa, testo, diagramma&#10;&#10;Descrizione generata automaticamente">
            <a:extLst>
              <a:ext uri="{FF2B5EF4-FFF2-40B4-BE49-F238E27FC236}">
                <a16:creationId xmlns:a16="http://schemas.microsoft.com/office/drawing/2014/main" id="{5FA407CD-279C-AE3F-6CCB-203091F275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04"/>
            <a:ext cx="9697986" cy="6858000"/>
          </a:xfrm>
          <a:prstGeom prst="rect">
            <a:avLst/>
          </a:prstGeom>
        </p:spPr>
      </p:pic>
      <p:sp>
        <p:nvSpPr>
          <p:cNvPr id="5" name="CasellaDiTesto 4">
            <a:extLst>
              <a:ext uri="{FF2B5EF4-FFF2-40B4-BE49-F238E27FC236}">
                <a16:creationId xmlns:a16="http://schemas.microsoft.com/office/drawing/2014/main" id="{237BFFEA-CF0A-C973-7F4F-99D1CA979C5E}"/>
              </a:ext>
            </a:extLst>
          </p:cNvPr>
          <p:cNvSpPr txBox="1"/>
          <p:nvPr/>
        </p:nvSpPr>
        <p:spPr>
          <a:xfrm>
            <a:off x="9576646" y="181958"/>
            <a:ext cx="2615354" cy="6494085"/>
          </a:xfrm>
          <a:prstGeom prst="rect">
            <a:avLst/>
          </a:prstGeom>
          <a:noFill/>
        </p:spPr>
        <p:txBody>
          <a:bodyPr wrap="square" rtlCol="0">
            <a:spAutoFit/>
          </a:bodyPr>
          <a:lstStyle/>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very cold areas with extremely low bottom oxygen, low bottom salinity, and quite low surface productivity. Overall biomass is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
        <p:nvSpPr>
          <p:cNvPr id="6" name="CasellaDiTesto 5">
            <a:extLst>
              <a:ext uri="{FF2B5EF4-FFF2-40B4-BE49-F238E27FC236}">
                <a16:creationId xmlns:a16="http://schemas.microsoft.com/office/drawing/2014/main" id="{972B0385-9675-ED69-D055-78322829BE8B}"/>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B8175458-641F-A2FF-C91C-DFB6AF09A392}"/>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8" name="CasellaDiTesto 7">
            <a:extLst>
              <a:ext uri="{FF2B5EF4-FFF2-40B4-BE49-F238E27FC236}">
                <a16:creationId xmlns:a16="http://schemas.microsoft.com/office/drawing/2014/main" id="{7A3CB8C4-AA0A-0C4C-D0EA-77C9AC16F701}"/>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9" name="CasellaDiTesto 8">
            <a:extLst>
              <a:ext uri="{FF2B5EF4-FFF2-40B4-BE49-F238E27FC236}">
                <a16:creationId xmlns:a16="http://schemas.microsoft.com/office/drawing/2014/main" id="{8339F146-5E39-B835-C2A7-B325FC94E80C}"/>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10" name="CasellaDiTesto 9">
            <a:extLst>
              <a:ext uri="{FF2B5EF4-FFF2-40B4-BE49-F238E27FC236}">
                <a16:creationId xmlns:a16="http://schemas.microsoft.com/office/drawing/2014/main" id="{D8375868-28E8-E101-4E1F-0C8CCBC4B2A0}"/>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2" name="CasellaDiTesto 1">
            <a:extLst>
              <a:ext uri="{FF2B5EF4-FFF2-40B4-BE49-F238E27FC236}">
                <a16:creationId xmlns:a16="http://schemas.microsoft.com/office/drawing/2014/main" id="{3ED75D70-89AA-0516-E6D9-3765B1CB9CE1}"/>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11" name="CasellaDiTesto 10">
            <a:extLst>
              <a:ext uri="{FF2B5EF4-FFF2-40B4-BE49-F238E27FC236}">
                <a16:creationId xmlns:a16="http://schemas.microsoft.com/office/drawing/2014/main" id="{F33FCCA7-1C1A-E157-DBF9-08BB4900789C}"/>
              </a:ext>
            </a:extLst>
          </p:cNvPr>
          <p:cNvSpPr txBox="1"/>
          <p:nvPr/>
        </p:nvSpPr>
        <p:spPr>
          <a:xfrm>
            <a:off x="5940582" y="31896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12" name="CasellaDiTesto 11">
            <a:extLst>
              <a:ext uri="{FF2B5EF4-FFF2-40B4-BE49-F238E27FC236}">
                <a16:creationId xmlns:a16="http://schemas.microsoft.com/office/drawing/2014/main" id="{DD5F6CF3-AB8E-578B-6859-9BD1F5264663}"/>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15" name="CasellaDiTesto 14">
            <a:extLst>
              <a:ext uri="{FF2B5EF4-FFF2-40B4-BE49-F238E27FC236}">
                <a16:creationId xmlns:a16="http://schemas.microsoft.com/office/drawing/2014/main" id="{FB06A761-02BA-7D4B-FEBD-E949D582B203}"/>
              </a:ext>
            </a:extLst>
          </p:cNvPr>
          <p:cNvSpPr txBox="1"/>
          <p:nvPr/>
        </p:nvSpPr>
        <p:spPr>
          <a:xfrm>
            <a:off x="6865799" y="350193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3" name="CasellaDiTesto 2">
            <a:extLst>
              <a:ext uri="{FF2B5EF4-FFF2-40B4-BE49-F238E27FC236}">
                <a16:creationId xmlns:a16="http://schemas.microsoft.com/office/drawing/2014/main" id="{F3A65801-A171-0202-6013-09791C0D11E6}"/>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1</a:t>
            </a:r>
          </a:p>
        </p:txBody>
      </p:sp>
    </p:spTree>
    <p:extLst>
      <p:ext uri="{BB962C8B-B14F-4D97-AF65-F5344CB8AC3E}">
        <p14:creationId xmlns:p14="http://schemas.microsoft.com/office/powerpoint/2010/main" val="3004319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magine 13" descr="Immagine che contiene mappa, testo, diagramma&#10;&#10;Descrizione generata automaticamente">
            <a:extLst>
              <a:ext uri="{FF2B5EF4-FFF2-40B4-BE49-F238E27FC236}">
                <a16:creationId xmlns:a16="http://schemas.microsoft.com/office/drawing/2014/main" id="{5FA407CD-279C-AE3F-6CCB-203091F275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04"/>
            <a:ext cx="9697986" cy="6858000"/>
          </a:xfrm>
          <a:prstGeom prst="rect">
            <a:avLst/>
          </a:prstGeom>
        </p:spPr>
      </p:pic>
      <p:sp>
        <p:nvSpPr>
          <p:cNvPr id="5" name="CasellaDiTesto 4">
            <a:extLst>
              <a:ext uri="{FF2B5EF4-FFF2-40B4-BE49-F238E27FC236}">
                <a16:creationId xmlns:a16="http://schemas.microsoft.com/office/drawing/2014/main" id="{237BFFEA-CF0A-C973-7F4F-99D1CA979C5E}"/>
              </a:ext>
            </a:extLst>
          </p:cNvPr>
          <p:cNvSpPr txBox="1"/>
          <p:nvPr/>
        </p:nvSpPr>
        <p:spPr>
          <a:xfrm>
            <a:off x="9576646" y="1659285"/>
            <a:ext cx="2615354" cy="3539430"/>
          </a:xfrm>
          <a:prstGeom prst="rect">
            <a:avLst/>
          </a:prstGeom>
          <a:noFill/>
        </p:spPr>
        <p:txBody>
          <a:bodyPr wrap="square" rtlCol="0">
            <a:spAutoFit/>
          </a:bodyPr>
          <a:lstStyle/>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salinity, and high surface productivity. Overall biomass is very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is very intense, and shipping traffic is fair. Strong anthropogenic influence with a marked presence of military areas.</a:t>
            </a:r>
          </a:p>
        </p:txBody>
      </p:sp>
      <p:sp>
        <p:nvSpPr>
          <p:cNvPr id="6" name="CasellaDiTesto 5">
            <a:extLst>
              <a:ext uri="{FF2B5EF4-FFF2-40B4-BE49-F238E27FC236}">
                <a16:creationId xmlns:a16="http://schemas.microsoft.com/office/drawing/2014/main" id="{972B0385-9675-ED69-D055-78322829BE8B}"/>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B8175458-641F-A2FF-C91C-DFB6AF09A392}"/>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8" name="CasellaDiTesto 7">
            <a:extLst>
              <a:ext uri="{FF2B5EF4-FFF2-40B4-BE49-F238E27FC236}">
                <a16:creationId xmlns:a16="http://schemas.microsoft.com/office/drawing/2014/main" id="{7A3CB8C4-AA0A-0C4C-D0EA-77C9AC16F701}"/>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9" name="CasellaDiTesto 8">
            <a:extLst>
              <a:ext uri="{FF2B5EF4-FFF2-40B4-BE49-F238E27FC236}">
                <a16:creationId xmlns:a16="http://schemas.microsoft.com/office/drawing/2014/main" id="{8339F146-5E39-B835-C2A7-B325FC94E80C}"/>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10" name="CasellaDiTesto 9">
            <a:extLst>
              <a:ext uri="{FF2B5EF4-FFF2-40B4-BE49-F238E27FC236}">
                <a16:creationId xmlns:a16="http://schemas.microsoft.com/office/drawing/2014/main" id="{D8375868-28E8-E101-4E1F-0C8CCBC4B2A0}"/>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2" name="CasellaDiTesto 1">
            <a:extLst>
              <a:ext uri="{FF2B5EF4-FFF2-40B4-BE49-F238E27FC236}">
                <a16:creationId xmlns:a16="http://schemas.microsoft.com/office/drawing/2014/main" id="{3ED75D70-89AA-0516-E6D9-3765B1CB9CE1}"/>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11" name="CasellaDiTesto 10">
            <a:extLst>
              <a:ext uri="{FF2B5EF4-FFF2-40B4-BE49-F238E27FC236}">
                <a16:creationId xmlns:a16="http://schemas.microsoft.com/office/drawing/2014/main" id="{F33FCCA7-1C1A-E157-DBF9-08BB4900789C}"/>
              </a:ext>
            </a:extLst>
          </p:cNvPr>
          <p:cNvSpPr txBox="1"/>
          <p:nvPr/>
        </p:nvSpPr>
        <p:spPr>
          <a:xfrm>
            <a:off x="5940582" y="31896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12" name="CasellaDiTesto 11">
            <a:extLst>
              <a:ext uri="{FF2B5EF4-FFF2-40B4-BE49-F238E27FC236}">
                <a16:creationId xmlns:a16="http://schemas.microsoft.com/office/drawing/2014/main" id="{DD5F6CF3-AB8E-578B-6859-9BD1F5264663}"/>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15" name="CasellaDiTesto 14">
            <a:extLst>
              <a:ext uri="{FF2B5EF4-FFF2-40B4-BE49-F238E27FC236}">
                <a16:creationId xmlns:a16="http://schemas.microsoft.com/office/drawing/2014/main" id="{FB06A761-02BA-7D4B-FEBD-E949D582B203}"/>
              </a:ext>
            </a:extLst>
          </p:cNvPr>
          <p:cNvSpPr txBox="1"/>
          <p:nvPr/>
        </p:nvSpPr>
        <p:spPr>
          <a:xfrm>
            <a:off x="6865799" y="350193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3" name="CasellaDiTesto 2">
            <a:extLst>
              <a:ext uri="{FF2B5EF4-FFF2-40B4-BE49-F238E27FC236}">
                <a16:creationId xmlns:a16="http://schemas.microsoft.com/office/drawing/2014/main" id="{E7D8A15C-1AE5-CF52-AE1C-40073BEF7579}"/>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2</a:t>
            </a:r>
          </a:p>
        </p:txBody>
      </p:sp>
    </p:spTree>
    <p:extLst>
      <p:ext uri="{BB962C8B-B14F-4D97-AF65-F5344CB8AC3E}">
        <p14:creationId xmlns:p14="http://schemas.microsoft.com/office/powerpoint/2010/main" val="3693470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45763EE3-790A-3A55-B1F3-941C943CCB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6" name="CasellaDiTesto 5">
            <a:extLst>
              <a:ext uri="{FF2B5EF4-FFF2-40B4-BE49-F238E27FC236}">
                <a16:creationId xmlns:a16="http://schemas.microsoft.com/office/drawing/2014/main" id="{683CAA8A-703E-FFCC-0E0C-0E06FA7FF18F}"/>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38EB0D34-4497-9501-52EF-87CC5FCD93DB}"/>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14" name="CasellaDiTesto 13">
            <a:extLst>
              <a:ext uri="{FF2B5EF4-FFF2-40B4-BE49-F238E27FC236}">
                <a16:creationId xmlns:a16="http://schemas.microsoft.com/office/drawing/2014/main" id="{DE6D34C8-C67B-06E0-623B-47326F99149D}"/>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15" name="CasellaDiTesto 14">
            <a:extLst>
              <a:ext uri="{FF2B5EF4-FFF2-40B4-BE49-F238E27FC236}">
                <a16:creationId xmlns:a16="http://schemas.microsoft.com/office/drawing/2014/main" id="{114C8759-ECFA-FBDA-5EA3-BA22FF047F23}"/>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16" name="CasellaDiTesto 15">
            <a:extLst>
              <a:ext uri="{FF2B5EF4-FFF2-40B4-BE49-F238E27FC236}">
                <a16:creationId xmlns:a16="http://schemas.microsoft.com/office/drawing/2014/main" id="{F1FA9B59-AEEE-FB82-FAEE-BF732CC4FFA7}"/>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17" name="CasellaDiTesto 16">
            <a:extLst>
              <a:ext uri="{FF2B5EF4-FFF2-40B4-BE49-F238E27FC236}">
                <a16:creationId xmlns:a16="http://schemas.microsoft.com/office/drawing/2014/main" id="{9ACB4721-A779-92CC-BAEB-EE8DAC1273B7}"/>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18" name="CasellaDiTesto 17">
            <a:extLst>
              <a:ext uri="{FF2B5EF4-FFF2-40B4-BE49-F238E27FC236}">
                <a16:creationId xmlns:a16="http://schemas.microsoft.com/office/drawing/2014/main" id="{290B6AF9-595C-3458-67E1-456BD802D96B}"/>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19" name="CasellaDiTesto 18">
            <a:extLst>
              <a:ext uri="{FF2B5EF4-FFF2-40B4-BE49-F238E27FC236}">
                <a16:creationId xmlns:a16="http://schemas.microsoft.com/office/drawing/2014/main" id="{7228784C-84D0-2882-BD5B-E1C62F246398}"/>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20" name="CasellaDiTesto 19">
            <a:extLst>
              <a:ext uri="{FF2B5EF4-FFF2-40B4-BE49-F238E27FC236}">
                <a16:creationId xmlns:a16="http://schemas.microsoft.com/office/drawing/2014/main" id="{28835EBD-AA73-12FB-C33D-6A4BDB70F720}"/>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3" name="CasellaDiTesto 2">
            <a:extLst>
              <a:ext uri="{FF2B5EF4-FFF2-40B4-BE49-F238E27FC236}">
                <a16:creationId xmlns:a16="http://schemas.microsoft.com/office/drawing/2014/main" id="{79202790-A114-DEAA-0107-2710D4B25005}"/>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4"/>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8" name="CasellaDiTesto 7">
            <a:extLst>
              <a:ext uri="{FF2B5EF4-FFF2-40B4-BE49-F238E27FC236}">
                <a16:creationId xmlns:a16="http://schemas.microsoft.com/office/drawing/2014/main" id="{CEC4C122-4AB8-CD56-7B4F-08154C1BDFE0}"/>
              </a:ext>
            </a:extLst>
          </p:cNvPr>
          <p:cNvSpPr txBox="1"/>
          <p:nvPr/>
        </p:nvSpPr>
        <p:spPr>
          <a:xfrm>
            <a:off x="9576646" y="674400"/>
            <a:ext cx="2615354" cy="5509200"/>
          </a:xfrm>
          <a:prstGeom prst="rect">
            <a:avLst/>
          </a:prstGeom>
          <a:noFill/>
        </p:spPr>
        <p:txBody>
          <a:bodyPr wrap="square" rtlCol="0">
            <a:spAutoFit/>
          </a:bodyPr>
          <a:lstStyle/>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(E) Deep, cold areas with very low bottom oxygen, moderate to high salinity, and low surface productivity. Overall biomass is very high, while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algn="just"/>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9" name="CasellaDiTesto 8">
            <a:extLst>
              <a:ext uri="{FF2B5EF4-FFF2-40B4-BE49-F238E27FC236}">
                <a16:creationId xmlns:a16="http://schemas.microsoft.com/office/drawing/2014/main" id="{106E0114-18C3-8D34-CB33-C6288072FA87}"/>
              </a:ext>
            </a:extLst>
          </p:cNvPr>
          <p:cNvSpPr txBox="1"/>
          <p:nvPr/>
        </p:nvSpPr>
        <p:spPr>
          <a:xfrm>
            <a:off x="4754989" y="3200581"/>
            <a:ext cx="290556"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21" name="CasellaDiTesto 20">
            <a:extLst>
              <a:ext uri="{FF2B5EF4-FFF2-40B4-BE49-F238E27FC236}">
                <a16:creationId xmlns:a16="http://schemas.microsoft.com/office/drawing/2014/main" id="{04596776-E97A-AE41-4695-8B0EDBF1A550}"/>
              </a:ext>
            </a:extLst>
          </p:cNvPr>
          <p:cNvSpPr txBox="1"/>
          <p:nvPr/>
        </p:nvSpPr>
        <p:spPr>
          <a:xfrm>
            <a:off x="6619478" y="2604972"/>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22" name="CasellaDiTesto 21">
            <a:extLst>
              <a:ext uri="{FF2B5EF4-FFF2-40B4-BE49-F238E27FC236}">
                <a16:creationId xmlns:a16="http://schemas.microsoft.com/office/drawing/2014/main" id="{07D1FAF6-5C65-0CB8-E88C-01BF9EFFB134}"/>
              </a:ext>
            </a:extLst>
          </p:cNvPr>
          <p:cNvSpPr txBox="1"/>
          <p:nvPr/>
        </p:nvSpPr>
        <p:spPr>
          <a:xfrm>
            <a:off x="5888445" y="3180003"/>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23" name="CasellaDiTesto 22">
            <a:extLst>
              <a:ext uri="{FF2B5EF4-FFF2-40B4-BE49-F238E27FC236}">
                <a16:creationId xmlns:a16="http://schemas.microsoft.com/office/drawing/2014/main" id="{2F84CAEA-84B0-8E09-7928-7644A1D55681}"/>
              </a:ext>
            </a:extLst>
          </p:cNvPr>
          <p:cNvSpPr txBox="1"/>
          <p:nvPr/>
        </p:nvSpPr>
        <p:spPr>
          <a:xfrm>
            <a:off x="6495088" y="3376755"/>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24" name="CasellaDiTesto 23">
            <a:extLst>
              <a:ext uri="{FF2B5EF4-FFF2-40B4-BE49-F238E27FC236}">
                <a16:creationId xmlns:a16="http://schemas.microsoft.com/office/drawing/2014/main" id="{7EC30217-B93F-EDC4-999D-BD93707FB646}"/>
              </a:ext>
            </a:extLst>
          </p:cNvPr>
          <p:cNvSpPr txBox="1"/>
          <p:nvPr/>
        </p:nvSpPr>
        <p:spPr>
          <a:xfrm>
            <a:off x="6792077" y="3550519"/>
            <a:ext cx="290555" cy="276999"/>
          </a:xfrm>
          <a:prstGeom prst="rect">
            <a:avLst/>
          </a:prstGeom>
          <a:noFill/>
        </p:spPr>
        <p:txBody>
          <a:bodyPr wrap="square" rtlCol="0">
            <a:spAutoFit/>
          </a:bodyPr>
          <a:lstStyle/>
          <a:p>
            <a:pPr algn="ctr"/>
            <a:r>
              <a:rPr lang="it-IT" sz="1200" b="1" dirty="0">
                <a:solidFill>
                  <a:schemeClr val="accent1">
                    <a:lumMod val="60000"/>
                    <a:lumOff val="40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Tree>
    <p:extLst>
      <p:ext uri="{BB962C8B-B14F-4D97-AF65-F5344CB8AC3E}">
        <p14:creationId xmlns:p14="http://schemas.microsoft.com/office/powerpoint/2010/main" val="305555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45763EE3-790A-3A55-B1F3-941C943CCB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6" name="CasellaDiTesto 5">
            <a:extLst>
              <a:ext uri="{FF2B5EF4-FFF2-40B4-BE49-F238E27FC236}">
                <a16:creationId xmlns:a16="http://schemas.microsoft.com/office/drawing/2014/main" id="{683CAA8A-703E-FFCC-0E0C-0E06FA7FF18F}"/>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2" name="CasellaDiTesto 1">
            <a:extLst>
              <a:ext uri="{FF2B5EF4-FFF2-40B4-BE49-F238E27FC236}">
                <a16:creationId xmlns:a16="http://schemas.microsoft.com/office/drawing/2014/main" id="{1E54B57F-2A0C-ADA3-3101-F218392108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4"/>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21" name="CasellaDiTesto 20">
            <a:extLst>
              <a:ext uri="{FF2B5EF4-FFF2-40B4-BE49-F238E27FC236}">
                <a16:creationId xmlns:a16="http://schemas.microsoft.com/office/drawing/2014/main" id="{F01D3EB1-DE53-B55F-41EA-422F33908F6F}"/>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2" name="CasellaDiTesto 21">
            <a:extLst>
              <a:ext uri="{FF2B5EF4-FFF2-40B4-BE49-F238E27FC236}">
                <a16:creationId xmlns:a16="http://schemas.microsoft.com/office/drawing/2014/main" id="{EE2EEA26-634C-F0AA-17D0-75A489A3B0E8}"/>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23" name="CasellaDiTesto 22">
            <a:extLst>
              <a:ext uri="{FF2B5EF4-FFF2-40B4-BE49-F238E27FC236}">
                <a16:creationId xmlns:a16="http://schemas.microsoft.com/office/drawing/2014/main" id="{08583537-0610-0931-46B9-B833ED99A28B}"/>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24" name="CasellaDiTesto 23">
            <a:extLst>
              <a:ext uri="{FF2B5EF4-FFF2-40B4-BE49-F238E27FC236}">
                <a16:creationId xmlns:a16="http://schemas.microsoft.com/office/drawing/2014/main" id="{80E80FE8-F461-1A22-3168-518A153B6E6C}"/>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25" name="CasellaDiTesto 24">
            <a:extLst>
              <a:ext uri="{FF2B5EF4-FFF2-40B4-BE49-F238E27FC236}">
                <a16:creationId xmlns:a16="http://schemas.microsoft.com/office/drawing/2014/main" id="{5DC8780D-A2D1-C4E7-30CF-E0DF479DFCD8}"/>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26" name="CasellaDiTesto 25">
            <a:extLst>
              <a:ext uri="{FF2B5EF4-FFF2-40B4-BE49-F238E27FC236}">
                <a16:creationId xmlns:a16="http://schemas.microsoft.com/office/drawing/2014/main" id="{8D6F33D9-30BA-1B44-635E-E12CCD2F12FD}"/>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27" name="CasellaDiTesto 26">
            <a:extLst>
              <a:ext uri="{FF2B5EF4-FFF2-40B4-BE49-F238E27FC236}">
                <a16:creationId xmlns:a16="http://schemas.microsoft.com/office/drawing/2014/main" id="{0902F906-48B8-7958-81B4-8904ED0E0877}"/>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28" name="CasellaDiTesto 27">
            <a:extLst>
              <a:ext uri="{FF2B5EF4-FFF2-40B4-BE49-F238E27FC236}">
                <a16:creationId xmlns:a16="http://schemas.microsoft.com/office/drawing/2014/main" id="{92A321A2-55F2-E381-DB99-E5759D7F54EE}"/>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29" name="CasellaDiTesto 28">
            <a:extLst>
              <a:ext uri="{FF2B5EF4-FFF2-40B4-BE49-F238E27FC236}">
                <a16:creationId xmlns:a16="http://schemas.microsoft.com/office/drawing/2014/main" id="{2BDDDFED-E0CE-8703-5CFC-5E9E8D17596F}"/>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30" name="CasellaDiTesto 29">
            <a:extLst>
              <a:ext uri="{FF2B5EF4-FFF2-40B4-BE49-F238E27FC236}">
                <a16:creationId xmlns:a16="http://schemas.microsoft.com/office/drawing/2014/main" id="{CA92D7A6-92A4-C837-F9F2-BC272261D7D2}"/>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31" name="CasellaDiTesto 30">
            <a:extLst>
              <a:ext uri="{FF2B5EF4-FFF2-40B4-BE49-F238E27FC236}">
                <a16:creationId xmlns:a16="http://schemas.microsoft.com/office/drawing/2014/main" id="{877820F6-E571-BA3A-BF1E-1E581732FC64}"/>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32" name="CasellaDiTesto 31">
            <a:extLst>
              <a:ext uri="{FF2B5EF4-FFF2-40B4-BE49-F238E27FC236}">
                <a16:creationId xmlns:a16="http://schemas.microsoft.com/office/drawing/2014/main" id="{0167B807-22D3-C73F-1265-41EB4EE4F652}"/>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33" name="CasellaDiTesto 32">
            <a:extLst>
              <a:ext uri="{FF2B5EF4-FFF2-40B4-BE49-F238E27FC236}">
                <a16:creationId xmlns:a16="http://schemas.microsoft.com/office/drawing/2014/main" id="{433D59B6-A85D-7D21-10A1-B1D18CF6209C}"/>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34" name="CasellaDiTesto 33">
            <a:extLst>
              <a:ext uri="{FF2B5EF4-FFF2-40B4-BE49-F238E27FC236}">
                <a16:creationId xmlns:a16="http://schemas.microsoft.com/office/drawing/2014/main" id="{40531B3B-2340-3664-6FC2-C8CB2545D6DC}"/>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5" name="CasellaDiTesto 34">
            <a:extLst>
              <a:ext uri="{FF2B5EF4-FFF2-40B4-BE49-F238E27FC236}">
                <a16:creationId xmlns:a16="http://schemas.microsoft.com/office/drawing/2014/main" id="{73606FFE-DA95-4A8F-29EF-A08319AB3DEB}"/>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36" name="CasellaDiTesto 35">
            <a:extLst>
              <a:ext uri="{FF2B5EF4-FFF2-40B4-BE49-F238E27FC236}">
                <a16:creationId xmlns:a16="http://schemas.microsoft.com/office/drawing/2014/main" id="{7F5A238D-4415-A0C7-EECD-83FF49F2F8AE}"/>
              </a:ext>
            </a:extLst>
          </p:cNvPr>
          <p:cNvSpPr txBox="1"/>
          <p:nvPr/>
        </p:nvSpPr>
        <p:spPr>
          <a:xfrm>
            <a:off x="4754989" y="3200581"/>
            <a:ext cx="290556"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37" name="CasellaDiTesto 36">
            <a:extLst>
              <a:ext uri="{FF2B5EF4-FFF2-40B4-BE49-F238E27FC236}">
                <a16:creationId xmlns:a16="http://schemas.microsoft.com/office/drawing/2014/main" id="{96778776-32A5-0D84-DECA-E959CC568A1C}"/>
              </a:ext>
            </a:extLst>
          </p:cNvPr>
          <p:cNvSpPr txBox="1"/>
          <p:nvPr/>
        </p:nvSpPr>
        <p:spPr>
          <a:xfrm>
            <a:off x="6619478" y="2604972"/>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38" name="CasellaDiTesto 37">
            <a:extLst>
              <a:ext uri="{FF2B5EF4-FFF2-40B4-BE49-F238E27FC236}">
                <a16:creationId xmlns:a16="http://schemas.microsoft.com/office/drawing/2014/main" id="{4E31976E-778B-6EFE-FDC6-85C370E1368F}"/>
              </a:ext>
            </a:extLst>
          </p:cNvPr>
          <p:cNvSpPr txBox="1"/>
          <p:nvPr/>
        </p:nvSpPr>
        <p:spPr>
          <a:xfrm>
            <a:off x="5874777" y="3187233"/>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39" name="CasellaDiTesto 38">
            <a:extLst>
              <a:ext uri="{FF2B5EF4-FFF2-40B4-BE49-F238E27FC236}">
                <a16:creationId xmlns:a16="http://schemas.microsoft.com/office/drawing/2014/main" id="{5ECF9C37-5C71-8DCB-9201-7EF942379323}"/>
              </a:ext>
            </a:extLst>
          </p:cNvPr>
          <p:cNvSpPr txBox="1"/>
          <p:nvPr/>
        </p:nvSpPr>
        <p:spPr>
          <a:xfrm>
            <a:off x="6495088" y="3376755"/>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40" name="CasellaDiTesto 39">
            <a:extLst>
              <a:ext uri="{FF2B5EF4-FFF2-40B4-BE49-F238E27FC236}">
                <a16:creationId xmlns:a16="http://schemas.microsoft.com/office/drawing/2014/main" id="{122E775B-8782-FEF7-BCEA-B4CA1DED92EB}"/>
              </a:ext>
            </a:extLst>
          </p:cNvPr>
          <p:cNvSpPr txBox="1"/>
          <p:nvPr/>
        </p:nvSpPr>
        <p:spPr>
          <a:xfrm>
            <a:off x="6792077" y="3550519"/>
            <a:ext cx="290555" cy="276999"/>
          </a:xfrm>
          <a:prstGeom prst="rect">
            <a:avLst/>
          </a:prstGeom>
          <a:noFill/>
        </p:spPr>
        <p:txBody>
          <a:bodyPr wrap="square" rtlCol="0">
            <a:spAutoFit/>
          </a:bodyPr>
          <a:lstStyle/>
          <a:p>
            <a:pPr algn="ctr"/>
            <a:r>
              <a:rPr lang="it-IT" sz="1200" b="1" dirty="0">
                <a:solidFill>
                  <a:schemeClr val="accent4"/>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43" name="CasellaDiTesto 42">
            <a:extLst>
              <a:ext uri="{FF2B5EF4-FFF2-40B4-BE49-F238E27FC236}">
                <a16:creationId xmlns:a16="http://schemas.microsoft.com/office/drawing/2014/main" id="{0B44F507-FD4F-51E7-7DD3-F07495F2EF32}"/>
              </a:ext>
            </a:extLst>
          </p:cNvPr>
          <p:cNvSpPr txBox="1"/>
          <p:nvPr/>
        </p:nvSpPr>
        <p:spPr>
          <a:xfrm>
            <a:off x="9576646" y="735955"/>
            <a:ext cx="2615354" cy="5386090"/>
          </a:xfrm>
          <a:prstGeom prst="rect">
            <a:avLst/>
          </a:prstGeom>
          <a:noFill/>
        </p:spPr>
        <p:txBody>
          <a:bodyPr wrap="square" rtlCol="0">
            <a:spAutoFit/>
          </a:bodyPr>
          <a:lstStyle/>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(B)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(F)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(G)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(H?) </a:t>
            </a: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moderate salinity, and moderate to high surface productivity. Overall biomass is fairly moderate, with fair to low biomass of the five commercially important species and moderate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intense, and shipping traffic is high.</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2490513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testo, mappa, diagramma&#10;&#10;Descrizione generata automaticamente">
            <a:extLst>
              <a:ext uri="{FF2B5EF4-FFF2-40B4-BE49-F238E27FC236}">
                <a16:creationId xmlns:a16="http://schemas.microsoft.com/office/drawing/2014/main" id="{D24B2977-0498-C606-33B3-EDC61E25D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6" name="CasellaDiTesto 5">
            <a:extLst>
              <a:ext uri="{FF2B5EF4-FFF2-40B4-BE49-F238E27FC236}">
                <a16:creationId xmlns:a16="http://schemas.microsoft.com/office/drawing/2014/main" id="{A2EAB924-8023-A0A2-BA1E-7DBFAC214170}"/>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C83BCD3F-03C3-5735-B5D6-C1534CF433E2}"/>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5" name="CasellaDiTesto 24">
            <a:extLst>
              <a:ext uri="{FF2B5EF4-FFF2-40B4-BE49-F238E27FC236}">
                <a16:creationId xmlns:a16="http://schemas.microsoft.com/office/drawing/2014/main" id="{AA299FE3-2E42-59F4-CAA7-596687906824}"/>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6" name="CasellaDiTesto 25">
            <a:extLst>
              <a:ext uri="{FF2B5EF4-FFF2-40B4-BE49-F238E27FC236}">
                <a16:creationId xmlns:a16="http://schemas.microsoft.com/office/drawing/2014/main" id="{1D28A08F-CB30-31DE-FF44-0CF57327044B}"/>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27" name="CasellaDiTesto 26">
            <a:extLst>
              <a:ext uri="{FF2B5EF4-FFF2-40B4-BE49-F238E27FC236}">
                <a16:creationId xmlns:a16="http://schemas.microsoft.com/office/drawing/2014/main" id="{81DA3C1E-FB81-8C3D-0086-0ECD027A70DF}"/>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28" name="CasellaDiTesto 27">
            <a:extLst>
              <a:ext uri="{FF2B5EF4-FFF2-40B4-BE49-F238E27FC236}">
                <a16:creationId xmlns:a16="http://schemas.microsoft.com/office/drawing/2014/main" id="{91011FBD-2E4A-25ED-F28D-C5C228DAC80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29" name="CasellaDiTesto 28">
            <a:extLst>
              <a:ext uri="{FF2B5EF4-FFF2-40B4-BE49-F238E27FC236}">
                <a16:creationId xmlns:a16="http://schemas.microsoft.com/office/drawing/2014/main" id="{6C7C12AA-5D5B-6158-3E78-87A52C669360}"/>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30" name="CasellaDiTesto 29">
            <a:extLst>
              <a:ext uri="{FF2B5EF4-FFF2-40B4-BE49-F238E27FC236}">
                <a16:creationId xmlns:a16="http://schemas.microsoft.com/office/drawing/2014/main" id="{7550694B-B74C-AA92-D0DC-2D2408ACBAEB}"/>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1" name="CasellaDiTesto 30">
            <a:extLst>
              <a:ext uri="{FF2B5EF4-FFF2-40B4-BE49-F238E27FC236}">
                <a16:creationId xmlns:a16="http://schemas.microsoft.com/office/drawing/2014/main" id="{E08E4522-24C5-AFA4-819A-B3C11957542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32" name="CasellaDiTesto 31">
            <a:extLst>
              <a:ext uri="{FF2B5EF4-FFF2-40B4-BE49-F238E27FC236}">
                <a16:creationId xmlns:a16="http://schemas.microsoft.com/office/drawing/2014/main" id="{14512D42-F0B8-C303-950F-91E16ECE2F5F}"/>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33" name="CasellaDiTesto 32">
            <a:extLst>
              <a:ext uri="{FF2B5EF4-FFF2-40B4-BE49-F238E27FC236}">
                <a16:creationId xmlns:a16="http://schemas.microsoft.com/office/drawing/2014/main" id="{65FE23C8-E8D9-0384-A273-B49CDB04DC2F}"/>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34" name="CasellaDiTesto 33">
            <a:extLst>
              <a:ext uri="{FF2B5EF4-FFF2-40B4-BE49-F238E27FC236}">
                <a16:creationId xmlns:a16="http://schemas.microsoft.com/office/drawing/2014/main" id="{49F4A867-7A43-FC57-58C5-033C424FAB5A}"/>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35" name="CasellaDiTesto 34">
            <a:extLst>
              <a:ext uri="{FF2B5EF4-FFF2-40B4-BE49-F238E27FC236}">
                <a16:creationId xmlns:a16="http://schemas.microsoft.com/office/drawing/2014/main" id="{A99C6AAF-41D3-302F-1C33-7654F29FDB06}"/>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36" name="CasellaDiTesto 35">
            <a:extLst>
              <a:ext uri="{FF2B5EF4-FFF2-40B4-BE49-F238E27FC236}">
                <a16:creationId xmlns:a16="http://schemas.microsoft.com/office/drawing/2014/main" id="{3F848D74-1DBB-E6D8-A1FC-26B681751485}"/>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37" name="CasellaDiTesto 36">
            <a:extLst>
              <a:ext uri="{FF2B5EF4-FFF2-40B4-BE49-F238E27FC236}">
                <a16:creationId xmlns:a16="http://schemas.microsoft.com/office/drawing/2014/main" id="{951EA14B-2504-C945-8303-8B4C61FD63C8}"/>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38" name="CasellaDiTesto 37">
            <a:extLst>
              <a:ext uri="{FF2B5EF4-FFF2-40B4-BE49-F238E27FC236}">
                <a16:creationId xmlns:a16="http://schemas.microsoft.com/office/drawing/2014/main" id="{8524CE58-7DE3-9D45-8837-2AA5FA241B5C}"/>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39" name="CasellaDiTesto 38">
            <a:extLst>
              <a:ext uri="{FF2B5EF4-FFF2-40B4-BE49-F238E27FC236}">
                <a16:creationId xmlns:a16="http://schemas.microsoft.com/office/drawing/2014/main" id="{45501010-29D3-7C07-4EF2-40940CC9FA1A}"/>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40" name="CasellaDiTesto 39">
            <a:extLst>
              <a:ext uri="{FF2B5EF4-FFF2-40B4-BE49-F238E27FC236}">
                <a16:creationId xmlns:a16="http://schemas.microsoft.com/office/drawing/2014/main" id="{8911D10E-7725-B386-FC4B-F446D40CC283}"/>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41" name="CasellaDiTesto 40">
            <a:extLst>
              <a:ext uri="{FF2B5EF4-FFF2-40B4-BE49-F238E27FC236}">
                <a16:creationId xmlns:a16="http://schemas.microsoft.com/office/drawing/2014/main" id="{A9C8A8D6-D295-F6CF-66CF-3DBCD2B142F5}"/>
              </a:ext>
            </a:extLst>
          </p:cNvPr>
          <p:cNvSpPr txBox="1"/>
          <p:nvPr/>
        </p:nvSpPr>
        <p:spPr>
          <a:xfrm>
            <a:off x="9576646" y="181958"/>
            <a:ext cx="2615354" cy="6494085"/>
          </a:xfrm>
          <a:prstGeom prst="rect">
            <a:avLst/>
          </a:prstGeom>
          <a:noFill/>
        </p:spPr>
        <p:txBody>
          <a:bodyPr wrap="square" rtlCol="0">
            <a:spAutoFit/>
          </a:bodyPr>
          <a:lstStyle/>
          <a:p>
            <a:pPr marL="228600" indent="-228600" algn="just">
              <a:buFont typeface="+mj-lt"/>
              <a:buAutoNum type="alphaUcPeriod"/>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Shallow, warm areas with moderate bottom oxygen, very high salinity, and very high surface productivity. High biomass across the general biodiversity, including </a:t>
            </a:r>
            <a:r>
              <a:rPr lang="en-US" sz="800" i="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(P)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Very deep, very cold areas with extremely low bottom oxygen, low bottom salinity, and quite low surface productivity. Overall biomass is high, biomass of the five commercially important species is moderate, and </a:t>
            </a:r>
            <a:r>
              <a:rPr lang="en-US" sz="800" i="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(N) Deep, cold areas with very low bottom oxygen, moderate to high salinity, and low surface productivity. Overall biomass is very high, while biomass of the five commercially important species and </a:t>
            </a:r>
            <a:r>
              <a:rPr lang="en-US" sz="800" i="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Tree>
    <p:extLst>
      <p:ext uri="{BB962C8B-B14F-4D97-AF65-F5344CB8AC3E}">
        <p14:creationId xmlns:p14="http://schemas.microsoft.com/office/powerpoint/2010/main" val="64737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testo, mappa, diagramma&#10;&#10;Descrizione generata automaticamente">
            <a:extLst>
              <a:ext uri="{FF2B5EF4-FFF2-40B4-BE49-F238E27FC236}">
                <a16:creationId xmlns:a16="http://schemas.microsoft.com/office/drawing/2014/main" id="{D24B2977-0498-C606-33B3-EDC61E25D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6" name="CasellaDiTesto 5">
            <a:extLst>
              <a:ext uri="{FF2B5EF4-FFF2-40B4-BE49-F238E27FC236}">
                <a16:creationId xmlns:a16="http://schemas.microsoft.com/office/drawing/2014/main" id="{A2EAB924-8023-A0A2-BA1E-7DBFAC214170}"/>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C83BCD3F-03C3-5735-B5D6-C1534CF433E2}"/>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29" name="CasellaDiTesto 28">
            <a:extLst>
              <a:ext uri="{FF2B5EF4-FFF2-40B4-BE49-F238E27FC236}">
                <a16:creationId xmlns:a16="http://schemas.microsoft.com/office/drawing/2014/main" id="{505F69A3-9491-C3AC-43B8-3B9FD221918D}"/>
              </a:ext>
            </a:extLst>
          </p:cNvPr>
          <p:cNvSpPr txBox="1"/>
          <p:nvPr/>
        </p:nvSpPr>
        <p:spPr>
          <a:xfrm>
            <a:off x="9576646" y="101007"/>
            <a:ext cx="2615354" cy="3539430"/>
          </a:xfrm>
          <a:prstGeom prst="rect">
            <a:avLst/>
          </a:prstGeom>
          <a:noFill/>
        </p:spPr>
        <p:txBody>
          <a:bodyPr wrap="square" rtlCol="0">
            <a:spAutoFit/>
          </a:bodyPr>
          <a:lstStyle/>
          <a:p>
            <a:pPr marL="228600" indent="-228600" algn="just">
              <a:buFont typeface="+mj-lt"/>
              <a:buAutoNum type="alphaUcPeriod" startAt="6"/>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(Q) Moderately deep to deep, cold areas with moderately low bottom oxygen and fair to high salinity, and moderate to high surface productivity. Overall biomass is high, with high biomass of the five commercially important species and Gadus </a:t>
            </a:r>
            <a:r>
              <a:rPr lang="en-US" sz="800"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(R) Deep, cold areas with moderate to high bottom oxygen depletion and fair to moderate salinity, and high surface productivity. Overall biomass is high, with high biomass of the five commercially important species and Gadus </a:t>
            </a:r>
            <a:r>
              <a:rPr lang="en-US" sz="800"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salinity, and high surface productivity. Overall biomass is very high, biomass of the five commercially important species is moderate, and Gadus </a:t>
            </a:r>
            <a:r>
              <a:rPr lang="en-US" sz="800" dirty="0" err="1">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 biomass is high. Fishing activity is very intense, and shipping traffic is fair. Strong anthropogenic influence with a marked presence of military areas.</a:t>
            </a:r>
          </a:p>
        </p:txBody>
      </p:sp>
      <p:sp>
        <p:nvSpPr>
          <p:cNvPr id="30" name="CasellaDiTesto 29">
            <a:extLst>
              <a:ext uri="{FF2B5EF4-FFF2-40B4-BE49-F238E27FC236}">
                <a16:creationId xmlns:a16="http://schemas.microsoft.com/office/drawing/2014/main" id="{3692C3F4-9B05-A3FF-A7AB-52BAB90B888C}"/>
              </a:ext>
            </a:extLst>
          </p:cNvPr>
          <p:cNvSpPr txBox="1"/>
          <p:nvPr/>
        </p:nvSpPr>
        <p:spPr>
          <a:xfrm>
            <a:off x="9576646" y="3605173"/>
            <a:ext cx="2615354" cy="338554"/>
          </a:xfrm>
          <a:prstGeom prst="rect">
            <a:avLst/>
          </a:prstGeom>
          <a:noFill/>
        </p:spPr>
        <p:txBody>
          <a:bodyPr wrap="square" rtlCol="0">
            <a:spAutoFit/>
          </a:bodyPr>
          <a:lstStyle/>
          <a:p>
            <a:pPr marL="228600" indent="-228600" algn="just">
              <a:buFont typeface="+mj-lt"/>
              <a:buAutoNum type="alphaUcPeriod" startAt="12"/>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a:t>
            </a:r>
          </a:p>
          <a:p>
            <a:pPr marL="228600" indent="-228600" algn="just">
              <a:buFont typeface="+mj-lt"/>
              <a:buAutoNum type="alphaUcPeriod" startAt="12"/>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1" name="CasellaDiTesto 30">
            <a:extLst>
              <a:ext uri="{FF2B5EF4-FFF2-40B4-BE49-F238E27FC236}">
                <a16:creationId xmlns:a16="http://schemas.microsoft.com/office/drawing/2014/main" id="{D0DFC44C-5593-A510-01A6-2DC5EAD3EB44}"/>
              </a:ext>
            </a:extLst>
          </p:cNvPr>
          <p:cNvSpPr txBox="1"/>
          <p:nvPr/>
        </p:nvSpPr>
        <p:spPr>
          <a:xfrm>
            <a:off x="9576646" y="3958503"/>
            <a:ext cx="2615354" cy="215444"/>
          </a:xfrm>
          <a:prstGeom prst="rect">
            <a:avLst/>
          </a:prstGeom>
          <a:noFill/>
        </p:spPr>
        <p:txBody>
          <a:bodyPr wrap="square" rtlCol="0">
            <a:spAutoFit/>
          </a:bodyPr>
          <a:lstStyle/>
          <a:p>
            <a:pPr marL="228600" indent="-228600" algn="just">
              <a:buSzPct val="100000"/>
              <a:buFont typeface="+mj-lt"/>
              <a:buAutoNum type="alphaUcPeriod" startAt="15"/>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2" name="CasellaDiTesto 31">
            <a:extLst>
              <a:ext uri="{FF2B5EF4-FFF2-40B4-BE49-F238E27FC236}">
                <a16:creationId xmlns:a16="http://schemas.microsoft.com/office/drawing/2014/main" id="{3E648BFB-68B1-FDD5-B1E2-CEBA8D3C4854}"/>
              </a:ext>
            </a:extLst>
          </p:cNvPr>
          <p:cNvSpPr txBox="1"/>
          <p:nvPr/>
        </p:nvSpPr>
        <p:spPr>
          <a:xfrm>
            <a:off x="9576646" y="4239090"/>
            <a:ext cx="2615354" cy="215444"/>
          </a:xfrm>
          <a:prstGeom prst="rect">
            <a:avLst/>
          </a:prstGeom>
          <a:noFill/>
        </p:spPr>
        <p:txBody>
          <a:bodyPr wrap="square" rtlCol="0">
            <a:spAutoFit/>
          </a:bodyPr>
          <a:lstStyle/>
          <a:p>
            <a:pPr marL="228600" indent="-228600" algn="just">
              <a:buSzPct val="100000"/>
              <a:buFont typeface="+mj-lt"/>
              <a:buAutoNum type="alphaUcPeriod" startAt="19"/>
            </a:pPr>
            <a:r>
              <a:rPr lang="en-US" sz="800" dirty="0">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49" name="CasellaDiTesto 48">
            <a:extLst>
              <a:ext uri="{FF2B5EF4-FFF2-40B4-BE49-F238E27FC236}">
                <a16:creationId xmlns:a16="http://schemas.microsoft.com/office/drawing/2014/main" id="{9F1B657A-2C32-6EAD-6BEE-5225EABB466C}"/>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50" name="CasellaDiTesto 49">
            <a:extLst>
              <a:ext uri="{FF2B5EF4-FFF2-40B4-BE49-F238E27FC236}">
                <a16:creationId xmlns:a16="http://schemas.microsoft.com/office/drawing/2014/main" id="{D069E3EC-2EE0-BF7A-E9AE-3243F161BE86}"/>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51" name="CasellaDiTesto 50">
            <a:extLst>
              <a:ext uri="{FF2B5EF4-FFF2-40B4-BE49-F238E27FC236}">
                <a16:creationId xmlns:a16="http://schemas.microsoft.com/office/drawing/2014/main" id="{7D592480-AD70-A3B5-0B0B-E505D457622F}"/>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52" name="CasellaDiTesto 51">
            <a:extLst>
              <a:ext uri="{FF2B5EF4-FFF2-40B4-BE49-F238E27FC236}">
                <a16:creationId xmlns:a16="http://schemas.microsoft.com/office/drawing/2014/main" id="{3603C7B4-3611-EB03-47B2-FBAEB836F578}"/>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53" name="CasellaDiTesto 52">
            <a:extLst>
              <a:ext uri="{FF2B5EF4-FFF2-40B4-BE49-F238E27FC236}">
                <a16:creationId xmlns:a16="http://schemas.microsoft.com/office/drawing/2014/main" id="{061AA4A3-10E9-CCC7-58F0-2D6406BA18ED}"/>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4" name="CasellaDiTesto 53">
            <a:extLst>
              <a:ext uri="{FF2B5EF4-FFF2-40B4-BE49-F238E27FC236}">
                <a16:creationId xmlns:a16="http://schemas.microsoft.com/office/drawing/2014/main" id="{22417772-060C-85D2-79A8-3FF27695E031}"/>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5" name="CasellaDiTesto 54">
            <a:extLst>
              <a:ext uri="{FF2B5EF4-FFF2-40B4-BE49-F238E27FC236}">
                <a16:creationId xmlns:a16="http://schemas.microsoft.com/office/drawing/2014/main" id="{A4F364BD-9A2A-868B-7803-658E6FFE062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6" name="CasellaDiTesto 55">
            <a:extLst>
              <a:ext uri="{FF2B5EF4-FFF2-40B4-BE49-F238E27FC236}">
                <a16:creationId xmlns:a16="http://schemas.microsoft.com/office/drawing/2014/main" id="{6D64E191-CCB8-858A-66C1-90B2A4DA254A}"/>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7" name="CasellaDiTesto 56">
            <a:extLst>
              <a:ext uri="{FF2B5EF4-FFF2-40B4-BE49-F238E27FC236}">
                <a16:creationId xmlns:a16="http://schemas.microsoft.com/office/drawing/2014/main" id="{F1F6B11C-A8C4-44A1-C97E-93A84BC8D0D5}"/>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8" name="CasellaDiTesto 57">
            <a:extLst>
              <a:ext uri="{FF2B5EF4-FFF2-40B4-BE49-F238E27FC236}">
                <a16:creationId xmlns:a16="http://schemas.microsoft.com/office/drawing/2014/main" id="{368B3F71-C54A-985B-6E74-6CC655DB6EE0}"/>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9" name="CasellaDiTesto 58">
            <a:extLst>
              <a:ext uri="{FF2B5EF4-FFF2-40B4-BE49-F238E27FC236}">
                <a16:creationId xmlns:a16="http://schemas.microsoft.com/office/drawing/2014/main" id="{3CC0CD8C-445B-3F16-4093-038716A57BA7}"/>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60" name="CasellaDiTesto 59">
            <a:extLst>
              <a:ext uri="{FF2B5EF4-FFF2-40B4-BE49-F238E27FC236}">
                <a16:creationId xmlns:a16="http://schemas.microsoft.com/office/drawing/2014/main" id="{60979DB4-AAF7-7CE9-F6D8-245E0AD41502}"/>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61" name="CasellaDiTesto 60">
            <a:extLst>
              <a:ext uri="{FF2B5EF4-FFF2-40B4-BE49-F238E27FC236}">
                <a16:creationId xmlns:a16="http://schemas.microsoft.com/office/drawing/2014/main" id="{8DA657D9-BD20-85B5-F3D6-A6A4FAB605AB}"/>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62" name="CasellaDiTesto 61">
            <a:extLst>
              <a:ext uri="{FF2B5EF4-FFF2-40B4-BE49-F238E27FC236}">
                <a16:creationId xmlns:a16="http://schemas.microsoft.com/office/drawing/2014/main" id="{8C6645DC-BD75-3BF9-04C9-C399ECF64151}"/>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63" name="CasellaDiTesto 62">
            <a:extLst>
              <a:ext uri="{FF2B5EF4-FFF2-40B4-BE49-F238E27FC236}">
                <a16:creationId xmlns:a16="http://schemas.microsoft.com/office/drawing/2014/main" id="{1CDFEF24-F206-82A3-57EB-D5DC3244C459}"/>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4" name="CasellaDiTesto 63">
            <a:extLst>
              <a:ext uri="{FF2B5EF4-FFF2-40B4-BE49-F238E27FC236}">
                <a16:creationId xmlns:a16="http://schemas.microsoft.com/office/drawing/2014/main" id="{33B2B41E-3B78-5E35-6902-0DA4F6D22D22}"/>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Tree>
    <p:extLst>
      <p:ext uri="{BB962C8B-B14F-4D97-AF65-F5344CB8AC3E}">
        <p14:creationId xmlns:p14="http://schemas.microsoft.com/office/powerpoint/2010/main" val="413806125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1548</TotalTime>
  <Words>6169</Words>
  <Application>Microsoft Office PowerPoint</Application>
  <PresentationFormat>Widescreen</PresentationFormat>
  <Paragraphs>500</Paragraphs>
  <Slides>25</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25</vt:i4>
      </vt:variant>
    </vt:vector>
  </HeadingPairs>
  <TitlesOfParts>
    <vt:vector size="30" baseType="lpstr">
      <vt:lpstr>Aptos</vt:lpstr>
      <vt:lpstr>Aptos Display</vt:lpstr>
      <vt:lpstr>Arial</vt:lpstr>
      <vt:lpstr>MS Shell Dlg 2</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Laura Pavirani</dc:creator>
  <cp:lastModifiedBy>Laura Pavirani</cp:lastModifiedBy>
  <cp:revision>61</cp:revision>
  <cp:lastPrinted>2025-12-12T09:13:38Z</cp:lastPrinted>
  <dcterms:created xsi:type="dcterms:W3CDTF">2025-12-10T09:17:21Z</dcterms:created>
  <dcterms:modified xsi:type="dcterms:W3CDTF">2025-12-17T08:45:36Z</dcterms:modified>
</cp:coreProperties>
</file>